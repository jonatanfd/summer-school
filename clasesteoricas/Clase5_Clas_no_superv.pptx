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317" r:id="rId2"/>
    <p:sldId id="257" r:id="rId3"/>
    <p:sldId id="258" r:id="rId4"/>
    <p:sldId id="264" r:id="rId5"/>
    <p:sldId id="260" r:id="rId6"/>
    <p:sldId id="262" r:id="rId7"/>
    <p:sldId id="281" r:id="rId8"/>
    <p:sldId id="266" r:id="rId9"/>
    <p:sldId id="267" r:id="rId10"/>
    <p:sldId id="268" r:id="rId11"/>
    <p:sldId id="269" r:id="rId12"/>
    <p:sldId id="270" r:id="rId13"/>
    <p:sldId id="271" r:id="rId14"/>
    <p:sldId id="272" r:id="rId15"/>
    <p:sldId id="273" r:id="rId16"/>
    <p:sldId id="274" r:id="rId17"/>
    <p:sldId id="275" r:id="rId18"/>
    <p:sldId id="282" r:id="rId19"/>
    <p:sldId id="283" r:id="rId20"/>
    <p:sldId id="284" r:id="rId21"/>
    <p:sldId id="276" r:id="rId22"/>
    <p:sldId id="277" r:id="rId23"/>
    <p:sldId id="278" r:id="rId24"/>
    <p:sldId id="279" r:id="rId25"/>
    <p:sldId id="280" r:id="rId26"/>
    <p:sldId id="265" r:id="rId27"/>
    <p:sldId id="285" r:id="rId28"/>
    <p:sldId id="286" r:id="rId29"/>
    <p:sldId id="287" r:id="rId30"/>
    <p:sldId id="288" r:id="rId31"/>
    <p:sldId id="289" r:id="rId32"/>
    <p:sldId id="292" r:id="rId33"/>
    <p:sldId id="290" r:id="rId34"/>
    <p:sldId id="291" r:id="rId35"/>
    <p:sldId id="293" r:id="rId36"/>
    <p:sldId id="295" r:id="rId37"/>
    <p:sldId id="294" r:id="rId38"/>
    <p:sldId id="296" r:id="rId39"/>
    <p:sldId id="297" r:id="rId40"/>
    <p:sldId id="298" r:id="rId41"/>
    <p:sldId id="299" r:id="rId42"/>
    <p:sldId id="300" r:id="rId43"/>
    <p:sldId id="301" r:id="rId44"/>
    <p:sldId id="302" r:id="rId45"/>
    <p:sldId id="303" r:id="rId46"/>
    <p:sldId id="304" r:id="rId47"/>
    <p:sldId id="306" r:id="rId48"/>
    <p:sldId id="263" r:id="rId49"/>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3" d="100"/>
          <a:sy n="83" d="100"/>
        </p:scale>
        <p:origin x="828" y="78"/>
      </p:cViewPr>
      <p:guideLst>
        <p:guide orient="horz" pos="2160"/>
        <p:guide pos="3840"/>
      </p:guideLst>
    </p:cSldViewPr>
  </p:slideViewPr>
  <p:notesTextViewPr>
    <p:cViewPr>
      <p:scale>
        <a:sx n="1" d="1"/>
        <a:sy n="1" d="1"/>
      </p:scale>
      <p:origin x="0" y="0"/>
    </p:cViewPr>
  </p:notesTextViewPr>
  <p:gridSpacing cx="100800" cy="100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ata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image" Target="../media/image61.png"/><Relationship Id="rId4" Type="http://schemas.openxmlformats.org/officeDocument/2006/relationships/image" Target="../media/image6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image" Target="../media/image61.png"/><Relationship Id="rId4" Type="http://schemas.openxmlformats.org/officeDocument/2006/relationships/image" Target="../media/image6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039745-C8A9-40E3-9151-0975936CA01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36FB5F2-4008-49BF-A3AD-7E81EF208D5F}">
      <dgm:prSet custT="1"/>
      <dgm:spPr/>
      <dgm:t>
        <a:bodyPr/>
        <a:lstStyle/>
        <a:p>
          <a:pPr>
            <a:lnSpc>
              <a:spcPct val="100000"/>
            </a:lnSpc>
          </a:pPr>
          <a:r>
            <a:rPr lang="es-AR" sz="2000" b="1" i="0" baseline="0" dirty="0"/>
            <a:t>Cantidad de </a:t>
          </a:r>
          <a:r>
            <a:rPr lang="es-AR" sz="2000" b="1" i="0" baseline="0" dirty="0" err="1"/>
            <a:t>Clusters</a:t>
          </a:r>
          <a:endParaRPr lang="en-US" sz="2000" dirty="0"/>
        </a:p>
      </dgm:t>
    </dgm:pt>
    <dgm:pt modelId="{C4856A3D-DE01-4470-9D65-5A5241763A59}" type="parTrans" cxnId="{D5EB7419-4999-4E9C-9E19-278CDA78A582}">
      <dgm:prSet/>
      <dgm:spPr/>
      <dgm:t>
        <a:bodyPr/>
        <a:lstStyle/>
        <a:p>
          <a:endParaRPr lang="en-US" sz="2000"/>
        </a:p>
      </dgm:t>
    </dgm:pt>
    <dgm:pt modelId="{D11EB0F6-9A98-4BF9-9925-AC2013FF412F}" type="sibTrans" cxnId="{D5EB7419-4999-4E9C-9E19-278CDA78A582}">
      <dgm:prSet/>
      <dgm:spPr/>
      <dgm:t>
        <a:bodyPr/>
        <a:lstStyle/>
        <a:p>
          <a:endParaRPr lang="en-US" sz="2000"/>
        </a:p>
      </dgm:t>
    </dgm:pt>
    <dgm:pt modelId="{3AD9B3DC-01DD-4A21-BDC2-B798545609E8}">
      <dgm:prSet custT="1"/>
      <dgm:spPr/>
      <dgm:t>
        <a:bodyPr/>
        <a:lstStyle/>
        <a:p>
          <a:pPr>
            <a:lnSpc>
              <a:spcPct val="100000"/>
            </a:lnSpc>
          </a:pPr>
          <a:r>
            <a:rPr lang="es-MX" sz="2000" b="0" i="0" baseline="0" dirty="0"/>
            <a:t>Luego, se selecciona la cantidad de clústeres adecuada para la respuesta al problema planteado; es decir, se decide en qué paso de la técnica hay que </a:t>
          </a:r>
          <a:r>
            <a:rPr lang="es-AR" sz="2000" b="0" i="0" baseline="0" dirty="0"/>
            <a:t>detenerse.</a:t>
          </a:r>
          <a:endParaRPr lang="en-US" sz="2000" dirty="0"/>
        </a:p>
      </dgm:t>
    </dgm:pt>
    <dgm:pt modelId="{954BAB0D-6734-42A5-9590-D4457F58EFCC}" type="parTrans" cxnId="{3AAA9860-A1E4-4D94-89E3-FA2702EAD8C8}">
      <dgm:prSet/>
      <dgm:spPr/>
      <dgm:t>
        <a:bodyPr/>
        <a:lstStyle/>
        <a:p>
          <a:endParaRPr lang="en-US" sz="2000"/>
        </a:p>
      </dgm:t>
    </dgm:pt>
    <dgm:pt modelId="{0D6DCF18-E75D-4B53-B1BC-0A9B2857FAD7}" type="sibTrans" cxnId="{3AAA9860-A1E4-4D94-89E3-FA2702EAD8C8}">
      <dgm:prSet/>
      <dgm:spPr/>
      <dgm:t>
        <a:bodyPr/>
        <a:lstStyle/>
        <a:p>
          <a:endParaRPr lang="en-US" sz="2000"/>
        </a:p>
      </dgm:t>
    </dgm:pt>
    <dgm:pt modelId="{9BCA47A9-F0E9-4A6F-81B2-E777A2F6FE77}">
      <dgm:prSet custT="1"/>
      <dgm:spPr/>
      <dgm:t>
        <a:bodyPr/>
        <a:lstStyle/>
        <a:p>
          <a:pPr>
            <a:lnSpc>
              <a:spcPct val="100000"/>
            </a:lnSpc>
          </a:pPr>
          <a:r>
            <a:rPr lang="es-MX" sz="2000" b="1" i="0" baseline="0"/>
            <a:t>Interpretación de los resultados.</a:t>
          </a:r>
          <a:endParaRPr lang="en-US" sz="2000"/>
        </a:p>
      </dgm:t>
    </dgm:pt>
    <dgm:pt modelId="{16DCF677-982B-4F1F-BCA5-FED0FA8820B1}" type="parTrans" cxnId="{A0AF4900-0E59-4DD5-8CA1-CC7E7D28B360}">
      <dgm:prSet/>
      <dgm:spPr/>
      <dgm:t>
        <a:bodyPr/>
        <a:lstStyle/>
        <a:p>
          <a:endParaRPr lang="en-US" sz="2000"/>
        </a:p>
      </dgm:t>
    </dgm:pt>
    <dgm:pt modelId="{5A7A70D6-037A-4F54-8374-2053B56CB659}" type="sibTrans" cxnId="{A0AF4900-0E59-4DD5-8CA1-CC7E7D28B360}">
      <dgm:prSet/>
      <dgm:spPr/>
      <dgm:t>
        <a:bodyPr/>
        <a:lstStyle/>
        <a:p>
          <a:endParaRPr lang="en-US" sz="2000"/>
        </a:p>
      </dgm:t>
    </dgm:pt>
    <dgm:pt modelId="{D77F4B06-EA74-4BDE-B177-4025C5B5E0F6}">
      <dgm:prSet custT="1"/>
      <dgm:spPr/>
      <dgm:t>
        <a:bodyPr/>
        <a:lstStyle/>
        <a:p>
          <a:pPr>
            <a:lnSpc>
              <a:spcPct val="100000"/>
            </a:lnSpc>
          </a:pPr>
          <a:r>
            <a:rPr lang="es-MX" sz="2000" b="0" i="0" baseline="0" dirty="0"/>
            <a:t>Una vez determinados los grupos, corresponderá al investigador de cada campo, ya sea psicólogo, sociólogo, economista, biólogo u otro, analizar los grupos y el porqué de su formación para obtener las características</a:t>
          </a:r>
          <a:endParaRPr lang="en-US" sz="2000" dirty="0"/>
        </a:p>
      </dgm:t>
    </dgm:pt>
    <dgm:pt modelId="{299F7F1D-5AA3-49D0-A053-DCC15701C56F}" type="parTrans" cxnId="{A1156415-BA16-4D00-AD01-0E3D3DCFEEE3}">
      <dgm:prSet/>
      <dgm:spPr/>
      <dgm:t>
        <a:bodyPr/>
        <a:lstStyle/>
        <a:p>
          <a:endParaRPr lang="en-US" sz="2000"/>
        </a:p>
      </dgm:t>
    </dgm:pt>
    <dgm:pt modelId="{A0405DD7-859D-4586-95BB-5614806F8D61}" type="sibTrans" cxnId="{A1156415-BA16-4D00-AD01-0E3D3DCFEEE3}">
      <dgm:prSet/>
      <dgm:spPr/>
      <dgm:t>
        <a:bodyPr/>
        <a:lstStyle/>
        <a:p>
          <a:endParaRPr lang="en-US" sz="2000"/>
        </a:p>
      </dgm:t>
    </dgm:pt>
    <dgm:pt modelId="{FB3EFF29-9B75-46A7-A9FA-C2D76C23B5A0}">
      <dgm:prSet custT="1"/>
      <dgm:spPr/>
      <dgm:t>
        <a:bodyPr/>
        <a:lstStyle/>
        <a:p>
          <a:pPr>
            <a:lnSpc>
              <a:spcPct val="100000"/>
            </a:lnSpc>
          </a:pPr>
          <a:r>
            <a:rPr lang="es-MX" sz="2000" b="0" i="0" baseline="0" dirty="0"/>
            <a:t>relevantes de cada uno, así como aquellas en las que se diferencian cada </a:t>
          </a:r>
          <a:r>
            <a:rPr lang="es-AR" sz="2000" b="0" i="0" baseline="0" dirty="0"/>
            <a:t>conglomerado.</a:t>
          </a:r>
          <a:endParaRPr lang="en-US" sz="2000" dirty="0"/>
        </a:p>
      </dgm:t>
    </dgm:pt>
    <dgm:pt modelId="{1F8713C6-8199-4D94-AE5C-D91442805E8A}" type="parTrans" cxnId="{A41BE547-6298-4B4A-A159-A2E7DF71F14E}">
      <dgm:prSet/>
      <dgm:spPr/>
      <dgm:t>
        <a:bodyPr/>
        <a:lstStyle/>
        <a:p>
          <a:endParaRPr lang="en-US" sz="2000"/>
        </a:p>
      </dgm:t>
    </dgm:pt>
    <dgm:pt modelId="{730CCD02-A14E-4E37-B7C8-62E2E11854A7}" type="sibTrans" cxnId="{A41BE547-6298-4B4A-A159-A2E7DF71F14E}">
      <dgm:prSet/>
      <dgm:spPr/>
      <dgm:t>
        <a:bodyPr/>
        <a:lstStyle/>
        <a:p>
          <a:endParaRPr lang="en-US" sz="2000"/>
        </a:p>
      </dgm:t>
    </dgm:pt>
    <dgm:pt modelId="{2AEF7DAF-52B9-407A-9368-35873B668E2E}" type="pres">
      <dgm:prSet presAssocID="{D5039745-C8A9-40E3-9151-0975936CA015}" presName="root" presStyleCnt="0">
        <dgm:presLayoutVars>
          <dgm:dir/>
          <dgm:resizeHandles val="exact"/>
        </dgm:presLayoutVars>
      </dgm:prSet>
      <dgm:spPr/>
    </dgm:pt>
    <dgm:pt modelId="{20AB8A50-8CAB-4CA3-8C61-9F6251591943}" type="pres">
      <dgm:prSet presAssocID="{036FB5F2-4008-49BF-A3AD-7E81EF208D5F}" presName="compNode" presStyleCnt="0"/>
      <dgm:spPr/>
    </dgm:pt>
    <dgm:pt modelId="{6571042E-A123-4986-9F87-76B7C6B98E0E}" type="pres">
      <dgm:prSet presAssocID="{036FB5F2-4008-49BF-A3AD-7E81EF208D5F}" presName="bgRect" presStyleLbl="bgShp" presStyleIdx="0" presStyleCnt="5"/>
      <dgm:spPr/>
    </dgm:pt>
    <dgm:pt modelId="{1005EFF7-D980-4BC1-83B3-12654F01329D}" type="pres">
      <dgm:prSet presAssocID="{036FB5F2-4008-49BF-A3AD-7E81EF208D5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ca de verificación"/>
        </a:ext>
      </dgm:extLst>
    </dgm:pt>
    <dgm:pt modelId="{E5618D4F-4ADF-4EDC-B0AA-0C8DC5C5A637}" type="pres">
      <dgm:prSet presAssocID="{036FB5F2-4008-49BF-A3AD-7E81EF208D5F}" presName="spaceRect" presStyleCnt="0"/>
      <dgm:spPr/>
    </dgm:pt>
    <dgm:pt modelId="{61564971-402C-4928-86FB-9412F3F8844F}" type="pres">
      <dgm:prSet presAssocID="{036FB5F2-4008-49BF-A3AD-7E81EF208D5F}" presName="parTx" presStyleLbl="revTx" presStyleIdx="0" presStyleCnt="5">
        <dgm:presLayoutVars>
          <dgm:chMax val="0"/>
          <dgm:chPref val="0"/>
        </dgm:presLayoutVars>
      </dgm:prSet>
      <dgm:spPr/>
    </dgm:pt>
    <dgm:pt modelId="{683677AD-6881-4AFB-B560-5CDF91645ECE}" type="pres">
      <dgm:prSet presAssocID="{D11EB0F6-9A98-4BF9-9925-AC2013FF412F}" presName="sibTrans" presStyleCnt="0"/>
      <dgm:spPr/>
    </dgm:pt>
    <dgm:pt modelId="{5E30B137-1AB1-45A6-91DB-F1F65C9826C6}" type="pres">
      <dgm:prSet presAssocID="{3AD9B3DC-01DD-4A21-BDC2-B798545609E8}" presName="compNode" presStyleCnt="0"/>
      <dgm:spPr/>
    </dgm:pt>
    <dgm:pt modelId="{6B11FBB7-FDB2-4E8C-A674-3937A196F078}" type="pres">
      <dgm:prSet presAssocID="{3AD9B3DC-01DD-4A21-BDC2-B798545609E8}" presName="bgRect" presStyleLbl="bgShp" presStyleIdx="1" presStyleCnt="5"/>
      <dgm:spPr/>
    </dgm:pt>
    <dgm:pt modelId="{68ACBFB6-5A9A-4D54-9150-2B87E20FA939}" type="pres">
      <dgm:prSet presAssocID="{3AD9B3DC-01DD-4A21-BDC2-B798545609E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illas"/>
        </a:ext>
      </dgm:extLst>
    </dgm:pt>
    <dgm:pt modelId="{F3D3236C-BD46-4189-9097-BB1B6D1C8217}" type="pres">
      <dgm:prSet presAssocID="{3AD9B3DC-01DD-4A21-BDC2-B798545609E8}" presName="spaceRect" presStyleCnt="0"/>
      <dgm:spPr/>
    </dgm:pt>
    <dgm:pt modelId="{0231EC69-908F-46D2-9A9C-F8AEBF420688}" type="pres">
      <dgm:prSet presAssocID="{3AD9B3DC-01DD-4A21-BDC2-B798545609E8}" presName="parTx" presStyleLbl="revTx" presStyleIdx="1" presStyleCnt="5">
        <dgm:presLayoutVars>
          <dgm:chMax val="0"/>
          <dgm:chPref val="0"/>
        </dgm:presLayoutVars>
      </dgm:prSet>
      <dgm:spPr/>
    </dgm:pt>
    <dgm:pt modelId="{1BC80A15-7184-4DDB-8A30-9DD1B62CCEA3}" type="pres">
      <dgm:prSet presAssocID="{0D6DCF18-E75D-4B53-B1BC-0A9B2857FAD7}" presName="sibTrans" presStyleCnt="0"/>
      <dgm:spPr/>
    </dgm:pt>
    <dgm:pt modelId="{A7443A3B-A570-4BF3-876C-183E6056730A}" type="pres">
      <dgm:prSet presAssocID="{9BCA47A9-F0E9-4A6F-81B2-E777A2F6FE77}" presName="compNode" presStyleCnt="0"/>
      <dgm:spPr/>
    </dgm:pt>
    <dgm:pt modelId="{7148F432-9B2A-4032-B1E3-E771DF70A318}" type="pres">
      <dgm:prSet presAssocID="{9BCA47A9-F0E9-4A6F-81B2-E777A2F6FE77}" presName="bgRect" presStyleLbl="bgShp" presStyleIdx="2" presStyleCnt="5"/>
      <dgm:spPr/>
    </dgm:pt>
    <dgm:pt modelId="{6C3A9E26-CC38-4CBF-88B8-1044889F7EF2}" type="pres">
      <dgm:prSet presAssocID="{9BCA47A9-F0E9-4A6F-81B2-E777A2F6FE7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B9BB28D0-C1AE-452B-B66D-99F29287B159}" type="pres">
      <dgm:prSet presAssocID="{9BCA47A9-F0E9-4A6F-81B2-E777A2F6FE77}" presName="spaceRect" presStyleCnt="0"/>
      <dgm:spPr/>
    </dgm:pt>
    <dgm:pt modelId="{F690B45D-A2C7-4B36-9994-1917862EE450}" type="pres">
      <dgm:prSet presAssocID="{9BCA47A9-F0E9-4A6F-81B2-E777A2F6FE77}" presName="parTx" presStyleLbl="revTx" presStyleIdx="2" presStyleCnt="5">
        <dgm:presLayoutVars>
          <dgm:chMax val="0"/>
          <dgm:chPref val="0"/>
        </dgm:presLayoutVars>
      </dgm:prSet>
      <dgm:spPr/>
    </dgm:pt>
    <dgm:pt modelId="{4B12D11D-D3D4-411A-839B-72A67500B5D5}" type="pres">
      <dgm:prSet presAssocID="{5A7A70D6-037A-4F54-8374-2053B56CB659}" presName="sibTrans" presStyleCnt="0"/>
      <dgm:spPr/>
    </dgm:pt>
    <dgm:pt modelId="{27F31DCF-FA25-40CB-B73B-79DD217710DA}" type="pres">
      <dgm:prSet presAssocID="{D77F4B06-EA74-4BDE-B177-4025C5B5E0F6}" presName="compNode" presStyleCnt="0"/>
      <dgm:spPr/>
    </dgm:pt>
    <dgm:pt modelId="{4F3675FC-2E77-4BC9-8F7C-AD7D7B410E3F}" type="pres">
      <dgm:prSet presAssocID="{D77F4B06-EA74-4BDE-B177-4025C5B5E0F6}" presName="bgRect" presStyleLbl="bgShp" presStyleIdx="3" presStyleCnt="5"/>
      <dgm:spPr/>
    </dgm:pt>
    <dgm:pt modelId="{0020EE22-CB57-45AC-8D03-922619AB6BC6}" type="pres">
      <dgm:prSet presAssocID="{D77F4B06-EA74-4BDE-B177-4025C5B5E0F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mbero"/>
        </a:ext>
      </dgm:extLst>
    </dgm:pt>
    <dgm:pt modelId="{68A1878F-6CE1-42F9-A70A-E55FCB7E3B30}" type="pres">
      <dgm:prSet presAssocID="{D77F4B06-EA74-4BDE-B177-4025C5B5E0F6}" presName="spaceRect" presStyleCnt="0"/>
      <dgm:spPr/>
    </dgm:pt>
    <dgm:pt modelId="{F135B6C2-8DF8-4FAB-9749-69BBAC5722E9}" type="pres">
      <dgm:prSet presAssocID="{D77F4B06-EA74-4BDE-B177-4025C5B5E0F6}" presName="parTx" presStyleLbl="revTx" presStyleIdx="3" presStyleCnt="5">
        <dgm:presLayoutVars>
          <dgm:chMax val="0"/>
          <dgm:chPref val="0"/>
        </dgm:presLayoutVars>
      </dgm:prSet>
      <dgm:spPr/>
    </dgm:pt>
    <dgm:pt modelId="{3941ADCF-F9B3-468E-ADB3-E94951347171}" type="pres">
      <dgm:prSet presAssocID="{A0405DD7-859D-4586-95BB-5614806F8D61}" presName="sibTrans" presStyleCnt="0"/>
      <dgm:spPr/>
    </dgm:pt>
    <dgm:pt modelId="{2756559F-9A8D-4130-B3CB-E0DC889D48E9}" type="pres">
      <dgm:prSet presAssocID="{FB3EFF29-9B75-46A7-A9FA-C2D76C23B5A0}" presName="compNode" presStyleCnt="0"/>
      <dgm:spPr/>
    </dgm:pt>
    <dgm:pt modelId="{5A94D17D-24DE-4C19-94C6-30017AB434C4}" type="pres">
      <dgm:prSet presAssocID="{FB3EFF29-9B75-46A7-A9FA-C2D76C23B5A0}" presName="bgRect" presStyleLbl="bgShp" presStyleIdx="4" presStyleCnt="5"/>
      <dgm:spPr/>
    </dgm:pt>
    <dgm:pt modelId="{3DD44D77-2686-49A8-88C0-798135B1D1F1}" type="pres">
      <dgm:prSet presAssocID="{FB3EFF29-9B75-46A7-A9FA-C2D76C23B5A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oldador"/>
        </a:ext>
      </dgm:extLst>
    </dgm:pt>
    <dgm:pt modelId="{21D1AA9A-346D-40FA-B255-FDBC346069A1}" type="pres">
      <dgm:prSet presAssocID="{FB3EFF29-9B75-46A7-A9FA-C2D76C23B5A0}" presName="spaceRect" presStyleCnt="0"/>
      <dgm:spPr/>
    </dgm:pt>
    <dgm:pt modelId="{1E7F04CB-3A1C-495F-A1F9-839EC707D86C}" type="pres">
      <dgm:prSet presAssocID="{FB3EFF29-9B75-46A7-A9FA-C2D76C23B5A0}" presName="parTx" presStyleLbl="revTx" presStyleIdx="4" presStyleCnt="5">
        <dgm:presLayoutVars>
          <dgm:chMax val="0"/>
          <dgm:chPref val="0"/>
        </dgm:presLayoutVars>
      </dgm:prSet>
      <dgm:spPr/>
    </dgm:pt>
  </dgm:ptLst>
  <dgm:cxnLst>
    <dgm:cxn modelId="{A0AF4900-0E59-4DD5-8CA1-CC7E7D28B360}" srcId="{D5039745-C8A9-40E3-9151-0975936CA015}" destId="{9BCA47A9-F0E9-4A6F-81B2-E777A2F6FE77}" srcOrd="2" destOrd="0" parTransId="{16DCF677-982B-4F1F-BCA5-FED0FA8820B1}" sibTransId="{5A7A70D6-037A-4F54-8374-2053B56CB659}"/>
    <dgm:cxn modelId="{C0973101-A03C-4796-ACC7-EA1BD9D4C541}" type="presOf" srcId="{036FB5F2-4008-49BF-A3AD-7E81EF208D5F}" destId="{61564971-402C-4928-86FB-9412F3F8844F}" srcOrd="0" destOrd="0" presId="urn:microsoft.com/office/officeart/2018/2/layout/IconVerticalSolidList"/>
    <dgm:cxn modelId="{A1156415-BA16-4D00-AD01-0E3D3DCFEEE3}" srcId="{D5039745-C8A9-40E3-9151-0975936CA015}" destId="{D77F4B06-EA74-4BDE-B177-4025C5B5E0F6}" srcOrd="3" destOrd="0" parTransId="{299F7F1D-5AA3-49D0-A053-DCC15701C56F}" sibTransId="{A0405DD7-859D-4586-95BB-5614806F8D61}"/>
    <dgm:cxn modelId="{D5EB7419-4999-4E9C-9E19-278CDA78A582}" srcId="{D5039745-C8A9-40E3-9151-0975936CA015}" destId="{036FB5F2-4008-49BF-A3AD-7E81EF208D5F}" srcOrd="0" destOrd="0" parTransId="{C4856A3D-DE01-4470-9D65-5A5241763A59}" sibTransId="{D11EB0F6-9A98-4BF9-9925-AC2013FF412F}"/>
    <dgm:cxn modelId="{3AAA9860-A1E4-4D94-89E3-FA2702EAD8C8}" srcId="{D5039745-C8A9-40E3-9151-0975936CA015}" destId="{3AD9B3DC-01DD-4A21-BDC2-B798545609E8}" srcOrd="1" destOrd="0" parTransId="{954BAB0D-6734-42A5-9590-D4457F58EFCC}" sibTransId="{0D6DCF18-E75D-4B53-B1BC-0A9B2857FAD7}"/>
    <dgm:cxn modelId="{CB23BD60-F08C-4626-A163-DCEE5BBFB88F}" type="presOf" srcId="{FB3EFF29-9B75-46A7-A9FA-C2D76C23B5A0}" destId="{1E7F04CB-3A1C-495F-A1F9-839EC707D86C}" srcOrd="0" destOrd="0" presId="urn:microsoft.com/office/officeart/2018/2/layout/IconVerticalSolidList"/>
    <dgm:cxn modelId="{A41BE547-6298-4B4A-A159-A2E7DF71F14E}" srcId="{D5039745-C8A9-40E3-9151-0975936CA015}" destId="{FB3EFF29-9B75-46A7-A9FA-C2D76C23B5A0}" srcOrd="4" destOrd="0" parTransId="{1F8713C6-8199-4D94-AE5C-D91442805E8A}" sibTransId="{730CCD02-A14E-4E37-B7C8-62E2E11854A7}"/>
    <dgm:cxn modelId="{BFF16954-BD09-448A-BDD3-44F835AE5659}" type="presOf" srcId="{3AD9B3DC-01DD-4A21-BDC2-B798545609E8}" destId="{0231EC69-908F-46D2-9A9C-F8AEBF420688}" srcOrd="0" destOrd="0" presId="urn:microsoft.com/office/officeart/2018/2/layout/IconVerticalSolidList"/>
    <dgm:cxn modelId="{F202CD8A-0207-4852-92A3-9E84269C7C0B}" type="presOf" srcId="{D77F4B06-EA74-4BDE-B177-4025C5B5E0F6}" destId="{F135B6C2-8DF8-4FAB-9749-69BBAC5722E9}" srcOrd="0" destOrd="0" presId="urn:microsoft.com/office/officeart/2018/2/layout/IconVerticalSolidList"/>
    <dgm:cxn modelId="{4A5E9794-8BA8-4D04-9E87-7C11B59E1CB4}" type="presOf" srcId="{D5039745-C8A9-40E3-9151-0975936CA015}" destId="{2AEF7DAF-52B9-407A-9368-35873B668E2E}" srcOrd="0" destOrd="0" presId="urn:microsoft.com/office/officeart/2018/2/layout/IconVerticalSolidList"/>
    <dgm:cxn modelId="{827061D8-86FA-4CC8-8D8D-1A033C9A5E72}" type="presOf" srcId="{9BCA47A9-F0E9-4A6F-81B2-E777A2F6FE77}" destId="{F690B45D-A2C7-4B36-9994-1917862EE450}" srcOrd="0" destOrd="0" presId="urn:microsoft.com/office/officeart/2018/2/layout/IconVerticalSolidList"/>
    <dgm:cxn modelId="{7C580813-AD18-426F-A2E9-A527F8CAFD16}" type="presParOf" srcId="{2AEF7DAF-52B9-407A-9368-35873B668E2E}" destId="{20AB8A50-8CAB-4CA3-8C61-9F6251591943}" srcOrd="0" destOrd="0" presId="urn:microsoft.com/office/officeart/2018/2/layout/IconVerticalSolidList"/>
    <dgm:cxn modelId="{B5837C87-4E15-4369-9CF7-03C5231251C5}" type="presParOf" srcId="{20AB8A50-8CAB-4CA3-8C61-9F6251591943}" destId="{6571042E-A123-4986-9F87-76B7C6B98E0E}" srcOrd="0" destOrd="0" presId="urn:microsoft.com/office/officeart/2018/2/layout/IconVerticalSolidList"/>
    <dgm:cxn modelId="{DC2E2A85-75E6-4B0D-8BC7-A7EF16719270}" type="presParOf" srcId="{20AB8A50-8CAB-4CA3-8C61-9F6251591943}" destId="{1005EFF7-D980-4BC1-83B3-12654F01329D}" srcOrd="1" destOrd="0" presId="urn:microsoft.com/office/officeart/2018/2/layout/IconVerticalSolidList"/>
    <dgm:cxn modelId="{7821EE9C-31EA-4FE6-BE49-7AAAA84CC38A}" type="presParOf" srcId="{20AB8A50-8CAB-4CA3-8C61-9F6251591943}" destId="{E5618D4F-4ADF-4EDC-B0AA-0C8DC5C5A637}" srcOrd="2" destOrd="0" presId="urn:microsoft.com/office/officeart/2018/2/layout/IconVerticalSolidList"/>
    <dgm:cxn modelId="{58A6815B-195F-41BF-BB4D-629559C72E2F}" type="presParOf" srcId="{20AB8A50-8CAB-4CA3-8C61-9F6251591943}" destId="{61564971-402C-4928-86FB-9412F3F8844F}" srcOrd="3" destOrd="0" presId="urn:microsoft.com/office/officeart/2018/2/layout/IconVerticalSolidList"/>
    <dgm:cxn modelId="{666403D7-0F02-4529-8102-91EA834AB9B9}" type="presParOf" srcId="{2AEF7DAF-52B9-407A-9368-35873B668E2E}" destId="{683677AD-6881-4AFB-B560-5CDF91645ECE}" srcOrd="1" destOrd="0" presId="urn:microsoft.com/office/officeart/2018/2/layout/IconVerticalSolidList"/>
    <dgm:cxn modelId="{95ED32DB-FE38-40AF-8493-2C116339B2AF}" type="presParOf" srcId="{2AEF7DAF-52B9-407A-9368-35873B668E2E}" destId="{5E30B137-1AB1-45A6-91DB-F1F65C9826C6}" srcOrd="2" destOrd="0" presId="urn:microsoft.com/office/officeart/2018/2/layout/IconVerticalSolidList"/>
    <dgm:cxn modelId="{A6E00D5F-95CF-4FB9-95B6-A5AB4F919376}" type="presParOf" srcId="{5E30B137-1AB1-45A6-91DB-F1F65C9826C6}" destId="{6B11FBB7-FDB2-4E8C-A674-3937A196F078}" srcOrd="0" destOrd="0" presId="urn:microsoft.com/office/officeart/2018/2/layout/IconVerticalSolidList"/>
    <dgm:cxn modelId="{1456A580-A28B-4F0F-8BE5-6B72063518CF}" type="presParOf" srcId="{5E30B137-1AB1-45A6-91DB-F1F65C9826C6}" destId="{68ACBFB6-5A9A-4D54-9150-2B87E20FA939}" srcOrd="1" destOrd="0" presId="urn:microsoft.com/office/officeart/2018/2/layout/IconVerticalSolidList"/>
    <dgm:cxn modelId="{AD4EFA75-350C-4542-9765-702612341FFA}" type="presParOf" srcId="{5E30B137-1AB1-45A6-91DB-F1F65C9826C6}" destId="{F3D3236C-BD46-4189-9097-BB1B6D1C8217}" srcOrd="2" destOrd="0" presId="urn:microsoft.com/office/officeart/2018/2/layout/IconVerticalSolidList"/>
    <dgm:cxn modelId="{AE0913C8-C5FE-4324-8A53-F30A9BE9CDB9}" type="presParOf" srcId="{5E30B137-1AB1-45A6-91DB-F1F65C9826C6}" destId="{0231EC69-908F-46D2-9A9C-F8AEBF420688}" srcOrd="3" destOrd="0" presId="urn:microsoft.com/office/officeart/2018/2/layout/IconVerticalSolidList"/>
    <dgm:cxn modelId="{8172E292-6397-4236-925E-8A69A306E5D7}" type="presParOf" srcId="{2AEF7DAF-52B9-407A-9368-35873B668E2E}" destId="{1BC80A15-7184-4DDB-8A30-9DD1B62CCEA3}" srcOrd="3" destOrd="0" presId="urn:microsoft.com/office/officeart/2018/2/layout/IconVerticalSolidList"/>
    <dgm:cxn modelId="{EDB2611B-0CCA-4864-95A2-8FFF5F15B068}" type="presParOf" srcId="{2AEF7DAF-52B9-407A-9368-35873B668E2E}" destId="{A7443A3B-A570-4BF3-876C-183E6056730A}" srcOrd="4" destOrd="0" presId="urn:microsoft.com/office/officeart/2018/2/layout/IconVerticalSolidList"/>
    <dgm:cxn modelId="{708ECC66-9EC5-4273-A117-835ACDDB1717}" type="presParOf" srcId="{A7443A3B-A570-4BF3-876C-183E6056730A}" destId="{7148F432-9B2A-4032-B1E3-E771DF70A318}" srcOrd="0" destOrd="0" presId="urn:microsoft.com/office/officeart/2018/2/layout/IconVerticalSolidList"/>
    <dgm:cxn modelId="{F8CBF43F-B0FD-4A35-AA25-618270EE9DBE}" type="presParOf" srcId="{A7443A3B-A570-4BF3-876C-183E6056730A}" destId="{6C3A9E26-CC38-4CBF-88B8-1044889F7EF2}" srcOrd="1" destOrd="0" presId="urn:microsoft.com/office/officeart/2018/2/layout/IconVerticalSolidList"/>
    <dgm:cxn modelId="{1765DCE9-B5D7-4F3E-9894-03BF47F046DA}" type="presParOf" srcId="{A7443A3B-A570-4BF3-876C-183E6056730A}" destId="{B9BB28D0-C1AE-452B-B66D-99F29287B159}" srcOrd="2" destOrd="0" presId="urn:microsoft.com/office/officeart/2018/2/layout/IconVerticalSolidList"/>
    <dgm:cxn modelId="{D82AA312-EF28-444C-A994-17BE387F76BD}" type="presParOf" srcId="{A7443A3B-A570-4BF3-876C-183E6056730A}" destId="{F690B45D-A2C7-4B36-9994-1917862EE450}" srcOrd="3" destOrd="0" presId="urn:microsoft.com/office/officeart/2018/2/layout/IconVerticalSolidList"/>
    <dgm:cxn modelId="{DA025D5F-A95B-4982-ACD0-8382F93FD5E1}" type="presParOf" srcId="{2AEF7DAF-52B9-407A-9368-35873B668E2E}" destId="{4B12D11D-D3D4-411A-839B-72A67500B5D5}" srcOrd="5" destOrd="0" presId="urn:microsoft.com/office/officeart/2018/2/layout/IconVerticalSolidList"/>
    <dgm:cxn modelId="{F61A3E0D-A245-4E56-B23F-E8DBD57F22A5}" type="presParOf" srcId="{2AEF7DAF-52B9-407A-9368-35873B668E2E}" destId="{27F31DCF-FA25-40CB-B73B-79DD217710DA}" srcOrd="6" destOrd="0" presId="urn:microsoft.com/office/officeart/2018/2/layout/IconVerticalSolidList"/>
    <dgm:cxn modelId="{7AA3693A-B412-4B02-9333-04FADDE680A2}" type="presParOf" srcId="{27F31DCF-FA25-40CB-B73B-79DD217710DA}" destId="{4F3675FC-2E77-4BC9-8F7C-AD7D7B410E3F}" srcOrd="0" destOrd="0" presId="urn:microsoft.com/office/officeart/2018/2/layout/IconVerticalSolidList"/>
    <dgm:cxn modelId="{520DDB55-4128-4754-84F7-6E77787F2D95}" type="presParOf" srcId="{27F31DCF-FA25-40CB-B73B-79DD217710DA}" destId="{0020EE22-CB57-45AC-8D03-922619AB6BC6}" srcOrd="1" destOrd="0" presId="urn:microsoft.com/office/officeart/2018/2/layout/IconVerticalSolidList"/>
    <dgm:cxn modelId="{8F9DB32E-A89A-447F-820D-5848CEB32AFA}" type="presParOf" srcId="{27F31DCF-FA25-40CB-B73B-79DD217710DA}" destId="{68A1878F-6CE1-42F9-A70A-E55FCB7E3B30}" srcOrd="2" destOrd="0" presId="urn:microsoft.com/office/officeart/2018/2/layout/IconVerticalSolidList"/>
    <dgm:cxn modelId="{AEF8C14A-7CB3-43F0-BF5C-B5539B5256A9}" type="presParOf" srcId="{27F31DCF-FA25-40CB-B73B-79DD217710DA}" destId="{F135B6C2-8DF8-4FAB-9749-69BBAC5722E9}" srcOrd="3" destOrd="0" presId="urn:microsoft.com/office/officeart/2018/2/layout/IconVerticalSolidList"/>
    <dgm:cxn modelId="{A07B62A5-0777-4264-99AF-6D677B03D8F9}" type="presParOf" srcId="{2AEF7DAF-52B9-407A-9368-35873B668E2E}" destId="{3941ADCF-F9B3-468E-ADB3-E94951347171}" srcOrd="7" destOrd="0" presId="urn:microsoft.com/office/officeart/2018/2/layout/IconVerticalSolidList"/>
    <dgm:cxn modelId="{236D5191-7258-42E8-9BD2-7CE062F30F1C}" type="presParOf" srcId="{2AEF7DAF-52B9-407A-9368-35873B668E2E}" destId="{2756559F-9A8D-4130-B3CB-E0DC889D48E9}" srcOrd="8" destOrd="0" presId="urn:microsoft.com/office/officeart/2018/2/layout/IconVerticalSolidList"/>
    <dgm:cxn modelId="{34926148-37E4-46DA-8C6A-5F3624C44265}" type="presParOf" srcId="{2756559F-9A8D-4130-B3CB-E0DC889D48E9}" destId="{5A94D17D-24DE-4C19-94C6-30017AB434C4}" srcOrd="0" destOrd="0" presId="urn:microsoft.com/office/officeart/2018/2/layout/IconVerticalSolidList"/>
    <dgm:cxn modelId="{320A93EB-64D5-48A2-A1F8-03E010F84F16}" type="presParOf" srcId="{2756559F-9A8D-4130-B3CB-E0DC889D48E9}" destId="{3DD44D77-2686-49A8-88C0-798135B1D1F1}" srcOrd="1" destOrd="0" presId="urn:microsoft.com/office/officeart/2018/2/layout/IconVerticalSolidList"/>
    <dgm:cxn modelId="{8951A6D6-83D6-4322-980E-DC7828F7AF96}" type="presParOf" srcId="{2756559F-9A8D-4130-B3CB-E0DC889D48E9}" destId="{21D1AA9A-346D-40FA-B255-FDBC346069A1}" srcOrd="2" destOrd="0" presId="urn:microsoft.com/office/officeart/2018/2/layout/IconVerticalSolidList"/>
    <dgm:cxn modelId="{959B828F-2C25-49D6-9C2D-80448C65E77D}" type="presParOf" srcId="{2756559F-9A8D-4130-B3CB-E0DC889D48E9}" destId="{1E7F04CB-3A1C-495F-A1F9-839EC707D86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60FBE8-2D0B-47F2-B1BA-BE9A37A8252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FA3A39C-F733-481D-BE6E-C9536687B0C0}">
      <dgm:prSet/>
      <dgm:spPr/>
      <dgm:t>
        <a:bodyPr/>
        <a:lstStyle/>
        <a:p>
          <a:pPr>
            <a:lnSpc>
              <a:spcPct val="100000"/>
            </a:lnSpc>
          </a:pPr>
          <a:r>
            <a:rPr lang="es-MX" b="1" i="0"/>
            <a:t>Gap</a:t>
          </a:r>
          <a:br>
            <a:rPr lang="es-MX" b="0" i="0"/>
          </a:br>
          <a:endParaRPr lang="en-US"/>
        </a:p>
      </dgm:t>
    </dgm:pt>
    <dgm:pt modelId="{2D8D8403-EF8F-4BF7-BF06-26557DF74CCA}" type="parTrans" cxnId="{3C4CA539-E877-4027-9DB3-F230B46BF71B}">
      <dgm:prSet/>
      <dgm:spPr/>
      <dgm:t>
        <a:bodyPr/>
        <a:lstStyle/>
        <a:p>
          <a:endParaRPr lang="en-US"/>
        </a:p>
      </dgm:t>
    </dgm:pt>
    <dgm:pt modelId="{61B188A6-B22B-4A40-B49C-9B6F8691D237}" type="sibTrans" cxnId="{3C4CA539-E877-4027-9DB3-F230B46BF71B}">
      <dgm:prSet/>
      <dgm:spPr/>
      <dgm:t>
        <a:bodyPr/>
        <a:lstStyle/>
        <a:p>
          <a:endParaRPr lang="en-US"/>
        </a:p>
      </dgm:t>
    </dgm:pt>
    <dgm:pt modelId="{3BF9F475-3F00-42D7-BD16-7BE4E32D31DC}">
      <dgm:prSet custT="1"/>
      <dgm:spPr/>
      <dgm:t>
        <a:bodyPr/>
        <a:lstStyle/>
        <a:p>
          <a:pPr>
            <a:lnSpc>
              <a:spcPct val="100000"/>
            </a:lnSpc>
          </a:pPr>
          <a:r>
            <a:rPr lang="es-MX" sz="1600" b="1" i="0" dirty="0"/>
            <a:t>El método de Gap (</a:t>
          </a:r>
          <a:r>
            <a:rPr lang="es-MX" sz="1800" b="1" i="0" dirty="0"/>
            <a:t>brecha</a:t>
          </a:r>
          <a:r>
            <a:rPr lang="es-MX" sz="1600" b="1" i="0" dirty="0"/>
            <a:t>); pretende encontrar la mayor diferencia o distancia que hay entre los diferentes grupos de objetos que vamos formando para representarlos en un dendrograma. Para ello vamos cogiendo las distancias que hay de cada uno de los enlaces que forman el dendrograma y vemos cual es la mayor diferencia que hay entre cada uno de estos enlaces, siendo el punto máximo, el número de Clusters optimo.</a:t>
          </a:r>
          <a:endParaRPr lang="en-US" sz="1600" b="1" dirty="0"/>
        </a:p>
      </dgm:t>
    </dgm:pt>
    <dgm:pt modelId="{CEF0EE71-00A1-46D3-9BD3-F4F1029B5EB8}" type="sibTrans" cxnId="{B9B1FB04-0EEC-4D55-A6EC-21B1A76BFDF5}">
      <dgm:prSet/>
      <dgm:spPr/>
      <dgm:t>
        <a:bodyPr/>
        <a:lstStyle/>
        <a:p>
          <a:endParaRPr lang="en-US"/>
        </a:p>
      </dgm:t>
    </dgm:pt>
    <dgm:pt modelId="{693AD2D5-F724-4FBF-871B-135134F480C0}" type="parTrans" cxnId="{B9B1FB04-0EEC-4D55-A6EC-21B1A76BFDF5}">
      <dgm:prSet/>
      <dgm:spPr/>
      <dgm:t>
        <a:bodyPr/>
        <a:lstStyle/>
        <a:p>
          <a:endParaRPr lang="en-US"/>
        </a:p>
      </dgm:t>
    </dgm:pt>
    <dgm:pt modelId="{9C733570-5309-4B9F-9E6B-70422932DCC2}" type="pres">
      <dgm:prSet presAssocID="{C260FBE8-2D0B-47F2-B1BA-BE9A37A82527}" presName="root" presStyleCnt="0">
        <dgm:presLayoutVars>
          <dgm:dir/>
          <dgm:resizeHandles val="exact"/>
        </dgm:presLayoutVars>
      </dgm:prSet>
      <dgm:spPr/>
    </dgm:pt>
    <dgm:pt modelId="{C6CAAD09-1CB5-4AF4-9A7B-48F09A509CE6}" type="pres">
      <dgm:prSet presAssocID="{BFA3A39C-F733-481D-BE6E-C9536687B0C0}" presName="compNode" presStyleCnt="0"/>
      <dgm:spPr/>
    </dgm:pt>
    <dgm:pt modelId="{C72846EC-5496-4519-9E0B-8BAC24B5782B}" type="pres">
      <dgm:prSet presAssocID="{BFA3A39C-F733-481D-BE6E-C9536687B0C0}" presName="bgRect" presStyleLbl="bgShp" presStyleIdx="0" presStyleCnt="2"/>
      <dgm:spPr/>
    </dgm:pt>
    <dgm:pt modelId="{4F019408-1280-4001-978C-B193C0E0BA77}" type="pres">
      <dgm:prSet presAssocID="{BFA3A39C-F733-481D-BE6E-C9536687B0C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rca de verificación"/>
        </a:ext>
      </dgm:extLst>
    </dgm:pt>
    <dgm:pt modelId="{42A27493-D0E9-48B0-856E-C19F93617E93}" type="pres">
      <dgm:prSet presAssocID="{BFA3A39C-F733-481D-BE6E-C9536687B0C0}" presName="spaceRect" presStyleCnt="0"/>
      <dgm:spPr/>
    </dgm:pt>
    <dgm:pt modelId="{FC7C9CEC-AEEF-4976-A481-2E9EEFBF8347}" type="pres">
      <dgm:prSet presAssocID="{BFA3A39C-F733-481D-BE6E-C9536687B0C0}" presName="parTx" presStyleLbl="revTx" presStyleIdx="0" presStyleCnt="2">
        <dgm:presLayoutVars>
          <dgm:chMax val="0"/>
          <dgm:chPref val="0"/>
        </dgm:presLayoutVars>
      </dgm:prSet>
      <dgm:spPr/>
    </dgm:pt>
    <dgm:pt modelId="{3E3D3A26-92AD-4C0D-B490-B7968BA366CE}" type="pres">
      <dgm:prSet presAssocID="{61B188A6-B22B-4A40-B49C-9B6F8691D237}" presName="sibTrans" presStyleCnt="0"/>
      <dgm:spPr/>
    </dgm:pt>
    <dgm:pt modelId="{4F400184-1E06-4591-B859-40B3B8954320}" type="pres">
      <dgm:prSet presAssocID="{3BF9F475-3F00-42D7-BD16-7BE4E32D31DC}" presName="compNode" presStyleCnt="0"/>
      <dgm:spPr/>
    </dgm:pt>
    <dgm:pt modelId="{4E4CEDAD-7F42-4644-AF96-A5B03181C6BD}" type="pres">
      <dgm:prSet presAssocID="{3BF9F475-3F00-42D7-BD16-7BE4E32D31DC}" presName="bgRect" presStyleLbl="bgShp" presStyleIdx="1" presStyleCnt="2" custLinFactY="-400000" custLinFactNeighborX="-1724" custLinFactNeighborY="-435105"/>
      <dgm:spPr/>
    </dgm:pt>
    <dgm:pt modelId="{C9136BC9-20DE-45D4-9714-AF8931B35631}" type="pres">
      <dgm:prSet presAssocID="{3BF9F475-3F00-42D7-BD16-7BE4E32D31D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sconectado"/>
        </a:ext>
      </dgm:extLst>
    </dgm:pt>
    <dgm:pt modelId="{67EC172A-C71B-4C73-BFB8-6BE47F64A5AA}" type="pres">
      <dgm:prSet presAssocID="{3BF9F475-3F00-42D7-BD16-7BE4E32D31DC}" presName="spaceRect" presStyleCnt="0"/>
      <dgm:spPr/>
    </dgm:pt>
    <dgm:pt modelId="{A7573DD8-E328-4FD3-B132-F1BB622ADD1A}" type="pres">
      <dgm:prSet presAssocID="{3BF9F475-3F00-42D7-BD16-7BE4E32D31DC}" presName="parTx" presStyleLbl="revTx" presStyleIdx="1" presStyleCnt="2" custLinFactNeighborX="1185" custLinFactNeighborY="-20416">
        <dgm:presLayoutVars>
          <dgm:chMax val="0"/>
          <dgm:chPref val="0"/>
        </dgm:presLayoutVars>
      </dgm:prSet>
      <dgm:spPr/>
    </dgm:pt>
  </dgm:ptLst>
  <dgm:cxnLst>
    <dgm:cxn modelId="{B9B1FB04-0EEC-4D55-A6EC-21B1A76BFDF5}" srcId="{C260FBE8-2D0B-47F2-B1BA-BE9A37A82527}" destId="{3BF9F475-3F00-42D7-BD16-7BE4E32D31DC}" srcOrd="1" destOrd="0" parTransId="{693AD2D5-F724-4FBF-871B-135134F480C0}" sibTransId="{CEF0EE71-00A1-46D3-9BD3-F4F1029B5EB8}"/>
    <dgm:cxn modelId="{3C4CA539-E877-4027-9DB3-F230B46BF71B}" srcId="{C260FBE8-2D0B-47F2-B1BA-BE9A37A82527}" destId="{BFA3A39C-F733-481D-BE6E-C9536687B0C0}" srcOrd="0" destOrd="0" parTransId="{2D8D8403-EF8F-4BF7-BF06-26557DF74CCA}" sibTransId="{61B188A6-B22B-4A40-B49C-9B6F8691D237}"/>
    <dgm:cxn modelId="{F327D5A5-BA57-4C57-BEE0-8F5EC6EF8172}" type="presOf" srcId="{BFA3A39C-F733-481D-BE6E-C9536687B0C0}" destId="{FC7C9CEC-AEEF-4976-A481-2E9EEFBF8347}" srcOrd="0" destOrd="0" presId="urn:microsoft.com/office/officeart/2018/2/layout/IconVerticalSolidList"/>
    <dgm:cxn modelId="{61067AB1-F160-49E6-8B46-610DB08EE6E6}" type="presOf" srcId="{3BF9F475-3F00-42D7-BD16-7BE4E32D31DC}" destId="{A7573DD8-E328-4FD3-B132-F1BB622ADD1A}" srcOrd="0" destOrd="0" presId="urn:microsoft.com/office/officeart/2018/2/layout/IconVerticalSolidList"/>
    <dgm:cxn modelId="{AE3D30B9-55A6-40F4-A727-05C48E692C59}" type="presOf" srcId="{C260FBE8-2D0B-47F2-B1BA-BE9A37A82527}" destId="{9C733570-5309-4B9F-9E6B-70422932DCC2}" srcOrd="0" destOrd="0" presId="urn:microsoft.com/office/officeart/2018/2/layout/IconVerticalSolidList"/>
    <dgm:cxn modelId="{00C838BB-A143-4C0C-AB3E-7F68B7F4A631}" type="presParOf" srcId="{9C733570-5309-4B9F-9E6B-70422932DCC2}" destId="{C6CAAD09-1CB5-4AF4-9A7B-48F09A509CE6}" srcOrd="0" destOrd="0" presId="urn:microsoft.com/office/officeart/2018/2/layout/IconVerticalSolidList"/>
    <dgm:cxn modelId="{ECDA36B4-CB71-4238-B978-CBBD35CA94C9}" type="presParOf" srcId="{C6CAAD09-1CB5-4AF4-9A7B-48F09A509CE6}" destId="{C72846EC-5496-4519-9E0B-8BAC24B5782B}" srcOrd="0" destOrd="0" presId="urn:microsoft.com/office/officeart/2018/2/layout/IconVerticalSolidList"/>
    <dgm:cxn modelId="{445C41A9-9B43-4240-898E-DE1152741378}" type="presParOf" srcId="{C6CAAD09-1CB5-4AF4-9A7B-48F09A509CE6}" destId="{4F019408-1280-4001-978C-B193C0E0BA77}" srcOrd="1" destOrd="0" presId="urn:microsoft.com/office/officeart/2018/2/layout/IconVerticalSolidList"/>
    <dgm:cxn modelId="{13A57B83-2054-44D3-87AA-1E8528D51352}" type="presParOf" srcId="{C6CAAD09-1CB5-4AF4-9A7B-48F09A509CE6}" destId="{42A27493-D0E9-48B0-856E-C19F93617E93}" srcOrd="2" destOrd="0" presId="urn:microsoft.com/office/officeart/2018/2/layout/IconVerticalSolidList"/>
    <dgm:cxn modelId="{62B399E1-CB64-4208-B977-274055EFC652}" type="presParOf" srcId="{C6CAAD09-1CB5-4AF4-9A7B-48F09A509CE6}" destId="{FC7C9CEC-AEEF-4976-A481-2E9EEFBF8347}" srcOrd="3" destOrd="0" presId="urn:microsoft.com/office/officeart/2018/2/layout/IconVerticalSolidList"/>
    <dgm:cxn modelId="{DDEA7CB5-1C89-4818-A6C2-8F892C58830B}" type="presParOf" srcId="{9C733570-5309-4B9F-9E6B-70422932DCC2}" destId="{3E3D3A26-92AD-4C0D-B490-B7968BA366CE}" srcOrd="1" destOrd="0" presId="urn:microsoft.com/office/officeart/2018/2/layout/IconVerticalSolidList"/>
    <dgm:cxn modelId="{10ECB7CB-954E-4214-81E4-FD59249CA88B}" type="presParOf" srcId="{9C733570-5309-4B9F-9E6B-70422932DCC2}" destId="{4F400184-1E06-4591-B859-40B3B8954320}" srcOrd="2" destOrd="0" presId="urn:microsoft.com/office/officeart/2018/2/layout/IconVerticalSolidList"/>
    <dgm:cxn modelId="{8DF08D59-BD2D-4DDE-BB74-B2FB13237B43}" type="presParOf" srcId="{4F400184-1E06-4591-B859-40B3B8954320}" destId="{4E4CEDAD-7F42-4644-AF96-A5B03181C6BD}" srcOrd="0" destOrd="0" presId="urn:microsoft.com/office/officeart/2018/2/layout/IconVerticalSolidList"/>
    <dgm:cxn modelId="{D0C19113-A920-4B38-8CF7-A1EA5195085A}" type="presParOf" srcId="{4F400184-1E06-4591-B859-40B3B8954320}" destId="{C9136BC9-20DE-45D4-9714-AF8931B35631}" srcOrd="1" destOrd="0" presId="urn:microsoft.com/office/officeart/2018/2/layout/IconVerticalSolidList"/>
    <dgm:cxn modelId="{7EB080BB-0C6B-4F7B-BDEE-6514A5231B5C}" type="presParOf" srcId="{4F400184-1E06-4591-B859-40B3B8954320}" destId="{67EC172A-C71B-4C73-BFB8-6BE47F64A5AA}" srcOrd="2" destOrd="0" presId="urn:microsoft.com/office/officeart/2018/2/layout/IconVerticalSolidList"/>
    <dgm:cxn modelId="{F24E752A-42FB-45FC-8208-C742ED8D0B37}" type="presParOf" srcId="{4F400184-1E06-4591-B859-40B3B8954320}" destId="{A7573DD8-E328-4FD3-B132-F1BB622ADD1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71042E-A123-4986-9F87-76B7C6B98E0E}">
      <dsp:nvSpPr>
        <dsp:cNvPr id="0" name=""/>
        <dsp:cNvSpPr/>
      </dsp:nvSpPr>
      <dsp:spPr>
        <a:xfrm>
          <a:off x="0" y="4785"/>
          <a:ext cx="6254831" cy="822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05EFF7-D980-4BC1-83B3-12654F01329D}">
      <dsp:nvSpPr>
        <dsp:cNvPr id="0" name=""/>
        <dsp:cNvSpPr/>
      </dsp:nvSpPr>
      <dsp:spPr>
        <a:xfrm>
          <a:off x="248732" y="189793"/>
          <a:ext cx="452682" cy="4522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564971-402C-4928-86FB-9412F3F8844F}">
      <dsp:nvSpPr>
        <dsp:cNvPr id="0" name=""/>
        <dsp:cNvSpPr/>
      </dsp:nvSpPr>
      <dsp:spPr>
        <a:xfrm>
          <a:off x="950147" y="4785"/>
          <a:ext cx="4662521" cy="976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339" tIns="103339" rIns="103339" bIns="103339" numCol="1" spcCol="1270" anchor="ctr" anchorCtr="0">
          <a:noAutofit/>
        </a:bodyPr>
        <a:lstStyle/>
        <a:p>
          <a:pPr marL="0" lvl="0" indent="0" algn="l" defTabSz="889000">
            <a:lnSpc>
              <a:spcPct val="100000"/>
            </a:lnSpc>
            <a:spcBef>
              <a:spcPct val="0"/>
            </a:spcBef>
            <a:spcAft>
              <a:spcPct val="35000"/>
            </a:spcAft>
            <a:buNone/>
          </a:pPr>
          <a:r>
            <a:rPr lang="es-AR" sz="2000" b="1" i="0" kern="1200" baseline="0" dirty="0"/>
            <a:t>Cantidad de </a:t>
          </a:r>
          <a:r>
            <a:rPr lang="es-AR" sz="2000" b="1" i="0" kern="1200" baseline="0" dirty="0" err="1"/>
            <a:t>Clusters</a:t>
          </a:r>
          <a:endParaRPr lang="en-US" sz="2000" kern="1200" dirty="0"/>
        </a:p>
      </dsp:txBody>
      <dsp:txXfrm>
        <a:off x="950147" y="4785"/>
        <a:ext cx="4662521" cy="976428"/>
      </dsp:txXfrm>
    </dsp:sp>
    <dsp:sp modelId="{6B11FBB7-FDB2-4E8C-A674-3937A196F078}">
      <dsp:nvSpPr>
        <dsp:cNvPr id="0" name=""/>
        <dsp:cNvSpPr/>
      </dsp:nvSpPr>
      <dsp:spPr>
        <a:xfrm>
          <a:off x="0" y="1192334"/>
          <a:ext cx="6254831" cy="822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ACBFB6-5A9A-4D54-9150-2B87E20FA939}">
      <dsp:nvSpPr>
        <dsp:cNvPr id="0" name=""/>
        <dsp:cNvSpPr/>
      </dsp:nvSpPr>
      <dsp:spPr>
        <a:xfrm>
          <a:off x="248732" y="1377341"/>
          <a:ext cx="452682" cy="4522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1EC69-908F-46D2-9A9C-F8AEBF420688}">
      <dsp:nvSpPr>
        <dsp:cNvPr id="0" name=""/>
        <dsp:cNvSpPr/>
      </dsp:nvSpPr>
      <dsp:spPr>
        <a:xfrm>
          <a:off x="950147" y="1192334"/>
          <a:ext cx="4662521" cy="976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339" tIns="103339" rIns="103339" bIns="103339" numCol="1" spcCol="1270" anchor="ctr" anchorCtr="0">
          <a:noAutofit/>
        </a:bodyPr>
        <a:lstStyle/>
        <a:p>
          <a:pPr marL="0" lvl="0" indent="0" algn="l" defTabSz="889000">
            <a:lnSpc>
              <a:spcPct val="100000"/>
            </a:lnSpc>
            <a:spcBef>
              <a:spcPct val="0"/>
            </a:spcBef>
            <a:spcAft>
              <a:spcPct val="35000"/>
            </a:spcAft>
            <a:buNone/>
          </a:pPr>
          <a:r>
            <a:rPr lang="es-MX" sz="2000" b="0" i="0" kern="1200" baseline="0" dirty="0"/>
            <a:t>Luego, se selecciona la cantidad de clústeres adecuada para la respuesta al problema planteado; es decir, se decide en qué paso de la técnica hay que </a:t>
          </a:r>
          <a:r>
            <a:rPr lang="es-AR" sz="2000" b="0" i="0" kern="1200" baseline="0" dirty="0"/>
            <a:t>detenerse.</a:t>
          </a:r>
          <a:endParaRPr lang="en-US" sz="2000" kern="1200" dirty="0"/>
        </a:p>
      </dsp:txBody>
      <dsp:txXfrm>
        <a:off x="950147" y="1192334"/>
        <a:ext cx="4662521" cy="976428"/>
      </dsp:txXfrm>
    </dsp:sp>
    <dsp:sp modelId="{7148F432-9B2A-4032-B1E3-E771DF70A318}">
      <dsp:nvSpPr>
        <dsp:cNvPr id="0" name=""/>
        <dsp:cNvSpPr/>
      </dsp:nvSpPr>
      <dsp:spPr>
        <a:xfrm>
          <a:off x="0" y="2379882"/>
          <a:ext cx="6254831" cy="822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3A9E26-CC38-4CBF-88B8-1044889F7EF2}">
      <dsp:nvSpPr>
        <dsp:cNvPr id="0" name=""/>
        <dsp:cNvSpPr/>
      </dsp:nvSpPr>
      <dsp:spPr>
        <a:xfrm>
          <a:off x="248732" y="2564890"/>
          <a:ext cx="452682" cy="4522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90B45D-A2C7-4B36-9994-1917862EE450}">
      <dsp:nvSpPr>
        <dsp:cNvPr id="0" name=""/>
        <dsp:cNvSpPr/>
      </dsp:nvSpPr>
      <dsp:spPr>
        <a:xfrm>
          <a:off x="950147" y="2379882"/>
          <a:ext cx="4662521" cy="976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339" tIns="103339" rIns="103339" bIns="103339" numCol="1" spcCol="1270" anchor="ctr" anchorCtr="0">
          <a:noAutofit/>
        </a:bodyPr>
        <a:lstStyle/>
        <a:p>
          <a:pPr marL="0" lvl="0" indent="0" algn="l" defTabSz="889000">
            <a:lnSpc>
              <a:spcPct val="100000"/>
            </a:lnSpc>
            <a:spcBef>
              <a:spcPct val="0"/>
            </a:spcBef>
            <a:spcAft>
              <a:spcPct val="35000"/>
            </a:spcAft>
            <a:buNone/>
          </a:pPr>
          <a:r>
            <a:rPr lang="es-MX" sz="2000" b="1" i="0" kern="1200" baseline="0"/>
            <a:t>Interpretación de los resultados.</a:t>
          </a:r>
          <a:endParaRPr lang="en-US" sz="2000" kern="1200"/>
        </a:p>
      </dsp:txBody>
      <dsp:txXfrm>
        <a:off x="950147" y="2379882"/>
        <a:ext cx="4662521" cy="976428"/>
      </dsp:txXfrm>
    </dsp:sp>
    <dsp:sp modelId="{4F3675FC-2E77-4BC9-8F7C-AD7D7B410E3F}">
      <dsp:nvSpPr>
        <dsp:cNvPr id="0" name=""/>
        <dsp:cNvSpPr/>
      </dsp:nvSpPr>
      <dsp:spPr>
        <a:xfrm>
          <a:off x="0" y="3567431"/>
          <a:ext cx="6254831" cy="822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20EE22-CB57-45AC-8D03-922619AB6BC6}">
      <dsp:nvSpPr>
        <dsp:cNvPr id="0" name=""/>
        <dsp:cNvSpPr/>
      </dsp:nvSpPr>
      <dsp:spPr>
        <a:xfrm>
          <a:off x="248732" y="3752438"/>
          <a:ext cx="452682" cy="4522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35B6C2-8DF8-4FAB-9749-69BBAC5722E9}">
      <dsp:nvSpPr>
        <dsp:cNvPr id="0" name=""/>
        <dsp:cNvSpPr/>
      </dsp:nvSpPr>
      <dsp:spPr>
        <a:xfrm>
          <a:off x="950147" y="3567431"/>
          <a:ext cx="4662521" cy="976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339" tIns="103339" rIns="103339" bIns="103339" numCol="1" spcCol="1270" anchor="ctr" anchorCtr="0">
          <a:noAutofit/>
        </a:bodyPr>
        <a:lstStyle/>
        <a:p>
          <a:pPr marL="0" lvl="0" indent="0" algn="l" defTabSz="889000">
            <a:lnSpc>
              <a:spcPct val="100000"/>
            </a:lnSpc>
            <a:spcBef>
              <a:spcPct val="0"/>
            </a:spcBef>
            <a:spcAft>
              <a:spcPct val="35000"/>
            </a:spcAft>
            <a:buNone/>
          </a:pPr>
          <a:r>
            <a:rPr lang="es-MX" sz="2000" b="0" i="0" kern="1200" baseline="0" dirty="0"/>
            <a:t>Una vez determinados los grupos, corresponderá al investigador de cada campo, ya sea psicólogo, sociólogo, economista, biólogo u otro, analizar los grupos y el porqué de su formación para obtener las características</a:t>
          </a:r>
          <a:endParaRPr lang="en-US" sz="2000" kern="1200" dirty="0"/>
        </a:p>
      </dsp:txBody>
      <dsp:txXfrm>
        <a:off x="950147" y="3567431"/>
        <a:ext cx="4662521" cy="976428"/>
      </dsp:txXfrm>
    </dsp:sp>
    <dsp:sp modelId="{5A94D17D-24DE-4C19-94C6-30017AB434C4}">
      <dsp:nvSpPr>
        <dsp:cNvPr id="0" name=""/>
        <dsp:cNvSpPr/>
      </dsp:nvSpPr>
      <dsp:spPr>
        <a:xfrm>
          <a:off x="0" y="4754979"/>
          <a:ext cx="6254831" cy="822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D44D77-2686-49A8-88C0-798135B1D1F1}">
      <dsp:nvSpPr>
        <dsp:cNvPr id="0" name=""/>
        <dsp:cNvSpPr/>
      </dsp:nvSpPr>
      <dsp:spPr>
        <a:xfrm>
          <a:off x="248732" y="4939987"/>
          <a:ext cx="452682" cy="45224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7F04CB-3A1C-495F-A1F9-839EC707D86C}">
      <dsp:nvSpPr>
        <dsp:cNvPr id="0" name=""/>
        <dsp:cNvSpPr/>
      </dsp:nvSpPr>
      <dsp:spPr>
        <a:xfrm>
          <a:off x="950147" y="4754979"/>
          <a:ext cx="4662521" cy="976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339" tIns="103339" rIns="103339" bIns="103339" numCol="1" spcCol="1270" anchor="ctr" anchorCtr="0">
          <a:noAutofit/>
        </a:bodyPr>
        <a:lstStyle/>
        <a:p>
          <a:pPr marL="0" lvl="0" indent="0" algn="l" defTabSz="889000">
            <a:lnSpc>
              <a:spcPct val="100000"/>
            </a:lnSpc>
            <a:spcBef>
              <a:spcPct val="0"/>
            </a:spcBef>
            <a:spcAft>
              <a:spcPct val="35000"/>
            </a:spcAft>
            <a:buNone/>
          </a:pPr>
          <a:r>
            <a:rPr lang="es-MX" sz="2000" b="0" i="0" kern="1200" baseline="0" dirty="0"/>
            <a:t>relevantes de cada uno, así como aquellas en las que se diferencian cada </a:t>
          </a:r>
          <a:r>
            <a:rPr lang="es-AR" sz="2000" b="0" i="0" kern="1200" baseline="0" dirty="0"/>
            <a:t>conglomerado.</a:t>
          </a:r>
          <a:endParaRPr lang="en-US" sz="2000" kern="1200" dirty="0"/>
        </a:p>
      </dsp:txBody>
      <dsp:txXfrm>
        <a:off x="950147" y="4754979"/>
        <a:ext cx="4662521" cy="9764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2846EC-5496-4519-9E0B-8BAC24B5782B}">
      <dsp:nvSpPr>
        <dsp:cNvPr id="0" name=""/>
        <dsp:cNvSpPr/>
      </dsp:nvSpPr>
      <dsp:spPr>
        <a:xfrm>
          <a:off x="0" y="2058"/>
          <a:ext cx="5238044" cy="1247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019408-1280-4001-978C-B193C0E0BA77}">
      <dsp:nvSpPr>
        <dsp:cNvPr id="0" name=""/>
        <dsp:cNvSpPr/>
      </dsp:nvSpPr>
      <dsp:spPr>
        <a:xfrm>
          <a:off x="37736" y="30127"/>
          <a:ext cx="68611" cy="686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7C9CEC-AEEF-4976-A481-2E9EEFBF8347}">
      <dsp:nvSpPr>
        <dsp:cNvPr id="0" name=""/>
        <dsp:cNvSpPr/>
      </dsp:nvSpPr>
      <dsp:spPr>
        <a:xfrm>
          <a:off x="144083" y="2058"/>
          <a:ext cx="4642666" cy="2058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841" tIns="217841" rIns="217841" bIns="217841" numCol="1" spcCol="1270" anchor="ctr" anchorCtr="0">
          <a:noAutofit/>
        </a:bodyPr>
        <a:lstStyle/>
        <a:p>
          <a:pPr marL="0" lvl="0" indent="0" algn="l" defTabSz="1111250">
            <a:lnSpc>
              <a:spcPct val="100000"/>
            </a:lnSpc>
            <a:spcBef>
              <a:spcPct val="0"/>
            </a:spcBef>
            <a:spcAft>
              <a:spcPct val="35000"/>
            </a:spcAft>
            <a:buNone/>
          </a:pPr>
          <a:r>
            <a:rPr lang="es-MX" sz="2500" b="1" i="0" kern="1200"/>
            <a:t>Gap</a:t>
          </a:r>
          <a:br>
            <a:rPr lang="es-MX" sz="2500" b="0" i="0" kern="1200"/>
          </a:br>
          <a:endParaRPr lang="en-US" sz="2500" kern="1200"/>
        </a:p>
      </dsp:txBody>
      <dsp:txXfrm>
        <a:off x="144083" y="2058"/>
        <a:ext cx="4642666" cy="2058342"/>
      </dsp:txXfrm>
    </dsp:sp>
    <dsp:sp modelId="{4E4CEDAD-7F42-4644-AF96-A5B03181C6BD}">
      <dsp:nvSpPr>
        <dsp:cNvPr id="0" name=""/>
        <dsp:cNvSpPr/>
      </dsp:nvSpPr>
      <dsp:spPr>
        <a:xfrm>
          <a:off x="0" y="1114361"/>
          <a:ext cx="5238044" cy="1247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136BC9-20DE-45D4-9714-AF8931B35631}">
      <dsp:nvSpPr>
        <dsp:cNvPr id="0" name=""/>
        <dsp:cNvSpPr/>
      </dsp:nvSpPr>
      <dsp:spPr>
        <a:xfrm>
          <a:off x="37736" y="2184206"/>
          <a:ext cx="68611" cy="686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573DD8-E328-4FD3-B132-F1BB622ADD1A}">
      <dsp:nvSpPr>
        <dsp:cNvPr id="0" name=""/>
        <dsp:cNvSpPr/>
      </dsp:nvSpPr>
      <dsp:spPr>
        <a:xfrm>
          <a:off x="199099" y="1735906"/>
          <a:ext cx="4642666" cy="2058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841" tIns="217841" rIns="217841" bIns="217841" numCol="1" spcCol="1270" anchor="ctr" anchorCtr="0">
          <a:noAutofit/>
        </a:bodyPr>
        <a:lstStyle/>
        <a:p>
          <a:pPr marL="0" lvl="0" indent="0" algn="l" defTabSz="711200">
            <a:lnSpc>
              <a:spcPct val="100000"/>
            </a:lnSpc>
            <a:spcBef>
              <a:spcPct val="0"/>
            </a:spcBef>
            <a:spcAft>
              <a:spcPct val="35000"/>
            </a:spcAft>
            <a:buNone/>
          </a:pPr>
          <a:r>
            <a:rPr lang="es-MX" sz="1600" b="1" i="0" kern="1200" dirty="0"/>
            <a:t>El método de Gap (</a:t>
          </a:r>
          <a:r>
            <a:rPr lang="es-MX" sz="1800" b="1" i="0" kern="1200" dirty="0"/>
            <a:t>brecha</a:t>
          </a:r>
          <a:r>
            <a:rPr lang="es-MX" sz="1600" b="1" i="0" kern="1200" dirty="0"/>
            <a:t>); pretende encontrar la mayor diferencia o distancia que hay entre los diferentes grupos de objetos que vamos formando para representarlos en un dendrograma. Para ello vamos cogiendo las distancias que hay de cada uno de los enlaces que forman el dendrograma y vemos cual es la mayor diferencia que hay entre cada uno de estos enlaces, siendo el punto máximo, el número de Clusters optimo.</a:t>
          </a:r>
          <a:endParaRPr lang="en-US" sz="1600" b="1" kern="1200" dirty="0"/>
        </a:p>
      </dsp:txBody>
      <dsp:txXfrm>
        <a:off x="199099" y="1735906"/>
        <a:ext cx="4642666" cy="20583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88CE9-0AD6-4F2A-991F-C4AC4AA0FF1A}" type="datetimeFigureOut">
              <a:rPr lang="es-AR" smtClean="0"/>
              <a:t>6/2/2026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51B95-AF7B-4A37-B0BE-9CA1FDBBD738}" type="slidenum">
              <a:rPr lang="es-AR" smtClean="0"/>
              <a:t>‹Nº›</a:t>
            </a:fld>
            <a:endParaRPr lang="es-AR"/>
          </a:p>
        </p:txBody>
      </p:sp>
    </p:spTree>
    <p:extLst>
      <p:ext uri="{BB962C8B-B14F-4D97-AF65-F5344CB8AC3E}">
        <p14:creationId xmlns:p14="http://schemas.microsoft.com/office/powerpoint/2010/main" val="1450428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828645-E0A3-A485-B41E-D55F12F6799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E445C28D-4111-49D4-1795-88C102FDE9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AE4E7A3E-F60F-E21A-C3A9-CDD9D69EAE9F}"/>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5" name="Marcador de pie de página 4">
            <a:extLst>
              <a:ext uri="{FF2B5EF4-FFF2-40B4-BE49-F238E27FC236}">
                <a16:creationId xmlns:a16="http://schemas.microsoft.com/office/drawing/2014/main" id="{5F5A5607-EC30-F59A-482C-ECBE0C2E12E3}"/>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C41E3AD-5050-CBBA-DB73-C85CF33D5993}"/>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4025729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62DABF-FDE0-A458-D562-BD769149192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B78429E6-2532-94D3-4311-6CC65C83373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B98FFFAA-5034-AAC0-89F2-708E6FE12A3F}"/>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5" name="Marcador de pie de página 4">
            <a:extLst>
              <a:ext uri="{FF2B5EF4-FFF2-40B4-BE49-F238E27FC236}">
                <a16:creationId xmlns:a16="http://schemas.microsoft.com/office/drawing/2014/main" id="{5724B61E-1A03-BA35-0FCF-996CADF6F79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89A8A843-CABC-FB5B-6FDD-295DBC62975A}"/>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2652698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8ECE7-4137-B228-D75F-C00EB10E3D4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2C13CAAA-C0BB-1C9D-CB86-AD4DD29294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876658C-56AE-5027-3576-D05871CD3F96}"/>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5" name="Marcador de pie de página 4">
            <a:extLst>
              <a:ext uri="{FF2B5EF4-FFF2-40B4-BE49-F238E27FC236}">
                <a16:creationId xmlns:a16="http://schemas.microsoft.com/office/drawing/2014/main" id="{C1924AEA-D339-471B-D343-8FC970A6299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2E1EC26F-1212-733A-F772-9665FF85769C}"/>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2687701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72D0AD-ACCB-C59B-55B1-4672830D62DF}"/>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2B93E126-01E8-0B4B-85F0-DDD5348EB99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7FFC1742-2365-539D-DDDD-A66983A71D5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22F19A68-5449-4B3B-68B5-1654FD10D3AF}"/>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6" name="Marcador de pie de página 5">
            <a:extLst>
              <a:ext uri="{FF2B5EF4-FFF2-40B4-BE49-F238E27FC236}">
                <a16:creationId xmlns:a16="http://schemas.microsoft.com/office/drawing/2014/main" id="{B51FE085-ABA1-4C5B-31E1-0EB6DB50F781}"/>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8C8C3F02-3654-68EC-A124-AD9E290798E5}"/>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3219859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5C99C-BDC7-AEE7-3163-68FE148213A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9450870-8A5E-936B-76A9-6AB4223087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80C5576-9E5B-C579-B062-D99796ED5C9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84DED41C-B9D3-0AB3-7E4A-C3F20A26D4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49A0B6E-D86A-1502-AD73-A1E5B44AD07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CADC9DB7-FA32-D080-6A9D-D2FD1E6B97FC}"/>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8" name="Marcador de pie de página 7">
            <a:extLst>
              <a:ext uri="{FF2B5EF4-FFF2-40B4-BE49-F238E27FC236}">
                <a16:creationId xmlns:a16="http://schemas.microsoft.com/office/drawing/2014/main" id="{2BA88B81-7A92-671A-6E9E-5625ED276DC5}"/>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AA5E6A40-9AA0-5D4E-E61F-C27D408550AD}"/>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685568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8A0D22-5183-60CB-7501-96DDDA1F941A}"/>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2072F164-0376-96CD-263F-3DCA27B43D51}"/>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4" name="Marcador de pie de página 3">
            <a:extLst>
              <a:ext uri="{FF2B5EF4-FFF2-40B4-BE49-F238E27FC236}">
                <a16:creationId xmlns:a16="http://schemas.microsoft.com/office/drawing/2014/main" id="{46788EE8-92AB-F44C-642C-6880C93C7761}"/>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48DBA0B9-8499-4FA0-30E2-03F280AB4E3A}"/>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3109011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E9DEF25-AF54-CF32-932F-4BCB14CA7542}"/>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3" name="Marcador de pie de página 2">
            <a:extLst>
              <a:ext uri="{FF2B5EF4-FFF2-40B4-BE49-F238E27FC236}">
                <a16:creationId xmlns:a16="http://schemas.microsoft.com/office/drawing/2014/main" id="{0367AF38-56D5-AA01-348F-1295D73947F0}"/>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E65F388D-8814-4868-C488-8C9B956E4CE1}"/>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2733916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C79E4C-4932-764D-0D3C-46BFC9B2D65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84966E82-7403-DDDF-99B8-5AE29500D7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1474E781-BB46-EB84-4DE6-42BE115D7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D07DD47-4590-62F5-74F2-2C580E0FE084}"/>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6" name="Marcador de pie de página 5">
            <a:extLst>
              <a:ext uri="{FF2B5EF4-FFF2-40B4-BE49-F238E27FC236}">
                <a16:creationId xmlns:a16="http://schemas.microsoft.com/office/drawing/2014/main" id="{9A9C167C-B105-C813-BBE8-9E0AAC985879}"/>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423E0FF-2630-DF7B-EAD5-2B2063764A63}"/>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1022880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508966-9A65-E451-30D9-D07A519DFE0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7B3E7C0D-E952-9CC0-DCF3-C0C57C201C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83DB424C-F32F-4F31-A682-5135F5466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6F576EC-F89C-EA52-271C-D27EA0805388}"/>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6" name="Marcador de pie de página 5">
            <a:extLst>
              <a:ext uri="{FF2B5EF4-FFF2-40B4-BE49-F238E27FC236}">
                <a16:creationId xmlns:a16="http://schemas.microsoft.com/office/drawing/2014/main" id="{1712EEB3-4937-CB76-B038-50FB0E07EC08}"/>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243EF6E2-0A14-96E9-05CC-95467F010FD7}"/>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1966978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2240A4-45C2-050A-8637-E60536A6EB4E}"/>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4650CC2E-7AB3-B536-716E-9FE23C349CB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03D6393-88C1-3CFD-B36F-897A196894A9}"/>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5" name="Marcador de pie de página 4">
            <a:extLst>
              <a:ext uri="{FF2B5EF4-FFF2-40B4-BE49-F238E27FC236}">
                <a16:creationId xmlns:a16="http://schemas.microsoft.com/office/drawing/2014/main" id="{0F208E90-35D3-FC26-3C37-797470A4BFC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B5C8212F-D3BC-D322-4F98-923183CBC053}"/>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680849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76D9609-78AD-7F05-7B7B-6A02E5CF1E6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6947745-B97B-E3C1-A597-C9E28616391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1C3354E-EFBB-3BE5-50F3-9FCA1FC29EDE}"/>
              </a:ext>
            </a:extLst>
          </p:cNvPr>
          <p:cNvSpPr>
            <a:spLocks noGrp="1"/>
          </p:cNvSpPr>
          <p:nvPr>
            <p:ph type="dt" sz="half" idx="10"/>
          </p:nvPr>
        </p:nvSpPr>
        <p:spPr/>
        <p:txBody>
          <a:bodyPr/>
          <a:lstStyle/>
          <a:p>
            <a:fld id="{714ABE2F-7C66-494C-8918-0A1457910532}" type="datetimeFigureOut">
              <a:rPr lang="es-AR" smtClean="0"/>
              <a:t>6/2/2026</a:t>
            </a:fld>
            <a:endParaRPr lang="es-AR"/>
          </a:p>
        </p:txBody>
      </p:sp>
      <p:sp>
        <p:nvSpPr>
          <p:cNvPr id="5" name="Marcador de pie de página 4">
            <a:extLst>
              <a:ext uri="{FF2B5EF4-FFF2-40B4-BE49-F238E27FC236}">
                <a16:creationId xmlns:a16="http://schemas.microsoft.com/office/drawing/2014/main" id="{92F582C3-6FA2-3234-0169-151CEB345FD8}"/>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AA9D130B-3EC6-F99E-9CFA-C83189F0ECFC}"/>
              </a:ext>
            </a:extLst>
          </p:cNvPr>
          <p:cNvSpPr>
            <a:spLocks noGrp="1"/>
          </p:cNvSpPr>
          <p:nvPr>
            <p:ph type="sldNum" sz="quarter" idx="12"/>
          </p:nvPr>
        </p:nvSpPr>
        <p:spPr/>
        <p:txBody>
          <a:bodyPr/>
          <a:lstStyle/>
          <a:p>
            <a:fld id="{28DC1184-E802-43F4-BAEE-5957D05CE8E3}" type="slidenum">
              <a:rPr lang="es-AR" smtClean="0"/>
              <a:t>‹Nº›</a:t>
            </a:fld>
            <a:endParaRPr lang="es-AR"/>
          </a:p>
        </p:txBody>
      </p:sp>
    </p:spTree>
    <p:extLst>
      <p:ext uri="{BB962C8B-B14F-4D97-AF65-F5344CB8AC3E}">
        <p14:creationId xmlns:p14="http://schemas.microsoft.com/office/powerpoint/2010/main" val="2595832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txBody>
          <a:bodyPr/>
          <a:lstStyle/>
          <a:p>
            <a:endParaRPr lang="es-AR" sz="1500"/>
          </a:p>
        </p:txBody>
      </p:sp>
      <p:sp>
        <p:nvSpPr>
          <p:cNvPr id="3" name="Shape 1"/>
          <p:cNvSpPr/>
          <p:nvPr/>
        </p:nvSpPr>
        <p:spPr>
          <a:xfrm>
            <a:off x="0" y="0"/>
            <a:ext cx="12192000" cy="6858000"/>
          </a:xfrm>
          <a:prstGeom prst="rect">
            <a:avLst/>
          </a:prstGeom>
          <a:solidFill>
            <a:srgbClr val="FFFFFF">
              <a:alpha val="95000"/>
            </a:srgbClr>
          </a:solidFill>
          <a:ln/>
        </p:spPr>
        <p:txBody>
          <a:bodyPr/>
          <a:lstStyle/>
          <a:p>
            <a:endParaRPr lang="es-AR" sz="1500"/>
          </a:p>
        </p:txBody>
      </p:sp>
    </p:spTree>
    <p:extLst>
      <p:ext uri="{BB962C8B-B14F-4D97-AF65-F5344CB8AC3E}">
        <p14:creationId xmlns:p14="http://schemas.microsoft.com/office/powerpoint/2010/main" val="192814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6188DB7-2628-3C93-26CB-031BEF2BB9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54BB2FFF-B63C-AE9C-4826-7F0976DF1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004217CC-F900-734B-498C-D0CDE4A3C4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4ABE2F-7C66-494C-8918-0A1457910532}" type="datetimeFigureOut">
              <a:rPr lang="es-AR" smtClean="0"/>
              <a:t>6/2/2026</a:t>
            </a:fld>
            <a:endParaRPr lang="es-AR"/>
          </a:p>
        </p:txBody>
      </p:sp>
      <p:sp>
        <p:nvSpPr>
          <p:cNvPr id="5" name="Marcador de pie de página 4">
            <a:extLst>
              <a:ext uri="{FF2B5EF4-FFF2-40B4-BE49-F238E27FC236}">
                <a16:creationId xmlns:a16="http://schemas.microsoft.com/office/drawing/2014/main" id="{3781A98F-08D1-1546-51D6-D0549D4B6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AE2FACE8-9DA4-D7BF-BE50-CA4BDB896B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DC1184-E802-43F4-BAEE-5957D05CE8E3}" type="slidenum">
              <a:rPr lang="es-AR" smtClean="0"/>
              <a:t>‹Nº›</a:t>
            </a:fld>
            <a:endParaRPr lang="es-AR"/>
          </a:p>
        </p:txBody>
      </p:sp>
    </p:spTree>
    <p:extLst>
      <p:ext uri="{BB962C8B-B14F-4D97-AF65-F5344CB8AC3E}">
        <p14:creationId xmlns:p14="http://schemas.microsoft.com/office/powerpoint/2010/main" val="15494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NUL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37951" y="859612"/>
            <a:ext cx="3425855" cy="5138781"/>
          </a:xfrm>
          <a:prstGeom prst="rect">
            <a:avLst/>
          </a:prstGeom>
        </p:spPr>
      </p:pic>
      <p:sp>
        <p:nvSpPr>
          <p:cNvPr id="3" name="Text 0"/>
          <p:cNvSpPr/>
          <p:nvPr/>
        </p:nvSpPr>
        <p:spPr>
          <a:xfrm>
            <a:off x="2175674" y="3446729"/>
            <a:ext cx="4846453" cy="963521"/>
          </a:xfrm>
          <a:prstGeom prst="rect">
            <a:avLst/>
          </a:prstGeom>
          <a:noFill/>
          <a:ln/>
        </p:spPr>
        <p:txBody>
          <a:bodyPr wrap="square" lIns="0" tIns="0" rIns="0" bIns="0" rtlCol="0" anchor="t"/>
          <a:lstStyle/>
          <a:p>
            <a:pPr>
              <a:lnSpc>
                <a:spcPts val="3777"/>
              </a:lnSpc>
            </a:pPr>
            <a:r>
              <a:rPr lang="en-US" sz="3028" b="1" dirty="0" err="1">
                <a:solidFill>
                  <a:srgbClr val="333F70"/>
                </a:solidFill>
                <a:latin typeface="Trade Gothic Next HvyCd" panose="020F0502020204030204" pitchFamily="34" charset="0"/>
                <a:ea typeface="Unbounded Bold" pitchFamily="34" charset="-122"/>
                <a:cs typeface="Unbounded Bold" pitchFamily="34" charset="-120"/>
              </a:rPr>
              <a:t>Clasificación</a:t>
            </a:r>
            <a:r>
              <a:rPr lang="en-US" sz="3028" b="1" dirty="0">
                <a:solidFill>
                  <a:srgbClr val="333F70"/>
                </a:solidFill>
                <a:latin typeface="Trade Gothic Next HvyCd" panose="020F0502020204030204" pitchFamily="34" charset="0"/>
                <a:ea typeface="Unbounded Bold" pitchFamily="34" charset="-122"/>
                <a:cs typeface="Unbounded Bold" pitchFamily="34" charset="-120"/>
              </a:rPr>
              <a:t> No </a:t>
            </a:r>
            <a:r>
              <a:rPr lang="en-US" sz="3028" b="1" dirty="0" err="1">
                <a:solidFill>
                  <a:srgbClr val="333F70"/>
                </a:solidFill>
                <a:latin typeface="Trade Gothic Next HvyCd" panose="020F0502020204030204" pitchFamily="34" charset="0"/>
                <a:ea typeface="Unbounded Bold" pitchFamily="34" charset="-122"/>
                <a:cs typeface="Unbounded Bold" pitchFamily="34" charset="-120"/>
              </a:rPr>
              <a:t>Supervisada</a:t>
            </a:r>
            <a:endParaRPr lang="en-US" sz="3028" dirty="0">
              <a:latin typeface="Trade Gothic Next HvyCd" panose="020F0502020204030204" pitchFamily="34" charset="0"/>
            </a:endParaRPr>
          </a:p>
        </p:txBody>
      </p:sp>
      <p:sp>
        <p:nvSpPr>
          <p:cNvPr id="4" name="Text 1"/>
          <p:cNvSpPr/>
          <p:nvPr/>
        </p:nvSpPr>
        <p:spPr>
          <a:xfrm>
            <a:off x="2391495" y="1520182"/>
            <a:ext cx="4846453" cy="1277632"/>
          </a:xfrm>
          <a:prstGeom prst="rect">
            <a:avLst/>
          </a:prstGeom>
          <a:noFill/>
          <a:ln/>
        </p:spPr>
        <p:txBody>
          <a:bodyPr wrap="none" lIns="0" tIns="0" rIns="0" bIns="0" rtlCol="0" anchor="t"/>
          <a:lstStyle/>
          <a:p>
            <a:pPr>
              <a:lnSpc>
                <a:spcPts val="1936"/>
              </a:lnSpc>
            </a:pPr>
            <a:r>
              <a:rPr lang="en-US" sz="3371" b="1" dirty="0">
                <a:solidFill>
                  <a:srgbClr val="333F70"/>
                </a:solidFill>
                <a:latin typeface="Neue Haas Grotesk Text Pro" panose="020B0504020202020204" pitchFamily="34" charset="0"/>
                <a:ea typeface="Unbounded Bold"/>
                <a:cs typeface="Open Sans" pitchFamily="34" charset="-120"/>
              </a:rPr>
              <a:t>Summer</a:t>
            </a:r>
            <a:r>
              <a:rPr lang="en-US" sz="3371" b="1" dirty="0">
                <a:solidFill>
                  <a:srgbClr val="333F70"/>
                </a:solidFill>
                <a:latin typeface="Open Sans" pitchFamily="34" charset="0"/>
                <a:ea typeface="Unbounded Bold"/>
                <a:cs typeface="Open Sans" pitchFamily="34" charset="-120"/>
              </a:rPr>
              <a:t> Scholl UPC</a:t>
            </a:r>
          </a:p>
          <a:p>
            <a:pPr>
              <a:lnSpc>
                <a:spcPts val="1936"/>
              </a:lnSpc>
            </a:pPr>
            <a:endParaRPr lang="en-US" sz="2497" b="1" dirty="0">
              <a:solidFill>
                <a:srgbClr val="333F70"/>
              </a:solidFill>
              <a:latin typeface="Open Sans" pitchFamily="34" charset="0"/>
              <a:ea typeface="Open Sans" pitchFamily="34" charset="-122"/>
              <a:cs typeface="Open Sans" pitchFamily="34" charset="-120"/>
            </a:endParaRPr>
          </a:p>
        </p:txBody>
      </p:sp>
      <p:sp>
        <p:nvSpPr>
          <p:cNvPr id="5" name="Text 2"/>
          <p:cNvSpPr/>
          <p:nvPr/>
        </p:nvSpPr>
        <p:spPr>
          <a:xfrm>
            <a:off x="1716947" y="4286908"/>
            <a:ext cx="4846453" cy="246680"/>
          </a:xfrm>
          <a:prstGeom prst="rect">
            <a:avLst/>
          </a:prstGeom>
          <a:noFill/>
          <a:ln/>
        </p:spPr>
        <p:txBody>
          <a:bodyPr wrap="none" lIns="0" tIns="0" rIns="0" bIns="0" rtlCol="0" anchor="t"/>
          <a:lstStyle/>
          <a:p>
            <a:pPr>
              <a:lnSpc>
                <a:spcPts val="1936"/>
              </a:lnSpc>
            </a:pPr>
            <a:r>
              <a:rPr lang="en-US" sz="1982" b="1" dirty="0" err="1">
                <a:solidFill>
                  <a:srgbClr val="333F70"/>
                </a:solidFill>
                <a:latin typeface="Open Sans" pitchFamily="34" charset="0"/>
                <a:ea typeface="Open Sans" pitchFamily="34" charset="-122"/>
                <a:cs typeface="Open Sans" pitchFamily="34" charset="-120"/>
              </a:rPr>
              <a:t>Febrero</a:t>
            </a:r>
            <a:r>
              <a:rPr lang="en-US" sz="1982" b="1" dirty="0">
                <a:solidFill>
                  <a:srgbClr val="333F70"/>
                </a:solidFill>
                <a:latin typeface="Open Sans" pitchFamily="34" charset="0"/>
                <a:ea typeface="Open Sans" pitchFamily="34" charset="-122"/>
                <a:cs typeface="Open Sans" pitchFamily="34" charset="-120"/>
              </a:rPr>
              <a:t> 2026</a:t>
            </a:r>
          </a:p>
          <a:p>
            <a:pPr>
              <a:lnSpc>
                <a:spcPts val="1936"/>
              </a:lnSpc>
            </a:pPr>
            <a:endParaRPr lang="en-US" sz="1982" b="1" dirty="0">
              <a:solidFill>
                <a:srgbClr val="333F70"/>
              </a:solidFill>
              <a:latin typeface="Open Sans" pitchFamily="34" charset="0"/>
              <a:ea typeface="Open Sans" pitchFamily="34" charset="-122"/>
              <a:cs typeface="Open Sans" pitchFamily="34" charset="-120"/>
            </a:endParaRPr>
          </a:p>
          <a:p>
            <a:pPr>
              <a:lnSpc>
                <a:spcPts val="1936"/>
              </a:lnSpc>
            </a:pPr>
            <a:r>
              <a:rPr lang="en-US" sz="1982" b="1" dirty="0">
                <a:solidFill>
                  <a:srgbClr val="333F70"/>
                </a:solidFill>
                <a:latin typeface="Open Sans" pitchFamily="34" charset="0"/>
                <a:ea typeface="Open Sans" pitchFamily="34" charset="-122"/>
                <a:cs typeface="Open Sans" pitchFamily="34" charset="-120"/>
              </a:rPr>
              <a:t>Prof: Dra Débora Chan </a:t>
            </a:r>
          </a:p>
          <a:p>
            <a:pPr>
              <a:lnSpc>
                <a:spcPts val="1936"/>
              </a:lnSpc>
            </a:pPr>
            <a:endParaRPr lang="en-US" sz="1982" b="1" dirty="0">
              <a:solidFill>
                <a:srgbClr val="333F70"/>
              </a:solidFill>
              <a:latin typeface="Open Sans" pitchFamily="34" charset="0"/>
              <a:ea typeface="Open Sans" pitchFamily="34" charset="-122"/>
              <a:cs typeface="Open Sans" pitchFamily="34" charset="-120"/>
            </a:endParaRPr>
          </a:p>
          <a:p>
            <a:pPr>
              <a:lnSpc>
                <a:spcPts val="1936"/>
              </a:lnSpc>
            </a:pPr>
            <a:r>
              <a:rPr lang="en-US" sz="1982" b="1" dirty="0">
                <a:solidFill>
                  <a:srgbClr val="333F70"/>
                </a:solidFill>
                <a:latin typeface="Open Sans" pitchFamily="34" charset="0"/>
                <a:ea typeface="Open Sans" pitchFamily="34" charset="-122"/>
                <a:cs typeface="Open Sans" pitchFamily="34" charset="-120"/>
              </a:rPr>
              <a:t>debiechan@gmail.com</a:t>
            </a:r>
            <a:endParaRPr lang="en-US" sz="1982" b="1" dirty="0"/>
          </a:p>
        </p:txBody>
      </p:sp>
      <p:pic>
        <p:nvPicPr>
          <p:cNvPr id="7" name="Imagen 6" descr="Logotipo, nombre de la empresa&#10;&#10;El contenido generado por IA puede ser incorrecto.">
            <a:extLst>
              <a:ext uri="{FF2B5EF4-FFF2-40B4-BE49-F238E27FC236}">
                <a16:creationId xmlns:a16="http://schemas.microsoft.com/office/drawing/2014/main" id="{03E3CBB1-D3F2-7EE7-B7E2-6879131335C5}"/>
              </a:ext>
            </a:extLst>
          </p:cNvPr>
          <p:cNvPicPr>
            <a:picLocks noChangeAspect="1"/>
          </p:cNvPicPr>
          <p:nvPr/>
        </p:nvPicPr>
        <p:blipFill>
          <a:blip r:embed="rId4"/>
          <a:stretch>
            <a:fillRect/>
          </a:stretch>
        </p:blipFill>
        <p:spPr>
          <a:xfrm>
            <a:off x="7237954" y="859610"/>
            <a:ext cx="3425853" cy="1370342"/>
          </a:xfrm>
          <a:prstGeom prst="rect">
            <a:avLst/>
          </a:prstGeom>
        </p:spPr>
      </p:pic>
      <p:sp>
        <p:nvSpPr>
          <p:cNvPr id="6" name="CuadroTexto 5">
            <a:extLst>
              <a:ext uri="{FF2B5EF4-FFF2-40B4-BE49-F238E27FC236}">
                <a16:creationId xmlns:a16="http://schemas.microsoft.com/office/drawing/2014/main" id="{60FC2D59-F2C5-3F47-1E51-AB086A5170DF}"/>
              </a:ext>
            </a:extLst>
          </p:cNvPr>
          <p:cNvSpPr txBox="1"/>
          <p:nvPr/>
        </p:nvSpPr>
        <p:spPr>
          <a:xfrm>
            <a:off x="2773961" y="2229951"/>
            <a:ext cx="2372894" cy="558294"/>
          </a:xfrm>
          <a:prstGeom prst="rect">
            <a:avLst/>
          </a:prstGeom>
          <a:noFill/>
        </p:spPr>
        <p:txBody>
          <a:bodyPr wrap="none" rtlCol="0">
            <a:spAutoFit/>
          </a:bodyPr>
          <a:lstStyle/>
          <a:p>
            <a:r>
              <a:rPr lang="es-AR" sz="3028" b="1" dirty="0">
                <a:solidFill>
                  <a:srgbClr val="333F70"/>
                </a:solidFill>
                <a:latin typeface="Trade Gothic Next HvyCd" panose="020F0502020204030204" pitchFamily="34" charset="0"/>
                <a:ea typeface="Unbounded Bold" pitchFamily="34" charset="-122"/>
              </a:rPr>
              <a:t>Clase Teórica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E2B8D91-9525-B200-2B9F-D77EEAE3516A}"/>
              </a:ext>
            </a:extLst>
          </p:cNvPr>
          <p:cNvPicPr>
            <a:picLocks noChangeAspect="1"/>
          </p:cNvPicPr>
          <p:nvPr/>
        </p:nvPicPr>
        <p:blipFill rotWithShape="1">
          <a:blip r:embed="rId2"/>
          <a:srcRect b="9502"/>
          <a:stretch/>
        </p:blipFill>
        <p:spPr>
          <a:xfrm>
            <a:off x="20" y="10"/>
            <a:ext cx="12191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spTree>
    <p:extLst>
      <p:ext uri="{BB962C8B-B14F-4D97-AF65-F5344CB8AC3E}">
        <p14:creationId xmlns:p14="http://schemas.microsoft.com/office/powerpoint/2010/main" val="1217268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7071FC-0E36-DEE5-7882-5F3093A26A8C}"/>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dirty="0">
                <a:solidFill>
                  <a:srgbClr val="FFFFFF"/>
                </a:solidFill>
                <a:latin typeface="+mj-lt"/>
                <a:ea typeface="+mj-ea"/>
                <a:cs typeface="+mj-cs"/>
              </a:rPr>
              <a:t>Ventajas</a:t>
            </a:r>
          </a:p>
        </p:txBody>
      </p:sp>
      <p:pic>
        <p:nvPicPr>
          <p:cNvPr id="5" name="Imagen 4">
            <a:extLst>
              <a:ext uri="{FF2B5EF4-FFF2-40B4-BE49-F238E27FC236}">
                <a16:creationId xmlns:a16="http://schemas.microsoft.com/office/drawing/2014/main" id="{F45A0E6A-5AC5-73BF-0186-8F4C9F89AFAB}"/>
              </a:ext>
            </a:extLst>
          </p:cNvPr>
          <p:cNvPicPr>
            <a:picLocks noChangeAspect="1"/>
          </p:cNvPicPr>
          <p:nvPr/>
        </p:nvPicPr>
        <p:blipFill>
          <a:blip r:embed="rId2"/>
          <a:stretch>
            <a:fillRect/>
          </a:stretch>
        </p:blipFill>
        <p:spPr>
          <a:xfrm>
            <a:off x="365760" y="3315675"/>
            <a:ext cx="11632967" cy="2404641"/>
          </a:xfrm>
          <a:prstGeom prst="rect">
            <a:avLst/>
          </a:prstGeom>
        </p:spPr>
      </p:pic>
    </p:spTree>
    <p:extLst>
      <p:ext uri="{BB962C8B-B14F-4D97-AF65-F5344CB8AC3E}">
        <p14:creationId xmlns:p14="http://schemas.microsoft.com/office/powerpoint/2010/main" val="946257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7071FC-0E36-DEE5-7882-5F3093A26A8C}"/>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dirty="0">
                <a:solidFill>
                  <a:srgbClr val="FFFFFF"/>
                </a:solidFill>
              </a:rPr>
              <a:t>Desv</a:t>
            </a:r>
            <a:r>
              <a:rPr lang="en-US" sz="6600" kern="1200" dirty="0">
                <a:solidFill>
                  <a:srgbClr val="FFFFFF"/>
                </a:solidFill>
                <a:latin typeface="+mj-lt"/>
                <a:ea typeface="+mj-ea"/>
                <a:cs typeface="+mj-cs"/>
              </a:rPr>
              <a:t>entajas</a:t>
            </a:r>
          </a:p>
        </p:txBody>
      </p:sp>
      <p:pic>
        <p:nvPicPr>
          <p:cNvPr id="4" name="Imagen 3">
            <a:extLst>
              <a:ext uri="{FF2B5EF4-FFF2-40B4-BE49-F238E27FC236}">
                <a16:creationId xmlns:a16="http://schemas.microsoft.com/office/drawing/2014/main" id="{AD683A00-9DA9-F732-6214-022CDD7D5969}"/>
              </a:ext>
            </a:extLst>
          </p:cNvPr>
          <p:cNvPicPr>
            <a:picLocks noChangeAspect="1"/>
          </p:cNvPicPr>
          <p:nvPr/>
        </p:nvPicPr>
        <p:blipFill>
          <a:blip r:embed="rId2"/>
          <a:stretch>
            <a:fillRect/>
          </a:stretch>
        </p:blipFill>
        <p:spPr>
          <a:xfrm>
            <a:off x="0" y="3429000"/>
            <a:ext cx="12192000" cy="2234878"/>
          </a:xfrm>
          <a:prstGeom prst="rect">
            <a:avLst/>
          </a:prstGeom>
        </p:spPr>
      </p:pic>
    </p:spTree>
    <p:extLst>
      <p:ext uri="{BB962C8B-B14F-4D97-AF65-F5344CB8AC3E}">
        <p14:creationId xmlns:p14="http://schemas.microsoft.com/office/powerpoint/2010/main" val="1999988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791212B-A175-C129-1A9C-1D211117C51D}"/>
              </a:ext>
            </a:extLst>
          </p:cNvPr>
          <p:cNvSpPr txBox="1"/>
          <p:nvPr/>
        </p:nvSpPr>
        <p:spPr>
          <a:xfrm>
            <a:off x="1029921" y="1136792"/>
            <a:ext cx="3924043" cy="3782449"/>
          </a:xfrm>
          <a:prstGeom prst="ellipse">
            <a:avLst/>
          </a:prstGeom>
        </p:spPr>
        <p:txBody>
          <a:bodyPr vert="horz" lIns="91440" tIns="45720" rIns="91440" bIns="45720" rtlCol="0">
            <a:noAutofit/>
          </a:bodyPr>
          <a:lstStyle/>
          <a:p>
            <a:pPr>
              <a:lnSpc>
                <a:spcPct val="90000"/>
              </a:lnSpc>
              <a:spcBef>
                <a:spcPct val="0"/>
              </a:spcBef>
              <a:spcAft>
                <a:spcPts val="600"/>
              </a:spcAft>
            </a:pPr>
            <a:r>
              <a:rPr lang="en-US" sz="3200" b="1" dirty="0"/>
              <a:t>Las técnicas aplicada para la Clasificación no Supervisada son las de Clustering</a:t>
            </a:r>
          </a:p>
        </p:txBody>
      </p:sp>
      <p:pic>
        <p:nvPicPr>
          <p:cNvPr id="2052" name="Picture 4">
            <a:extLst>
              <a:ext uri="{FF2B5EF4-FFF2-40B4-BE49-F238E27FC236}">
                <a16:creationId xmlns:a16="http://schemas.microsoft.com/office/drawing/2014/main" id="{B6BF6E0B-0E7D-4C9F-1D9C-432FF8860F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14" b="-1"/>
          <a:stretch/>
        </p:blipFill>
        <p:spPr bwMode="auto">
          <a:xfrm>
            <a:off x="5359151" y="895610"/>
            <a:ext cx="6107166" cy="5058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818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2B4642EA-0496-1A62-5444-3F26348ADBDF}"/>
              </a:ext>
            </a:extLst>
          </p:cNvPr>
          <p:cNvSpPr txBox="1"/>
          <p:nvPr/>
        </p:nvSpPr>
        <p:spPr>
          <a:xfrm>
            <a:off x="543706" y="654587"/>
            <a:ext cx="3085803" cy="385974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kern="1200" dirty="0">
                <a:solidFill>
                  <a:srgbClr val="FFFFFF"/>
                </a:solidFill>
                <a:latin typeface="+mj-lt"/>
                <a:ea typeface="+mj-ea"/>
                <a:cs typeface="+mj-cs"/>
              </a:rPr>
              <a:t>Principales  Tipologías  de agrupamiento</a:t>
            </a:r>
          </a:p>
        </p:txBody>
      </p:sp>
      <p:pic>
        <p:nvPicPr>
          <p:cNvPr id="11266" name="Picture 2" descr="Clasificación de métodos jerárquicos y no jerárquicos">
            <a:extLst>
              <a:ext uri="{FF2B5EF4-FFF2-40B4-BE49-F238E27FC236}">
                <a16:creationId xmlns:a16="http://schemas.microsoft.com/office/drawing/2014/main" id="{272E3AD1-5CF8-9D5F-084F-A242B07126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9508" y="845421"/>
            <a:ext cx="8747740" cy="5357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729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uchos signos de interrogación sobre fondo negro">
            <a:extLst>
              <a:ext uri="{FF2B5EF4-FFF2-40B4-BE49-F238E27FC236}">
                <a16:creationId xmlns:a16="http://schemas.microsoft.com/office/drawing/2014/main" id="{DE2445DF-8650-31B7-F4C8-C9DFF7175C5B}"/>
              </a:ext>
            </a:extLst>
          </p:cNvPr>
          <p:cNvPicPr>
            <a:picLocks noChangeAspect="1"/>
          </p:cNvPicPr>
          <p:nvPr/>
        </p:nvPicPr>
        <p:blipFill rotWithShape="1">
          <a:blip r:embed="rId2"/>
          <a:srcRect l="45777" r="2" b="2"/>
          <a:stretch/>
        </p:blipFill>
        <p:spPr>
          <a:xfrm>
            <a:off x="-1" y="-2"/>
            <a:ext cx="6096001" cy="6858002"/>
          </a:xfrm>
          <a:prstGeom prst="rect">
            <a:avLst/>
          </a:prstGeom>
        </p:spPr>
      </p:pic>
      <p:sp>
        <p:nvSpPr>
          <p:cNvPr id="3" name="CuadroTexto 2">
            <a:extLst>
              <a:ext uri="{FF2B5EF4-FFF2-40B4-BE49-F238E27FC236}">
                <a16:creationId xmlns:a16="http://schemas.microsoft.com/office/drawing/2014/main" id="{C5CA84EC-2ED0-8114-C780-1F4735499938}"/>
              </a:ext>
            </a:extLst>
          </p:cNvPr>
          <p:cNvSpPr txBox="1"/>
          <p:nvPr/>
        </p:nvSpPr>
        <p:spPr>
          <a:xfrm>
            <a:off x="6354501" y="682906"/>
            <a:ext cx="5555848" cy="591466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0" i="0" u="none" strike="noStrike" baseline="0" dirty="0"/>
              <a:t>El agrupamiento logrado dependerá de los siguientes factores:</a:t>
            </a:r>
          </a:p>
          <a:p>
            <a:pPr indent="-228600">
              <a:lnSpc>
                <a:spcPct val="90000"/>
              </a:lnSpc>
              <a:spcAft>
                <a:spcPts val="600"/>
              </a:spcAft>
              <a:buFont typeface="Arial" panose="020B0604020202020204" pitchFamily="34" charset="0"/>
              <a:buChar char="•"/>
            </a:pPr>
            <a:endParaRPr lang="en-US" sz="2000" b="0" i="0" u="none" strike="noStrike" baseline="0" dirty="0"/>
          </a:p>
          <a:p>
            <a:pPr>
              <a:lnSpc>
                <a:spcPct val="90000"/>
              </a:lnSpc>
              <a:spcAft>
                <a:spcPts val="600"/>
              </a:spcAft>
            </a:pPr>
            <a:r>
              <a:rPr lang="en-US" sz="2000" b="0" i="0" u="none" strike="noStrike" baseline="0" dirty="0"/>
              <a:t>♣ el algoritmo de agrupamiento o división utilizado</a:t>
            </a:r>
          </a:p>
          <a:p>
            <a:pPr indent="-228600">
              <a:lnSpc>
                <a:spcPct val="90000"/>
              </a:lnSpc>
              <a:spcAft>
                <a:spcPts val="600"/>
              </a:spcAft>
              <a:buFont typeface="Arial" panose="020B0604020202020204" pitchFamily="34" charset="0"/>
              <a:buChar char="•"/>
            </a:pPr>
            <a:endParaRPr lang="en-US" sz="2000" b="0" i="0" u="none" strike="noStrike" baseline="0" dirty="0"/>
          </a:p>
          <a:p>
            <a:pPr>
              <a:lnSpc>
                <a:spcPct val="90000"/>
              </a:lnSpc>
              <a:spcAft>
                <a:spcPts val="600"/>
              </a:spcAft>
            </a:pPr>
            <a:r>
              <a:rPr lang="en-US" sz="2000" b="0" i="0" u="none" strike="noStrike" baseline="0" dirty="0"/>
              <a:t>♣ la distancia entre objetos seleccionada</a:t>
            </a:r>
          </a:p>
          <a:p>
            <a:pPr indent="-228600">
              <a:lnSpc>
                <a:spcPct val="90000"/>
              </a:lnSpc>
              <a:spcAft>
                <a:spcPts val="600"/>
              </a:spcAft>
              <a:buFont typeface="Arial" panose="020B0604020202020204" pitchFamily="34" charset="0"/>
              <a:buChar char="•"/>
            </a:pPr>
            <a:endParaRPr lang="en-US" sz="2000" b="0" i="0" u="none" strike="noStrike" baseline="0" dirty="0"/>
          </a:p>
          <a:p>
            <a:pPr>
              <a:lnSpc>
                <a:spcPct val="90000"/>
              </a:lnSpc>
              <a:spcAft>
                <a:spcPts val="600"/>
              </a:spcAft>
            </a:pPr>
            <a:r>
              <a:rPr lang="en-US" sz="2000" b="0" i="0" u="none" strike="noStrike" baseline="0" dirty="0"/>
              <a:t>♣ la cantidad de grupos deseados (de existir esta información)</a:t>
            </a:r>
          </a:p>
          <a:p>
            <a:pPr indent="-228600">
              <a:lnSpc>
                <a:spcPct val="90000"/>
              </a:lnSpc>
              <a:spcAft>
                <a:spcPts val="600"/>
              </a:spcAft>
              <a:buFont typeface="Arial" panose="020B0604020202020204" pitchFamily="34" charset="0"/>
              <a:buChar char="•"/>
            </a:pPr>
            <a:endParaRPr lang="en-US" sz="2000" b="0" i="0" u="none" strike="noStrike" baseline="0" dirty="0"/>
          </a:p>
          <a:p>
            <a:pPr>
              <a:lnSpc>
                <a:spcPct val="90000"/>
              </a:lnSpc>
              <a:spcAft>
                <a:spcPts val="600"/>
              </a:spcAft>
            </a:pPr>
            <a:r>
              <a:rPr lang="en-US" sz="2000" b="0" i="0" u="none" strike="noStrike" baseline="0" dirty="0"/>
              <a:t>♣ las variables utilizadas para el método y las disponibles en la base</a:t>
            </a:r>
          </a:p>
          <a:p>
            <a:pPr indent="-228600">
              <a:lnSpc>
                <a:spcPct val="90000"/>
              </a:lnSpc>
              <a:spcAft>
                <a:spcPts val="600"/>
              </a:spcAft>
              <a:buFont typeface="Arial" panose="020B0604020202020204" pitchFamily="34" charset="0"/>
              <a:buChar char="•"/>
            </a:pPr>
            <a:endParaRPr lang="en-US" sz="2000" b="0" i="0" u="none" strike="noStrike" baseline="0" dirty="0"/>
          </a:p>
          <a:p>
            <a:pPr>
              <a:lnSpc>
                <a:spcPct val="90000"/>
              </a:lnSpc>
              <a:spcAft>
                <a:spcPts val="600"/>
              </a:spcAft>
            </a:pPr>
            <a:r>
              <a:rPr lang="en-US" sz="2000" b="0" i="0" u="none" strike="noStrike" baseline="0" dirty="0"/>
              <a:t>♣ la condición de estandarización o no de las variables seleccionadas.</a:t>
            </a:r>
            <a:endParaRPr lang="en-US" sz="2000" dirty="0"/>
          </a:p>
        </p:txBody>
      </p:sp>
    </p:spTree>
    <p:extLst>
      <p:ext uri="{BB962C8B-B14F-4D97-AF65-F5344CB8AC3E}">
        <p14:creationId xmlns:p14="http://schemas.microsoft.com/office/powerpoint/2010/main" val="204393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B91B673-789A-C9E0-F65B-BE857755E219}"/>
              </a:ext>
            </a:extLst>
          </p:cNvPr>
          <p:cNvPicPr>
            <a:picLocks noChangeAspect="1"/>
          </p:cNvPicPr>
          <p:nvPr/>
        </p:nvPicPr>
        <p:blipFill>
          <a:blip r:embed="rId2"/>
          <a:stretch>
            <a:fillRect/>
          </a:stretch>
        </p:blipFill>
        <p:spPr>
          <a:xfrm>
            <a:off x="1052231" y="511293"/>
            <a:ext cx="4079282"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uadroTexto 2">
            <a:extLst>
              <a:ext uri="{FF2B5EF4-FFF2-40B4-BE49-F238E27FC236}">
                <a16:creationId xmlns:a16="http://schemas.microsoft.com/office/drawing/2014/main" id="{C6BD1C90-93CA-25F4-A8C1-AB3F6653F330}"/>
              </a:ext>
            </a:extLst>
          </p:cNvPr>
          <p:cNvSpPr txBox="1"/>
          <p:nvPr/>
        </p:nvSpPr>
        <p:spPr>
          <a:xfrm>
            <a:off x="5695802" y="1509880"/>
            <a:ext cx="5589514" cy="4856196"/>
          </a:xfrm>
          <a:prstGeom prst="rect">
            <a:avLst/>
          </a:prstGeom>
        </p:spPr>
        <p:txBody>
          <a:bodyPr vert="horz" lIns="91440" tIns="45720" rIns="91440" bIns="45720" rtlCol="0">
            <a:normAutofit lnSpcReduction="10000"/>
          </a:bodyPr>
          <a:lstStyle/>
          <a:p>
            <a:pPr>
              <a:lnSpc>
                <a:spcPct val="90000"/>
              </a:lnSpc>
              <a:spcAft>
                <a:spcPts val="600"/>
              </a:spcAft>
            </a:pPr>
            <a:r>
              <a:rPr lang="en-US" sz="2400" b="1" i="0" dirty="0">
                <a:effectLst/>
              </a:rPr>
              <a:t>Clustering</a:t>
            </a:r>
            <a:r>
              <a:rPr lang="en-US" sz="2400" b="0" i="0" dirty="0">
                <a:effectLst/>
              </a:rPr>
              <a:t> se refiere a las técnicas para encontrar </a:t>
            </a:r>
            <a:r>
              <a:rPr lang="en-US" sz="2400" b="1" i="0" dirty="0">
                <a:effectLst/>
              </a:rPr>
              <a:t>subgrupos o clusters</a:t>
            </a:r>
            <a:r>
              <a:rPr lang="en-US" sz="2400" b="0" i="0" dirty="0">
                <a:effectLst/>
              </a:rPr>
              <a:t> en conjunto de datos. Cuando se hace un cluster se </a:t>
            </a:r>
            <a:r>
              <a:rPr lang="es-AR" sz="2400" b="0" i="0" dirty="0">
                <a:effectLst/>
              </a:rPr>
              <a:t>buscan</a:t>
            </a:r>
            <a:r>
              <a:rPr lang="en-US" sz="2400" b="0" i="0" dirty="0">
                <a:effectLst/>
              </a:rPr>
              <a:t> </a:t>
            </a:r>
            <a:r>
              <a:rPr lang="es-AR" sz="2400" b="0" i="0" dirty="0">
                <a:effectLst/>
              </a:rPr>
              <a:t>particiones</a:t>
            </a:r>
            <a:r>
              <a:rPr lang="en-US" sz="2400" b="0" i="0" dirty="0">
                <a:effectLst/>
              </a:rPr>
              <a:t> en las que las </a:t>
            </a:r>
            <a:r>
              <a:rPr lang="es-AR" sz="2400" b="0" i="0" dirty="0">
                <a:effectLst/>
              </a:rPr>
              <a:t>observaciones</a:t>
            </a:r>
            <a:r>
              <a:rPr lang="en-US" sz="2400" b="0" i="0" dirty="0">
                <a:effectLst/>
              </a:rPr>
              <a:t> sean similares entre sí.</a:t>
            </a:r>
          </a:p>
          <a:p>
            <a:pPr>
              <a:lnSpc>
                <a:spcPct val="90000"/>
              </a:lnSpc>
              <a:spcAft>
                <a:spcPts val="600"/>
              </a:spcAft>
            </a:pPr>
            <a:endParaRPr lang="en-US" sz="2400" b="0" i="0" dirty="0">
              <a:effectLst/>
            </a:endParaRPr>
          </a:p>
          <a:p>
            <a:pPr>
              <a:lnSpc>
                <a:spcPct val="90000"/>
              </a:lnSpc>
              <a:spcAft>
                <a:spcPts val="600"/>
              </a:spcAft>
            </a:pPr>
            <a:r>
              <a:rPr lang="en-US" sz="2400" b="0" i="0" dirty="0">
                <a:effectLst/>
              </a:rPr>
              <a:t>El clustering busca encontrar subgrupos homogéneos en las observaciones.</a:t>
            </a:r>
          </a:p>
          <a:p>
            <a:pPr>
              <a:lnSpc>
                <a:spcPct val="90000"/>
              </a:lnSpc>
              <a:spcAft>
                <a:spcPts val="600"/>
              </a:spcAft>
            </a:pPr>
            <a:endParaRPr lang="en-US" sz="2400" b="0" i="0" dirty="0">
              <a:effectLst/>
            </a:endParaRPr>
          </a:p>
          <a:p>
            <a:pPr>
              <a:lnSpc>
                <a:spcPct val="90000"/>
              </a:lnSpc>
              <a:spcAft>
                <a:spcPts val="600"/>
              </a:spcAft>
            </a:pPr>
            <a:r>
              <a:rPr lang="en-US" sz="2400" b="0" i="0" dirty="0">
                <a:effectLst/>
              </a:rPr>
              <a:t>Para realizar las agrupaciones utilizamos las </a:t>
            </a:r>
            <a:r>
              <a:rPr lang="en-US" sz="2400" b="1" i="0" dirty="0">
                <a:effectLst/>
              </a:rPr>
              <a:t>distancias</a:t>
            </a:r>
            <a:r>
              <a:rPr lang="en-US" sz="2400" b="0" i="0" dirty="0">
                <a:effectLst/>
              </a:rPr>
              <a:t> o </a:t>
            </a:r>
            <a:r>
              <a:rPr lang="en-US" sz="2400" b="1" i="0" dirty="0">
                <a:effectLst/>
              </a:rPr>
              <a:t>similitudes</a:t>
            </a:r>
            <a:r>
              <a:rPr lang="en-US" sz="2400" b="0" i="0" dirty="0">
                <a:effectLst/>
              </a:rPr>
              <a:t> entre los vectores de atributos 𝑥 asociados a distintos registros.</a:t>
            </a:r>
          </a:p>
        </p:txBody>
      </p:sp>
    </p:spTree>
    <p:extLst>
      <p:ext uri="{BB962C8B-B14F-4D97-AF65-F5344CB8AC3E}">
        <p14:creationId xmlns:p14="http://schemas.microsoft.com/office/powerpoint/2010/main" val="1899875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órmulas escritas en una pizarra">
            <a:extLst>
              <a:ext uri="{FF2B5EF4-FFF2-40B4-BE49-F238E27FC236}">
                <a16:creationId xmlns:a16="http://schemas.microsoft.com/office/drawing/2014/main" id="{2B657CC6-8A7C-3D6A-C6D2-F938AF2F23BF}"/>
              </a:ext>
            </a:extLst>
          </p:cNvPr>
          <p:cNvPicPr>
            <a:picLocks noChangeAspect="1"/>
          </p:cNvPicPr>
          <p:nvPr/>
        </p:nvPicPr>
        <p:blipFill rotWithShape="1">
          <a:blip r:embed="rId2"/>
          <a:srcRect r="3182" b="-1"/>
          <a:stretch/>
        </p:blipFill>
        <p:spPr>
          <a:xfrm>
            <a:off x="20" y="10"/>
            <a:ext cx="8356902" cy="6857990"/>
          </a:xfrm>
          <a:prstGeom prst="rect">
            <a:avLst/>
          </a:prstGeom>
        </p:spPr>
      </p:pic>
      <p:sp>
        <p:nvSpPr>
          <p:cNvPr id="4" name="CuadroTexto 3">
            <a:extLst>
              <a:ext uri="{FF2B5EF4-FFF2-40B4-BE49-F238E27FC236}">
                <a16:creationId xmlns:a16="http://schemas.microsoft.com/office/drawing/2014/main" id="{1998FE0F-5E2E-7907-2CC1-753EC9B87A07}"/>
              </a:ext>
            </a:extLst>
          </p:cNvPr>
          <p:cNvSpPr txBox="1"/>
          <p:nvPr/>
        </p:nvSpPr>
        <p:spPr>
          <a:xfrm>
            <a:off x="8356922" y="256632"/>
            <a:ext cx="3633746" cy="89895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dirty="0">
                <a:latin typeface="+mj-lt"/>
                <a:ea typeface="+mj-ea"/>
                <a:cs typeface="+mj-cs"/>
              </a:rPr>
              <a:t>Distancias</a:t>
            </a:r>
          </a:p>
        </p:txBody>
      </p:sp>
      <p:sp>
        <p:nvSpPr>
          <p:cNvPr id="3" name="CuadroTexto 2">
            <a:extLst>
              <a:ext uri="{FF2B5EF4-FFF2-40B4-BE49-F238E27FC236}">
                <a16:creationId xmlns:a16="http://schemas.microsoft.com/office/drawing/2014/main" id="{B313245C-0D84-A5EB-6CFD-DB6828AECCA8}"/>
              </a:ext>
            </a:extLst>
          </p:cNvPr>
          <p:cNvSpPr txBox="1"/>
          <p:nvPr/>
        </p:nvSpPr>
        <p:spPr>
          <a:xfrm>
            <a:off x="7570819" y="1412204"/>
            <a:ext cx="5205951" cy="4010587"/>
          </a:xfrm>
          <a:prstGeom prst="rect">
            <a:avLst/>
          </a:prstGeom>
        </p:spPr>
        <p:txBody>
          <a:bodyPr vert="horz" lIns="91440" tIns="45720" rIns="91440" bIns="45720" rtlCol="0">
            <a:normAutofit/>
          </a:bodyPr>
          <a:lstStyle/>
          <a:p>
            <a:pPr>
              <a:lnSpc>
                <a:spcPct val="90000"/>
              </a:lnSpc>
              <a:spcAft>
                <a:spcPts val="600"/>
              </a:spcAft>
            </a:pPr>
            <a:r>
              <a:rPr lang="en-US" sz="1900" b="0" i="0" u="none" strike="noStrike" baseline="0" dirty="0"/>
              <a:t>Dado un conjunto X, se define una distancia o métrica como una función que aplicada a un par de elementos de X da un valor numérico no negativo</a:t>
            </a:r>
            <a:r>
              <a:rPr lang="en-US" sz="1900" dirty="0"/>
              <a:t> </a:t>
            </a:r>
            <a:r>
              <a:rPr lang="en-US" sz="1900" b="0" i="0" u="none" strike="noStrike" baseline="0" dirty="0"/>
              <a:t> d : X × X → R tal que:</a:t>
            </a:r>
          </a:p>
          <a:p>
            <a:pPr indent="-228600">
              <a:lnSpc>
                <a:spcPct val="90000"/>
              </a:lnSpc>
              <a:spcAft>
                <a:spcPts val="600"/>
              </a:spcAft>
              <a:buFont typeface="Arial" panose="020B0604020202020204" pitchFamily="34" charset="0"/>
              <a:buChar char="•"/>
            </a:pPr>
            <a:endParaRPr lang="en-US" sz="1900" b="0" i="0" u="none" strike="noStrike" baseline="0" dirty="0"/>
          </a:p>
          <a:p>
            <a:pPr>
              <a:lnSpc>
                <a:spcPct val="90000"/>
              </a:lnSpc>
              <a:spcAft>
                <a:spcPts val="600"/>
              </a:spcAft>
            </a:pPr>
            <a:r>
              <a:rPr lang="en-US" sz="1900" b="0" i="0" u="none" strike="noStrike" baseline="0" dirty="0"/>
              <a:t>♠ no negatividad: d(x, y) ≥ 0</a:t>
            </a:r>
          </a:p>
          <a:p>
            <a:pPr indent="-228600">
              <a:lnSpc>
                <a:spcPct val="90000"/>
              </a:lnSpc>
              <a:spcAft>
                <a:spcPts val="600"/>
              </a:spcAft>
              <a:buFont typeface="Arial" panose="020B0604020202020204" pitchFamily="34" charset="0"/>
              <a:buChar char="•"/>
            </a:pPr>
            <a:endParaRPr lang="en-US" sz="1900" b="0" i="0" u="none" strike="noStrike" baseline="0" dirty="0"/>
          </a:p>
          <a:p>
            <a:pPr>
              <a:lnSpc>
                <a:spcPct val="90000"/>
              </a:lnSpc>
              <a:spcAft>
                <a:spcPts val="600"/>
              </a:spcAft>
            </a:pPr>
            <a:r>
              <a:rPr lang="en-US" sz="1900" b="0" i="0" u="none" strike="noStrike" baseline="0" dirty="0"/>
              <a:t>♠ simetría: d(x, y) = d(y, x)</a:t>
            </a:r>
          </a:p>
          <a:p>
            <a:pPr indent="-228600">
              <a:lnSpc>
                <a:spcPct val="90000"/>
              </a:lnSpc>
              <a:spcAft>
                <a:spcPts val="600"/>
              </a:spcAft>
              <a:buFont typeface="Arial" panose="020B0604020202020204" pitchFamily="34" charset="0"/>
              <a:buChar char="•"/>
            </a:pPr>
            <a:endParaRPr lang="en-US" sz="1900" b="0" i="0" u="none" strike="noStrike" baseline="0" dirty="0"/>
          </a:p>
          <a:p>
            <a:pPr>
              <a:lnSpc>
                <a:spcPct val="90000"/>
              </a:lnSpc>
              <a:spcAft>
                <a:spcPts val="600"/>
              </a:spcAft>
            </a:pPr>
            <a:r>
              <a:rPr lang="en-US" sz="1900" b="0" i="0" u="none" strike="noStrike" baseline="0" dirty="0"/>
              <a:t>♠ desigualdad triangular: d(x, z) ≤ d(x, y) + d(y, z).</a:t>
            </a:r>
          </a:p>
          <a:p>
            <a:pPr indent="-228600">
              <a:lnSpc>
                <a:spcPct val="90000"/>
              </a:lnSpc>
              <a:spcAft>
                <a:spcPts val="60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3923630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2AC0E7C-816A-F008-4A8B-B0436C6F1DC2}"/>
              </a:ext>
            </a:extLst>
          </p:cNvPr>
          <p:cNvPicPr>
            <a:picLocks noChangeAspect="1"/>
          </p:cNvPicPr>
          <p:nvPr/>
        </p:nvPicPr>
        <p:blipFill rotWithShape="1">
          <a:blip r:embed="rId2"/>
          <a:srcRect l="1932" r="-1" b="-1"/>
          <a:stretch/>
        </p:blipFill>
        <p:spPr>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4" name="CuadroTexto 3">
            <a:extLst>
              <a:ext uri="{FF2B5EF4-FFF2-40B4-BE49-F238E27FC236}">
                <a16:creationId xmlns:a16="http://schemas.microsoft.com/office/drawing/2014/main" id="{8104C924-49F1-5066-3375-24BD303ACA45}"/>
              </a:ext>
            </a:extLst>
          </p:cNvPr>
          <p:cNvSpPr txBox="1"/>
          <p:nvPr/>
        </p:nvSpPr>
        <p:spPr>
          <a:xfrm>
            <a:off x="661916" y="2852381"/>
            <a:ext cx="3161940" cy="264024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dirty="0">
                <a:solidFill>
                  <a:schemeClr val="tx1">
                    <a:lumMod val="85000"/>
                    <a:lumOff val="15000"/>
                  </a:schemeClr>
                </a:solidFill>
                <a:latin typeface="+mj-lt"/>
                <a:ea typeface="+mj-ea"/>
                <a:cs typeface="+mj-cs"/>
              </a:rPr>
              <a:t>Algunos ejemplos de distancia: La distancia de Minkowksy</a:t>
            </a:r>
          </a:p>
        </p:txBody>
      </p:sp>
    </p:spTree>
    <p:extLst>
      <p:ext uri="{BB962C8B-B14F-4D97-AF65-F5344CB8AC3E}">
        <p14:creationId xmlns:p14="http://schemas.microsoft.com/office/powerpoint/2010/main" val="1852351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689D3F8-9DD8-C96D-AFCD-D690FD37EEC1}"/>
              </a:ext>
            </a:extLst>
          </p:cNvPr>
          <p:cNvPicPr>
            <a:picLocks noChangeAspect="1"/>
          </p:cNvPicPr>
          <p:nvPr/>
        </p:nvPicPr>
        <p:blipFill>
          <a:blip r:embed="rId2"/>
          <a:stretch>
            <a:fillRect/>
          </a:stretch>
        </p:blipFill>
        <p:spPr>
          <a:xfrm>
            <a:off x="1341119" y="457200"/>
            <a:ext cx="9509761" cy="5943600"/>
          </a:xfrm>
          <a:prstGeom prst="rect">
            <a:avLst/>
          </a:prstGeom>
        </p:spPr>
      </p:pic>
    </p:spTree>
    <p:extLst>
      <p:ext uri="{BB962C8B-B14F-4D97-AF65-F5344CB8AC3E}">
        <p14:creationId xmlns:p14="http://schemas.microsoft.com/office/powerpoint/2010/main" val="1650829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AA02E55-B97C-11CA-442F-24BD15E2C8F7}"/>
              </a:ext>
            </a:extLst>
          </p:cNvPr>
          <p:cNvSpPr txBox="1"/>
          <p:nvPr/>
        </p:nvSpPr>
        <p:spPr>
          <a:xfrm>
            <a:off x="5894962" y="479493"/>
            <a:ext cx="5458838"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b="1" kern="1200" dirty="0">
                <a:solidFill>
                  <a:schemeClr val="tx1"/>
                </a:solidFill>
                <a:latin typeface="+mj-lt"/>
                <a:ea typeface="+mj-ea"/>
                <a:cs typeface="+mj-cs"/>
              </a:rPr>
              <a:t>¿Cómo saber si la clusterización es buena?</a:t>
            </a:r>
          </a:p>
        </p:txBody>
      </p:sp>
      <p:pic>
        <p:nvPicPr>
          <p:cNvPr id="3074" name="Picture 2" descr="Juez imágenes de stock de arte vectorial | Depositphotos">
            <a:extLst>
              <a:ext uri="{FF2B5EF4-FFF2-40B4-BE49-F238E27FC236}">
                <a16:creationId xmlns:a16="http://schemas.microsoft.com/office/drawing/2014/main" id="{A4E80552-CD3B-698B-FA13-C4FB112975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314" r="7533" b="1"/>
          <a:stretch/>
        </p:blipFill>
        <p:spPr bwMode="auto">
          <a:xfrm>
            <a:off x="703182" y="955451"/>
            <a:ext cx="4777381" cy="477735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1CEF8CF0-DE6A-68A2-8376-F0BBCC740481}"/>
              </a:ext>
            </a:extLst>
          </p:cNvPr>
          <p:cNvSpPr txBox="1"/>
          <p:nvPr/>
        </p:nvSpPr>
        <p:spPr>
          <a:xfrm>
            <a:off x="5894962" y="1984443"/>
            <a:ext cx="5458838" cy="41925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b="0" i="0" u="none" strike="noStrike" baseline="0" dirty="0"/>
              <a:t>Algunos criterios son:</a:t>
            </a:r>
          </a:p>
          <a:p>
            <a:pPr indent="-228600">
              <a:lnSpc>
                <a:spcPct val="90000"/>
              </a:lnSpc>
              <a:spcAft>
                <a:spcPts val="600"/>
              </a:spcAft>
              <a:buFont typeface="Arial" panose="020B0604020202020204" pitchFamily="34" charset="0"/>
              <a:buChar char="•"/>
            </a:pPr>
            <a:endParaRPr lang="en-US" b="0" i="0" u="none" strike="noStrike" baseline="0" dirty="0"/>
          </a:p>
          <a:p>
            <a:pPr indent="-228600">
              <a:lnSpc>
                <a:spcPct val="90000"/>
              </a:lnSpc>
              <a:spcAft>
                <a:spcPts val="600"/>
              </a:spcAft>
              <a:buFont typeface="Arial" panose="020B0604020202020204" pitchFamily="34" charset="0"/>
              <a:buChar char="•"/>
            </a:pPr>
            <a:r>
              <a:rPr lang="en-US" b="0" i="0" u="none" strike="noStrike" baseline="0" dirty="0"/>
              <a:t>♠ Criterios externos: comparan la clusterización con una segmentaci</a:t>
            </a:r>
            <a:r>
              <a:rPr lang="en-US" dirty="0"/>
              <a:t>ó</a:t>
            </a:r>
            <a:r>
              <a:rPr lang="en-US" b="0" i="0" u="none" strike="noStrike" baseline="0" dirty="0"/>
              <a:t>n previa de referencia.</a:t>
            </a:r>
          </a:p>
          <a:p>
            <a:pPr indent="-228600">
              <a:lnSpc>
                <a:spcPct val="90000"/>
              </a:lnSpc>
              <a:spcAft>
                <a:spcPts val="600"/>
              </a:spcAft>
              <a:buFont typeface="Arial" panose="020B0604020202020204" pitchFamily="34" charset="0"/>
              <a:buChar char="•"/>
            </a:pPr>
            <a:endParaRPr lang="en-US" b="0" i="0" u="none" strike="noStrike" baseline="0" dirty="0"/>
          </a:p>
          <a:p>
            <a:pPr indent="-228600">
              <a:lnSpc>
                <a:spcPct val="90000"/>
              </a:lnSpc>
              <a:spcAft>
                <a:spcPts val="600"/>
              </a:spcAft>
              <a:buFont typeface="Arial" panose="020B0604020202020204" pitchFamily="34" charset="0"/>
              <a:buChar char="•"/>
            </a:pPr>
            <a:r>
              <a:rPr lang="en-US" b="0" i="0" u="none" strike="noStrike" baseline="0" dirty="0"/>
              <a:t>♠ Criterios internos: analizan la significatividad de los clusters sólo considerando los datos usados en la clusterización.</a:t>
            </a:r>
          </a:p>
          <a:p>
            <a:pPr indent="-228600">
              <a:lnSpc>
                <a:spcPct val="90000"/>
              </a:lnSpc>
              <a:spcAft>
                <a:spcPts val="600"/>
              </a:spcAft>
              <a:buFont typeface="Arial" panose="020B0604020202020204" pitchFamily="34" charset="0"/>
              <a:buChar char="•"/>
            </a:pPr>
            <a:endParaRPr lang="en-US" b="0" i="0" u="none" strike="noStrike" baseline="0" dirty="0"/>
          </a:p>
          <a:p>
            <a:pPr indent="-228600">
              <a:lnSpc>
                <a:spcPct val="90000"/>
              </a:lnSpc>
              <a:spcAft>
                <a:spcPts val="600"/>
              </a:spcAft>
              <a:buFont typeface="Arial" panose="020B0604020202020204" pitchFamily="34" charset="0"/>
              <a:buChar char="•"/>
            </a:pPr>
            <a:r>
              <a:rPr lang="en-US" b="0" i="0" u="none" strike="noStrike" baseline="0" dirty="0"/>
              <a:t>♠ Criterios relativos: comparan la clusterización con otras resultantes de segmentaciones alternativas</a:t>
            </a:r>
            <a:endParaRPr lang="en-US" dirty="0"/>
          </a:p>
        </p:txBody>
      </p:sp>
    </p:spTree>
    <p:extLst>
      <p:ext uri="{BB962C8B-B14F-4D97-AF65-F5344CB8AC3E}">
        <p14:creationId xmlns:p14="http://schemas.microsoft.com/office/powerpoint/2010/main" val="4042430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A3A13BB5-B611-F743-4487-F9DFF2B403B7}"/>
              </a:ext>
            </a:extLst>
          </p:cNvPr>
          <p:cNvSpPr txBox="1"/>
          <p:nvPr/>
        </p:nvSpPr>
        <p:spPr>
          <a:xfrm>
            <a:off x="6287912" y="349851"/>
            <a:ext cx="5709721" cy="3446609"/>
          </a:xfrm>
          <a:prstGeom prst="rect">
            <a:avLst/>
          </a:prstGeom>
        </p:spPr>
        <p:txBody>
          <a:bodyPr vert="horz" lIns="91440" tIns="45720" rIns="91440" bIns="45720" rtlCol="0" anchor="t">
            <a:normAutofit fontScale="92500"/>
          </a:bodyPr>
          <a:lstStyle/>
          <a:p>
            <a:pPr indent="-228600">
              <a:lnSpc>
                <a:spcPct val="90000"/>
              </a:lnSpc>
              <a:spcAft>
                <a:spcPts val="600"/>
              </a:spcAft>
              <a:buFont typeface="Arial" panose="020B0604020202020204" pitchFamily="34" charset="0"/>
              <a:buChar char="•"/>
            </a:pPr>
            <a:r>
              <a:rPr lang="en-US" sz="2400" b="1" dirty="0">
                <a:solidFill>
                  <a:schemeClr val="tx2"/>
                </a:solidFill>
              </a:rPr>
              <a:t>Ventajas</a:t>
            </a:r>
          </a:p>
          <a:p>
            <a:pPr marL="285750" indent="-228600">
              <a:lnSpc>
                <a:spcPct val="90000"/>
              </a:lnSpc>
              <a:spcAft>
                <a:spcPts val="600"/>
              </a:spcAft>
              <a:buFont typeface="Arial" panose="020B0604020202020204" pitchFamily="34" charset="0"/>
              <a:buChar char="•"/>
            </a:pPr>
            <a:endParaRPr lang="en-US" sz="2400" b="0" i="0" u="none" strike="noStrike" baseline="0" dirty="0">
              <a:solidFill>
                <a:schemeClr val="tx2"/>
              </a:solidFill>
            </a:endParaRPr>
          </a:p>
          <a:p>
            <a:pPr marL="285750" indent="-228600">
              <a:lnSpc>
                <a:spcPct val="90000"/>
              </a:lnSpc>
              <a:spcAft>
                <a:spcPts val="600"/>
              </a:spcAft>
              <a:buFont typeface="Arial" panose="020B0604020202020204" pitchFamily="34" charset="0"/>
              <a:buChar char="•"/>
            </a:pPr>
            <a:r>
              <a:rPr lang="en-US" sz="2400" b="0" i="0" u="none" strike="noStrike" baseline="0" dirty="0">
                <a:solidFill>
                  <a:schemeClr val="tx2"/>
                </a:solidFill>
              </a:rPr>
              <a:t> Establecen una jerarquía entre los clústeres.</a:t>
            </a:r>
          </a:p>
          <a:p>
            <a:pPr marL="285750" indent="-228600">
              <a:lnSpc>
                <a:spcPct val="90000"/>
              </a:lnSpc>
              <a:spcAft>
                <a:spcPts val="600"/>
              </a:spcAft>
              <a:buFont typeface="Arial" panose="020B0604020202020204" pitchFamily="34" charset="0"/>
              <a:buChar char="•"/>
            </a:pPr>
            <a:endParaRPr lang="en-US" sz="2400" b="0" i="0" u="none" strike="noStrike" baseline="0" dirty="0">
              <a:solidFill>
                <a:schemeClr val="tx2"/>
              </a:solidFill>
            </a:endParaRPr>
          </a:p>
          <a:p>
            <a:pPr marL="285750" indent="-228600">
              <a:lnSpc>
                <a:spcPct val="90000"/>
              </a:lnSpc>
              <a:spcAft>
                <a:spcPts val="600"/>
              </a:spcAft>
              <a:buFont typeface="Arial" panose="020B0604020202020204" pitchFamily="34" charset="0"/>
              <a:buChar char="•"/>
            </a:pPr>
            <a:r>
              <a:rPr lang="en-US" sz="2400" b="0" i="0" u="none" strike="noStrike" baseline="0" dirty="0">
                <a:solidFill>
                  <a:schemeClr val="tx2"/>
                </a:solidFill>
              </a:rPr>
              <a:t> Posibilitan visualizar el proceso mediante un gráfico denominadoDendrograma</a:t>
            </a:r>
          </a:p>
          <a:p>
            <a:pPr marL="285750" indent="-228600">
              <a:lnSpc>
                <a:spcPct val="90000"/>
              </a:lnSpc>
              <a:spcAft>
                <a:spcPts val="600"/>
              </a:spcAft>
              <a:buFont typeface="Arial" panose="020B0604020202020204" pitchFamily="34" charset="0"/>
              <a:buChar char="•"/>
            </a:pPr>
            <a:endParaRPr lang="en-US" sz="2400" b="0" i="0" u="none" strike="noStrike" baseline="0" dirty="0">
              <a:solidFill>
                <a:schemeClr val="tx2"/>
              </a:solidFill>
            </a:endParaRPr>
          </a:p>
          <a:p>
            <a:pPr marL="285750" indent="-228600">
              <a:lnSpc>
                <a:spcPct val="90000"/>
              </a:lnSpc>
              <a:spcAft>
                <a:spcPts val="600"/>
              </a:spcAft>
              <a:buFont typeface="Arial" panose="020B0604020202020204" pitchFamily="34" charset="0"/>
              <a:buChar char="•"/>
            </a:pPr>
            <a:r>
              <a:rPr lang="en-US" sz="2400" b="0" i="0" u="none" strike="noStrike" baseline="0" dirty="0">
                <a:solidFill>
                  <a:schemeClr val="tx2"/>
                </a:solidFill>
              </a:rPr>
              <a:t>Sugieren el número de clústeres</a:t>
            </a:r>
          </a:p>
          <a:p>
            <a:pPr marL="285750" indent="-228600">
              <a:lnSpc>
                <a:spcPct val="90000"/>
              </a:lnSpc>
              <a:spcAft>
                <a:spcPts val="600"/>
              </a:spcAft>
              <a:buFont typeface="Arial" panose="020B0604020202020204" pitchFamily="34" charset="0"/>
              <a:buChar char="•"/>
            </a:pPr>
            <a:endParaRPr lang="en-US" sz="2400" dirty="0">
              <a:solidFill>
                <a:schemeClr val="tx2"/>
              </a:solidFill>
            </a:endParaRPr>
          </a:p>
        </p:txBody>
      </p:sp>
      <p:sp>
        <p:nvSpPr>
          <p:cNvPr id="11" name="CuadroTexto 10">
            <a:extLst>
              <a:ext uri="{FF2B5EF4-FFF2-40B4-BE49-F238E27FC236}">
                <a16:creationId xmlns:a16="http://schemas.microsoft.com/office/drawing/2014/main" id="{173FFC3D-1D87-916D-AF0D-EA151419903E}"/>
              </a:ext>
            </a:extLst>
          </p:cNvPr>
          <p:cNvSpPr txBox="1"/>
          <p:nvPr/>
        </p:nvSpPr>
        <p:spPr>
          <a:xfrm>
            <a:off x="451556" y="1085116"/>
            <a:ext cx="5384800" cy="5355312"/>
          </a:xfrm>
          <a:prstGeom prst="rect">
            <a:avLst/>
          </a:prstGeom>
          <a:noFill/>
        </p:spPr>
        <p:txBody>
          <a:bodyPr wrap="square">
            <a:spAutoFit/>
          </a:bodyPr>
          <a:lstStyle/>
          <a:p>
            <a:pPr algn="just">
              <a:spcAft>
                <a:spcPts val="600"/>
              </a:spcAft>
            </a:pPr>
            <a:r>
              <a:rPr lang="es-MX" sz="2400" b="1" i="0" u="none" strike="noStrike" baseline="0" dirty="0">
                <a:latin typeface="CMSS10"/>
              </a:rPr>
              <a:t>Algoritmos </a:t>
            </a:r>
            <a:r>
              <a:rPr lang="es-MX" sz="2400" b="1" dirty="0">
                <a:latin typeface="CMSS10"/>
              </a:rPr>
              <a:t>J</a:t>
            </a:r>
            <a:r>
              <a:rPr lang="es-MX" sz="2400" b="1" i="0" u="none" strike="noStrike" baseline="0" dirty="0">
                <a:latin typeface="CMSS10"/>
              </a:rPr>
              <a:t>erárquicos </a:t>
            </a:r>
            <a:endParaRPr lang="es-AR" sz="2400" b="1" dirty="0"/>
          </a:p>
          <a:p>
            <a:pPr algn="just">
              <a:spcAft>
                <a:spcPts val="600"/>
              </a:spcAft>
            </a:pPr>
            <a:endParaRPr lang="es-MX" sz="2400" b="0" i="0" u="none" strike="noStrike" baseline="0" dirty="0">
              <a:latin typeface="CMSS10"/>
            </a:endParaRPr>
          </a:p>
          <a:p>
            <a:pPr algn="just">
              <a:spcAft>
                <a:spcPts val="600"/>
              </a:spcAft>
            </a:pPr>
            <a:r>
              <a:rPr lang="es-MX" sz="2400" b="0" i="0" u="none" strike="noStrike" baseline="0" dirty="0">
                <a:latin typeface="CMSS10"/>
              </a:rPr>
              <a:t>Los algoritmos jerárquicos generan particiones anidadas y jerarquizadas</a:t>
            </a:r>
          </a:p>
          <a:p>
            <a:pPr algn="just">
              <a:spcAft>
                <a:spcPts val="600"/>
              </a:spcAft>
            </a:pPr>
            <a:r>
              <a:rPr lang="es-AR" sz="2400" b="0" i="0" u="none" strike="noStrike" baseline="0" dirty="0">
                <a:latin typeface="CMSS10"/>
              </a:rPr>
              <a:t>consecutivamente más (o menos) finas para que luego los objetos sean</a:t>
            </a:r>
          </a:p>
          <a:p>
            <a:pPr algn="just">
              <a:spcAft>
                <a:spcPts val="600"/>
              </a:spcAft>
            </a:pPr>
            <a:r>
              <a:rPr lang="es-MX" sz="2400" b="0" i="0" u="none" strike="noStrike" baseline="0" dirty="0">
                <a:latin typeface="CMSS10"/>
              </a:rPr>
              <a:t>unidos (o separados) en grupos paso por paso. En este tipo de métodos, la</a:t>
            </a:r>
          </a:p>
          <a:p>
            <a:pPr algn="just">
              <a:spcAft>
                <a:spcPts val="600"/>
              </a:spcAft>
            </a:pPr>
            <a:r>
              <a:rPr lang="es-MX" sz="2400" b="0" i="0" u="none" strike="noStrike" baseline="0" dirty="0">
                <a:latin typeface="CMSS10"/>
              </a:rPr>
              <a:t>clasificación resultante tiene un número creciente o decreciente de clases anidadas mientras que en los no jerárquicos las clases no necesariamente</a:t>
            </a:r>
          </a:p>
          <a:p>
            <a:pPr algn="just">
              <a:spcAft>
                <a:spcPts val="600"/>
              </a:spcAft>
            </a:pPr>
            <a:r>
              <a:rPr lang="es-AR" sz="2400" b="0" i="0" u="none" strike="noStrike" baseline="0" dirty="0">
                <a:latin typeface="CMSS10"/>
              </a:rPr>
              <a:t>están anidadas</a:t>
            </a:r>
            <a:endParaRPr lang="es-AR" sz="2400" dirty="0"/>
          </a:p>
        </p:txBody>
      </p:sp>
      <p:pic>
        <p:nvPicPr>
          <p:cNvPr id="4100" name="Picture 4" descr="Clustering Jerárquico con Python | JacobSoft">
            <a:extLst>
              <a:ext uri="{FF2B5EF4-FFF2-40B4-BE49-F238E27FC236}">
                <a16:creationId xmlns:a16="http://schemas.microsoft.com/office/drawing/2014/main" id="{E3D2FC75-7F35-8AC1-D0BB-A87959666E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1171" y="4141118"/>
            <a:ext cx="2628900"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007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35F3331-42B4-2AB4-DB73-9AEB866714B0}"/>
              </a:ext>
            </a:extLst>
          </p:cNvPr>
          <p:cNvPicPr>
            <a:picLocks noChangeAspect="1"/>
          </p:cNvPicPr>
          <p:nvPr/>
        </p:nvPicPr>
        <p:blipFill rotWithShape="1">
          <a:blip r:embed="rId2"/>
          <a:srcRect r="4156" b="1"/>
          <a:stretch/>
        </p:blipFill>
        <p:spPr>
          <a:xfrm>
            <a:off x="4705762" y="1343767"/>
            <a:ext cx="6543200" cy="4073185"/>
          </a:xfrm>
          <a:prstGeom prst="rect">
            <a:avLst/>
          </a:prstGeom>
        </p:spPr>
      </p:pic>
      <p:sp>
        <p:nvSpPr>
          <p:cNvPr id="6" name="CuadroTexto 5">
            <a:extLst>
              <a:ext uri="{FF2B5EF4-FFF2-40B4-BE49-F238E27FC236}">
                <a16:creationId xmlns:a16="http://schemas.microsoft.com/office/drawing/2014/main" id="{349F2D7D-2772-C3A9-3259-676956AAD277}"/>
              </a:ext>
            </a:extLst>
          </p:cNvPr>
          <p:cNvSpPr txBox="1"/>
          <p:nvPr/>
        </p:nvSpPr>
        <p:spPr>
          <a:xfrm>
            <a:off x="790417" y="1561436"/>
            <a:ext cx="3905982" cy="2605450"/>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4400" b="1" dirty="0">
                <a:solidFill>
                  <a:schemeClr val="bg1"/>
                </a:solidFill>
              </a:rPr>
              <a:t>¿Qué se visualiza en el dendrograma?</a:t>
            </a:r>
          </a:p>
        </p:txBody>
      </p:sp>
    </p:spTree>
    <p:extLst>
      <p:ext uri="{BB962C8B-B14F-4D97-AF65-F5344CB8AC3E}">
        <p14:creationId xmlns:p14="http://schemas.microsoft.com/office/powerpoint/2010/main" val="924485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upa resalta un rendimiento económico decreciente">
            <a:extLst>
              <a:ext uri="{FF2B5EF4-FFF2-40B4-BE49-F238E27FC236}">
                <a16:creationId xmlns:a16="http://schemas.microsoft.com/office/drawing/2014/main" id="{99544D91-D2E4-098B-C68D-53A2EF2F99A5}"/>
              </a:ext>
            </a:extLst>
          </p:cNvPr>
          <p:cNvPicPr>
            <a:picLocks noChangeAspect="1"/>
          </p:cNvPicPr>
          <p:nvPr/>
        </p:nvPicPr>
        <p:blipFill rotWithShape="1">
          <a:blip r:embed="rId2"/>
          <a:srcRect r="28068" b="-1"/>
          <a:stretch/>
        </p:blipFill>
        <p:spPr>
          <a:xfrm>
            <a:off x="20" y="10"/>
            <a:ext cx="7390243" cy="6857990"/>
          </a:xfrm>
          <a:prstGeom prst="rect">
            <a:avLst/>
          </a:prstGeom>
        </p:spPr>
      </p:pic>
      <p:sp>
        <p:nvSpPr>
          <p:cNvPr id="3" name="CuadroTexto 2">
            <a:extLst>
              <a:ext uri="{FF2B5EF4-FFF2-40B4-BE49-F238E27FC236}">
                <a16:creationId xmlns:a16="http://schemas.microsoft.com/office/drawing/2014/main" id="{FCFAC61D-1FB9-2C1C-C67A-3B6463FA5B23}"/>
              </a:ext>
            </a:extLst>
          </p:cNvPr>
          <p:cNvSpPr txBox="1"/>
          <p:nvPr/>
        </p:nvSpPr>
        <p:spPr>
          <a:xfrm>
            <a:off x="7708739" y="787078"/>
            <a:ext cx="4282633" cy="557899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b="1" dirty="0"/>
              <a:t>PASO 1: </a:t>
            </a:r>
            <a:r>
              <a:rPr lang="en-US" b="1" i="0" u="none" strike="noStrike" baseline="0" dirty="0"/>
              <a:t>Decidir qué datos tomar para cada uno de los casos.</a:t>
            </a:r>
          </a:p>
          <a:p>
            <a:pPr indent="-228600">
              <a:lnSpc>
                <a:spcPct val="90000"/>
              </a:lnSpc>
              <a:spcAft>
                <a:spcPts val="600"/>
              </a:spcAft>
              <a:buFont typeface="Arial" panose="020B0604020202020204" pitchFamily="34" charset="0"/>
              <a:buChar char="•"/>
            </a:pPr>
            <a:endParaRPr lang="en-US" b="0" i="0" u="none" strike="noStrike" baseline="0" dirty="0"/>
          </a:p>
          <a:p>
            <a:pPr marL="285750" indent="-228600">
              <a:lnSpc>
                <a:spcPct val="90000"/>
              </a:lnSpc>
              <a:spcAft>
                <a:spcPts val="600"/>
              </a:spcAft>
              <a:buClr>
                <a:schemeClr val="accent1"/>
              </a:buClr>
              <a:buFont typeface="Arial" panose="020B0604020202020204" pitchFamily="34" charset="0"/>
              <a:buChar char="•"/>
            </a:pPr>
            <a:r>
              <a:rPr lang="en-US" b="0" i="0" u="none" strike="noStrike" baseline="0" dirty="0"/>
              <a:t>Decidir el tipo de variables con las cuales (continuas o discretas?).</a:t>
            </a:r>
          </a:p>
          <a:p>
            <a:pPr marL="285750" indent="-228600">
              <a:lnSpc>
                <a:spcPct val="90000"/>
              </a:lnSpc>
              <a:spcAft>
                <a:spcPts val="600"/>
              </a:spcAft>
              <a:buClr>
                <a:schemeClr val="accent1"/>
              </a:buClr>
              <a:buFont typeface="Arial" panose="020B0604020202020204" pitchFamily="34" charset="0"/>
              <a:buChar char="•"/>
            </a:pPr>
            <a:endParaRPr lang="en-US" dirty="0"/>
          </a:p>
          <a:p>
            <a:pPr marL="285750" indent="-228600">
              <a:lnSpc>
                <a:spcPct val="90000"/>
              </a:lnSpc>
              <a:spcAft>
                <a:spcPts val="600"/>
              </a:spcAft>
              <a:buClr>
                <a:schemeClr val="accent1"/>
              </a:buClr>
              <a:buFont typeface="Arial" panose="020B0604020202020204" pitchFamily="34" charset="0"/>
              <a:buChar char="•"/>
            </a:pPr>
            <a:r>
              <a:rPr lang="en-US" b="0" i="0" u="none" strike="noStrike" baseline="0" dirty="0"/>
              <a:t>Considearar el objetivo de la investigación para decidir.</a:t>
            </a:r>
          </a:p>
          <a:p>
            <a:pPr marL="285750" indent="-228600">
              <a:lnSpc>
                <a:spcPct val="90000"/>
              </a:lnSpc>
              <a:spcAft>
                <a:spcPts val="600"/>
              </a:spcAft>
              <a:buClr>
                <a:schemeClr val="accent1"/>
              </a:buClr>
              <a:buFont typeface="Arial" panose="020B0604020202020204" pitchFamily="34" charset="0"/>
              <a:buChar char="•"/>
            </a:pPr>
            <a:endParaRPr lang="en-US" b="0" i="0" u="none" strike="noStrike" baseline="0" dirty="0"/>
          </a:p>
          <a:p>
            <a:pPr marL="285750" indent="-228600">
              <a:lnSpc>
                <a:spcPct val="90000"/>
              </a:lnSpc>
              <a:spcAft>
                <a:spcPts val="600"/>
              </a:spcAft>
              <a:buClr>
                <a:schemeClr val="accent1"/>
              </a:buClr>
              <a:buFont typeface="Arial" panose="020B0604020202020204" pitchFamily="34" charset="0"/>
              <a:buChar char="•"/>
            </a:pPr>
            <a:r>
              <a:rPr lang="en-US" b="0" i="0" u="none" strike="noStrike" baseline="0" dirty="0"/>
              <a:t>Si las variables están registradas en diferentes escalas y/o</a:t>
            </a:r>
          </a:p>
          <a:p>
            <a:pPr indent="-228600">
              <a:lnSpc>
                <a:spcPct val="90000"/>
              </a:lnSpc>
              <a:spcAft>
                <a:spcPts val="600"/>
              </a:spcAft>
              <a:buFont typeface="Arial" panose="020B0604020202020204" pitchFamily="34" charset="0"/>
              <a:buChar char="•"/>
            </a:pPr>
            <a:r>
              <a:rPr lang="en-US" b="0" i="0" u="none" strike="noStrike" baseline="0" dirty="0"/>
              <a:t>unidades de medición, se suele estandarizarlas para evitar la </a:t>
            </a:r>
          </a:p>
          <a:p>
            <a:pPr indent="-228600">
              <a:lnSpc>
                <a:spcPct val="90000"/>
              </a:lnSpc>
              <a:spcAft>
                <a:spcPts val="600"/>
              </a:spcAft>
              <a:buFont typeface="Arial" panose="020B0604020202020204" pitchFamily="34" charset="0"/>
              <a:buChar char="•"/>
            </a:pPr>
            <a:r>
              <a:rPr lang="en-US" b="0" i="0" u="none" strike="noStrike" baseline="0" dirty="0"/>
              <a:t>influencia de las unidades de medición en la clasificación.</a:t>
            </a:r>
            <a:endParaRPr lang="en-US" dirty="0"/>
          </a:p>
        </p:txBody>
      </p:sp>
    </p:spTree>
    <p:extLst>
      <p:ext uri="{BB962C8B-B14F-4D97-AF65-F5344CB8AC3E}">
        <p14:creationId xmlns:p14="http://schemas.microsoft.com/office/powerpoint/2010/main" val="3369627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7D3F530-7AE2-25DF-B83D-739D36761600}"/>
              </a:ext>
            </a:extLst>
          </p:cNvPr>
          <p:cNvSpPr txBox="1"/>
          <p:nvPr/>
        </p:nvSpPr>
        <p:spPr>
          <a:xfrm>
            <a:off x="812799" y="1111872"/>
            <a:ext cx="6434667" cy="4216539"/>
          </a:xfrm>
          <a:prstGeom prst="rect">
            <a:avLst/>
          </a:prstGeom>
          <a:noFill/>
        </p:spPr>
        <p:txBody>
          <a:bodyPr wrap="square">
            <a:spAutoFit/>
          </a:bodyPr>
          <a:lstStyle/>
          <a:p>
            <a:pPr algn="l"/>
            <a:r>
              <a:rPr lang="es-AR" sz="3600" b="1" i="0" u="none" strike="noStrike" baseline="0" dirty="0">
                <a:latin typeface="CMSS10"/>
              </a:rPr>
              <a:t>Paso 2: </a:t>
            </a:r>
            <a:r>
              <a:rPr lang="es-MX" sz="3600" b="1" i="0" u="none" strike="noStrike" baseline="0" dirty="0">
                <a:solidFill>
                  <a:srgbClr val="000000"/>
                </a:solidFill>
                <a:latin typeface="CMSS10"/>
              </a:rPr>
              <a:t>Elegir una medida de distancia entre los objetos </a:t>
            </a:r>
            <a:endParaRPr lang="es-AR" sz="3600" b="1" i="0" u="none" strike="noStrike" baseline="0" dirty="0">
              <a:latin typeface="CMSS10"/>
            </a:endParaRPr>
          </a:p>
          <a:p>
            <a:pPr algn="l"/>
            <a:endParaRPr lang="es-MX" sz="2800" b="0" i="0" u="none" strike="noStrike" baseline="0" dirty="0">
              <a:solidFill>
                <a:srgbClr val="000000"/>
              </a:solidFill>
              <a:latin typeface="CMSS10"/>
            </a:endParaRPr>
          </a:p>
          <a:p>
            <a:pPr algn="l"/>
            <a:r>
              <a:rPr lang="es-MX" sz="2800" b="0" i="0" u="none" strike="noStrike" baseline="0" dirty="0">
                <a:solidFill>
                  <a:srgbClr val="000000"/>
                </a:solidFill>
                <a:latin typeface="CMSS10"/>
              </a:rPr>
              <a:t> Hemos visto que existen diferentes tipos de distancias y</a:t>
            </a:r>
          </a:p>
          <a:p>
            <a:pPr algn="l"/>
            <a:r>
              <a:rPr lang="es-MX" sz="2800" b="0" i="0" u="none" strike="noStrike" baseline="0" dirty="0">
                <a:solidFill>
                  <a:srgbClr val="000000"/>
                </a:solidFill>
                <a:latin typeface="CMSS10"/>
              </a:rPr>
              <a:t>medidas de similaridad disponibles, por lo que la selección de una adecuada dependerá de las circunstancias y del caso de estudio.</a:t>
            </a:r>
            <a:endParaRPr lang="es-AR" sz="2800" dirty="0"/>
          </a:p>
        </p:txBody>
      </p:sp>
      <p:pic>
        <p:nvPicPr>
          <p:cNvPr id="4" name="Picture 2" descr="Por qué resiste el empleo si cae el PBI?">
            <a:extLst>
              <a:ext uri="{FF2B5EF4-FFF2-40B4-BE49-F238E27FC236}">
                <a16:creationId xmlns:a16="http://schemas.microsoft.com/office/drawing/2014/main" id="{D73E335A-D489-54C9-93B0-5B4BC1F912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361" r="23093" b="-1"/>
          <a:stretch/>
        </p:blipFill>
        <p:spPr bwMode="auto">
          <a:xfrm>
            <a:off x="7247466" y="588538"/>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noFill/>
          <a:ln w="28575">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76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E25E26E-8DF4-3B52-A93F-1283E56E1358}"/>
              </a:ext>
            </a:extLst>
          </p:cNvPr>
          <p:cNvSpPr txBox="1"/>
          <p:nvPr/>
        </p:nvSpPr>
        <p:spPr>
          <a:xfrm>
            <a:off x="767644" y="1495694"/>
            <a:ext cx="6096000" cy="4647426"/>
          </a:xfrm>
          <a:prstGeom prst="rect">
            <a:avLst/>
          </a:prstGeom>
          <a:noFill/>
        </p:spPr>
        <p:txBody>
          <a:bodyPr wrap="square">
            <a:spAutoFit/>
          </a:bodyPr>
          <a:lstStyle/>
          <a:p>
            <a:pPr algn="l"/>
            <a:r>
              <a:rPr lang="es-AR" sz="3200" b="1" i="0" u="none" strike="noStrike" baseline="0" dirty="0">
                <a:latin typeface="CMSS10"/>
              </a:rPr>
              <a:t>Paso 3:</a:t>
            </a:r>
            <a:r>
              <a:rPr lang="es-MX" sz="3200" b="1" i="0" u="none" strike="noStrike" baseline="0" dirty="0">
                <a:solidFill>
                  <a:srgbClr val="000000"/>
                </a:solidFill>
                <a:latin typeface="CMSS10"/>
              </a:rPr>
              <a:t>Buscar los </a:t>
            </a:r>
            <a:r>
              <a:rPr lang="es-MX" sz="3200" b="1" i="0" u="none" strike="noStrike" baseline="0" dirty="0">
                <a:solidFill>
                  <a:srgbClr val="000000"/>
                </a:solidFill>
                <a:latin typeface="CMSSI10"/>
              </a:rPr>
              <a:t>clusters </a:t>
            </a:r>
            <a:r>
              <a:rPr lang="es-MX" sz="3200" b="1" i="0" u="none" strike="noStrike" baseline="0" dirty="0">
                <a:solidFill>
                  <a:srgbClr val="000000"/>
                </a:solidFill>
                <a:latin typeface="CMSS10"/>
              </a:rPr>
              <a:t>que resultan ser los más similares.</a:t>
            </a:r>
          </a:p>
          <a:p>
            <a:pPr algn="l"/>
            <a:endParaRPr lang="es-MX" sz="3600" b="1" i="0" u="none" strike="noStrike" baseline="0" dirty="0">
              <a:solidFill>
                <a:srgbClr val="000000"/>
              </a:solidFill>
              <a:latin typeface="CMSS10"/>
            </a:endParaRPr>
          </a:p>
          <a:p>
            <a:pPr algn="l"/>
            <a:r>
              <a:rPr lang="es-MX" sz="2800" b="0" i="0" u="none" strike="noStrike" baseline="0" dirty="0">
                <a:solidFill>
                  <a:srgbClr val="000000"/>
                </a:solidFill>
                <a:latin typeface="CMSS10"/>
              </a:rPr>
              <a:t> En este paso se utiliza la minimización de la distancia seleccionada y el método de </a:t>
            </a:r>
            <a:r>
              <a:rPr lang="es-AR" sz="2800" b="0" i="0" u="none" strike="noStrike" baseline="0" dirty="0">
                <a:solidFill>
                  <a:srgbClr val="000000"/>
                </a:solidFill>
                <a:latin typeface="CMSS10"/>
              </a:rPr>
              <a:t>distancia al </a:t>
            </a:r>
            <a:r>
              <a:rPr lang="es-AR" sz="2800" b="0" i="0" u="none" strike="noStrike" baseline="0" dirty="0">
                <a:solidFill>
                  <a:srgbClr val="000000"/>
                </a:solidFill>
                <a:latin typeface="CMSSI10"/>
              </a:rPr>
              <a:t>clúster </a:t>
            </a:r>
            <a:r>
              <a:rPr lang="es-AR" sz="2800" b="0" i="0" u="none" strike="noStrike" baseline="0" dirty="0">
                <a:solidFill>
                  <a:srgbClr val="000000"/>
                </a:solidFill>
                <a:latin typeface="CMSS10"/>
              </a:rPr>
              <a:t>elegido. </a:t>
            </a:r>
          </a:p>
          <a:p>
            <a:pPr algn="l"/>
            <a:endParaRPr lang="es-AR" sz="2800" dirty="0">
              <a:solidFill>
                <a:srgbClr val="000000"/>
              </a:solidFill>
              <a:latin typeface="CMSS10"/>
            </a:endParaRPr>
          </a:p>
          <a:p>
            <a:pPr algn="l"/>
            <a:r>
              <a:rPr lang="es-AR" sz="2800" b="0" i="0" u="none" strike="noStrike" baseline="0" dirty="0">
                <a:solidFill>
                  <a:srgbClr val="000000"/>
                </a:solidFill>
                <a:latin typeface="CMSS10"/>
              </a:rPr>
              <a:t>Cabe observar que, una vez unidos dos</a:t>
            </a:r>
          </a:p>
          <a:p>
            <a:pPr algn="l"/>
            <a:r>
              <a:rPr lang="es-MX" sz="2800" b="0" i="0" u="none" strike="noStrike" baseline="0" dirty="0">
                <a:solidFill>
                  <a:srgbClr val="000000"/>
                </a:solidFill>
                <a:latin typeface="CMSS10"/>
              </a:rPr>
              <a:t>objetos, los mismos no se separarán durante el resto del proceso.</a:t>
            </a:r>
            <a:endParaRPr lang="es-AR" sz="2800" dirty="0"/>
          </a:p>
        </p:txBody>
      </p:sp>
      <p:pic>
        <p:nvPicPr>
          <p:cNvPr id="4" name="Picture 4" descr="Tecnologías de la información en las empresas: ¿cómo impacta el negocio? -  Ikusi">
            <a:extLst>
              <a:ext uri="{FF2B5EF4-FFF2-40B4-BE49-F238E27FC236}">
                <a16:creationId xmlns:a16="http://schemas.microsoft.com/office/drawing/2014/main" id="{3BD7173B-EBB6-5E7D-F8DE-5942759635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282" r="14173"/>
          <a:stretch/>
        </p:blipFill>
        <p:spPr bwMode="auto">
          <a:xfrm>
            <a:off x="6744172" y="403680"/>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33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lechas apuntando hacia la luz">
            <a:extLst>
              <a:ext uri="{FF2B5EF4-FFF2-40B4-BE49-F238E27FC236}">
                <a16:creationId xmlns:a16="http://schemas.microsoft.com/office/drawing/2014/main" id="{5159F5B5-4EB0-107E-FED0-D35EAD77F44C}"/>
              </a:ext>
            </a:extLst>
          </p:cNvPr>
          <p:cNvPicPr>
            <a:picLocks noChangeAspect="1"/>
          </p:cNvPicPr>
          <p:nvPr/>
        </p:nvPicPr>
        <p:blipFill rotWithShape="1">
          <a:blip r:embed="rId2"/>
          <a:srcRect l="469" r="40196" b="-2"/>
          <a:stretch/>
        </p:blipFill>
        <p:spPr>
          <a:xfrm>
            <a:off x="-1" y="-2"/>
            <a:ext cx="6096001" cy="6858002"/>
          </a:xfrm>
          <a:prstGeom prst="rect">
            <a:avLst/>
          </a:prstGeom>
        </p:spPr>
      </p:pic>
      <p:sp>
        <p:nvSpPr>
          <p:cNvPr id="3" name="CuadroTexto 2">
            <a:extLst>
              <a:ext uri="{FF2B5EF4-FFF2-40B4-BE49-F238E27FC236}">
                <a16:creationId xmlns:a16="http://schemas.microsoft.com/office/drawing/2014/main" id="{6375D192-6005-CC6C-FC8F-D43F0F538A00}"/>
              </a:ext>
            </a:extLst>
          </p:cNvPr>
          <p:cNvSpPr txBox="1"/>
          <p:nvPr/>
        </p:nvSpPr>
        <p:spPr>
          <a:xfrm>
            <a:off x="6400800" y="474563"/>
            <a:ext cx="4559121" cy="576551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b="1" i="0" u="none" strike="noStrike" baseline="0" dirty="0"/>
              <a:t>Paso 4: Juntar estos dos clústeres en uno nuevo. </a:t>
            </a:r>
          </a:p>
          <a:p>
            <a:pPr>
              <a:lnSpc>
                <a:spcPct val="90000"/>
              </a:lnSpc>
              <a:spcAft>
                <a:spcPts val="600"/>
              </a:spcAft>
            </a:pPr>
            <a:r>
              <a:rPr lang="en-US" b="0" i="0" u="none" strike="noStrike" baseline="0" dirty="0"/>
              <a:t>El nuevo clúster </a:t>
            </a:r>
            <a:r>
              <a:rPr lang="es-AR" b="0" i="0" u="none" strike="noStrike" baseline="0" dirty="0"/>
              <a:t>tendrá</a:t>
            </a:r>
            <a:r>
              <a:rPr lang="en-US" b="0" i="0" u="none" strike="noStrike" baseline="0" dirty="0"/>
              <a:t> a estos dos objetos. De esta manera, el número de clústeres decrece en una unidad.</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b="0" i="0" u="none" strike="noStrike" baseline="0" dirty="0"/>
          </a:p>
          <a:p>
            <a:pPr indent="-228600">
              <a:lnSpc>
                <a:spcPct val="90000"/>
              </a:lnSpc>
              <a:spcAft>
                <a:spcPts val="600"/>
              </a:spcAft>
              <a:buFont typeface="Arial" panose="020B0604020202020204" pitchFamily="34" charset="0"/>
              <a:buChar char="•"/>
            </a:pPr>
            <a:r>
              <a:rPr lang="en-US" b="1" i="0" u="none" strike="noStrike" baseline="0" dirty="0"/>
              <a:t>Paso 5: Seleccionar la técnica de clusterizacion </a:t>
            </a:r>
          </a:p>
          <a:p>
            <a:pPr>
              <a:lnSpc>
                <a:spcPct val="90000"/>
              </a:lnSpc>
              <a:spcAft>
                <a:spcPts val="600"/>
              </a:spcAft>
            </a:pPr>
            <a:r>
              <a:rPr lang="en-US" b="0" i="0" u="none" strike="noStrike" baseline="0" dirty="0"/>
              <a:t>y calcular la distancia entre este</a:t>
            </a:r>
          </a:p>
          <a:p>
            <a:pPr>
              <a:lnSpc>
                <a:spcPct val="90000"/>
              </a:lnSpc>
              <a:spcAft>
                <a:spcPts val="600"/>
              </a:spcAft>
            </a:pPr>
            <a:r>
              <a:rPr lang="en-US" b="0" i="0" u="none" strike="noStrike" baseline="0" dirty="0"/>
              <a:t>nuevo clúster y el resto. Notar que no es necesario recalcular todas las distancias, solamente las del nuevo clúster con los anteriores.</a:t>
            </a:r>
          </a:p>
          <a:p>
            <a:pPr indent="-228600">
              <a:lnSpc>
                <a:spcPct val="90000"/>
              </a:lnSpc>
              <a:spcAft>
                <a:spcPts val="600"/>
              </a:spcAft>
              <a:buFont typeface="Arial" panose="020B0604020202020204" pitchFamily="34" charset="0"/>
              <a:buChar char="•"/>
            </a:pPr>
            <a:endParaRPr lang="en-US" b="0" i="0" u="none" strike="noStrike" baseline="0" dirty="0"/>
          </a:p>
          <a:p>
            <a:pPr indent="-228600">
              <a:lnSpc>
                <a:spcPct val="90000"/>
              </a:lnSpc>
              <a:spcAft>
                <a:spcPts val="600"/>
              </a:spcAft>
              <a:buFont typeface="Arial" panose="020B0604020202020204" pitchFamily="34" charset="0"/>
              <a:buChar char="•"/>
            </a:pPr>
            <a:r>
              <a:rPr lang="en-US" b="1" i="0" u="none" strike="noStrike" baseline="0" dirty="0"/>
              <a:t>Paso 6: Repetir desde el tercer paso </a:t>
            </a:r>
          </a:p>
          <a:p>
            <a:pPr>
              <a:lnSpc>
                <a:spcPct val="90000"/>
              </a:lnSpc>
              <a:spcAft>
                <a:spcPts val="600"/>
              </a:spcAft>
            </a:pPr>
            <a:r>
              <a:rPr lang="en-US" b="0" i="0" u="none" strike="noStrike" baseline="0" dirty="0"/>
              <a:t>hasta que todos los objetos estén reunidos en un único clúster</a:t>
            </a:r>
            <a:endParaRPr lang="en-US" dirty="0"/>
          </a:p>
        </p:txBody>
      </p:sp>
    </p:spTree>
    <p:extLst>
      <p:ext uri="{BB962C8B-B14F-4D97-AF65-F5344CB8AC3E}">
        <p14:creationId xmlns:p14="http://schemas.microsoft.com/office/powerpoint/2010/main" val="906730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2C6BAA-B98C-7656-E82D-66FEEA10A8F4}"/>
              </a:ext>
            </a:extLst>
          </p:cNvPr>
          <p:cNvPicPr>
            <a:picLocks noChangeAspect="1"/>
          </p:cNvPicPr>
          <p:nvPr/>
        </p:nvPicPr>
        <p:blipFill rotWithShape="1">
          <a:blip r:embed="rId2"/>
          <a:srcRect l="36688" r="802" b="1"/>
          <a:stretch/>
        </p:blipFill>
        <p:spPr>
          <a:xfrm>
            <a:off x="-9527" y="3725"/>
            <a:ext cx="5846165" cy="6850548"/>
          </a:xfrm>
          <a:prstGeom prst="rect">
            <a:avLst/>
          </a:prstGeom>
        </p:spPr>
      </p:pic>
      <p:graphicFrame>
        <p:nvGraphicFramePr>
          <p:cNvPr id="5" name="CuadroTexto 2">
            <a:extLst>
              <a:ext uri="{FF2B5EF4-FFF2-40B4-BE49-F238E27FC236}">
                <a16:creationId xmlns:a16="http://schemas.microsoft.com/office/drawing/2014/main" id="{614F0FEA-19C1-B176-8B0E-55B623B30D34}"/>
              </a:ext>
            </a:extLst>
          </p:cNvPr>
          <p:cNvGraphicFramePr/>
          <p:nvPr/>
        </p:nvGraphicFramePr>
        <p:xfrm>
          <a:off x="5691566" y="559455"/>
          <a:ext cx="6254831" cy="57361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78624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A9F650E-4C2F-6E77-5A3A-4F959C44D5EE}"/>
              </a:ext>
            </a:extLst>
          </p:cNvPr>
          <p:cNvPicPr>
            <a:picLocks noChangeAspect="1"/>
          </p:cNvPicPr>
          <p:nvPr/>
        </p:nvPicPr>
        <p:blipFill>
          <a:blip r:embed="rId2"/>
          <a:stretch>
            <a:fillRect/>
          </a:stretch>
        </p:blipFill>
        <p:spPr>
          <a:xfrm>
            <a:off x="295026" y="1170265"/>
            <a:ext cx="4285023" cy="3899446"/>
          </a:xfrm>
          <a:prstGeom prst="rect">
            <a:avLst/>
          </a:prstGeom>
        </p:spPr>
      </p:pic>
      <p:pic>
        <p:nvPicPr>
          <p:cNvPr id="5" name="Imagen 4">
            <a:extLst>
              <a:ext uri="{FF2B5EF4-FFF2-40B4-BE49-F238E27FC236}">
                <a16:creationId xmlns:a16="http://schemas.microsoft.com/office/drawing/2014/main" id="{D07BCFE8-AE0E-0099-3921-4D21256570F6}"/>
              </a:ext>
            </a:extLst>
          </p:cNvPr>
          <p:cNvPicPr>
            <a:picLocks noChangeAspect="1"/>
          </p:cNvPicPr>
          <p:nvPr/>
        </p:nvPicPr>
        <p:blipFill>
          <a:blip r:embed="rId3"/>
          <a:stretch>
            <a:fillRect/>
          </a:stretch>
        </p:blipFill>
        <p:spPr>
          <a:xfrm>
            <a:off x="5150706" y="1574156"/>
            <a:ext cx="6746268" cy="3946967"/>
          </a:xfrm>
          <a:prstGeom prst="rect">
            <a:avLst/>
          </a:prstGeom>
        </p:spPr>
      </p:pic>
    </p:spTree>
    <p:extLst>
      <p:ext uri="{BB962C8B-B14F-4D97-AF65-F5344CB8AC3E}">
        <p14:creationId xmlns:p14="http://schemas.microsoft.com/office/powerpoint/2010/main" val="1418293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0473C7F-692F-E2FA-9AC5-B933857FF7F9}"/>
              </a:ext>
            </a:extLst>
          </p:cNvPr>
          <p:cNvSpPr txBox="1"/>
          <p:nvPr/>
        </p:nvSpPr>
        <p:spPr>
          <a:xfrm>
            <a:off x="699714" y="5490971"/>
            <a:ext cx="6962072"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kern="1200" dirty="0">
                <a:solidFill>
                  <a:srgbClr val="FFFFFF"/>
                </a:solidFill>
                <a:latin typeface="+mj-lt"/>
                <a:ea typeface="+mj-ea"/>
                <a:cs typeface="+mj-cs"/>
              </a:rPr>
              <a:t>Matriz de distancias de los datos originales…</a:t>
            </a:r>
          </a:p>
          <a:p>
            <a:pPr>
              <a:lnSpc>
                <a:spcPct val="90000"/>
              </a:lnSpc>
              <a:spcBef>
                <a:spcPct val="0"/>
              </a:spcBef>
              <a:spcAft>
                <a:spcPts val="600"/>
              </a:spcAft>
            </a:pPr>
            <a:r>
              <a:rPr lang="en-US" sz="2800" kern="1200" dirty="0">
                <a:solidFill>
                  <a:srgbClr val="FFFFFF"/>
                </a:solidFill>
                <a:latin typeface="+mj-lt"/>
                <a:ea typeface="+mj-ea"/>
                <a:cs typeface="+mj-cs"/>
              </a:rPr>
              <a:t>¿qué elementos </a:t>
            </a:r>
            <a:r>
              <a:rPr lang="en-US" sz="2800" kern="1200" dirty="0" err="1">
                <a:solidFill>
                  <a:srgbClr val="FFFFFF"/>
                </a:solidFill>
                <a:latin typeface="+mj-lt"/>
                <a:ea typeface="+mj-ea"/>
                <a:cs typeface="+mj-cs"/>
              </a:rPr>
              <a:t>formarán</a:t>
            </a:r>
            <a:r>
              <a:rPr lang="en-US" sz="2800" kern="1200" dirty="0">
                <a:solidFill>
                  <a:srgbClr val="FFFFFF"/>
                </a:solidFill>
                <a:latin typeface="+mj-lt"/>
                <a:ea typeface="+mj-ea"/>
                <a:cs typeface="+mj-cs"/>
              </a:rPr>
              <a:t> el  primer clúster?</a:t>
            </a:r>
          </a:p>
        </p:txBody>
      </p:sp>
      <p:pic>
        <p:nvPicPr>
          <p:cNvPr id="3" name="Imagen 2">
            <a:extLst>
              <a:ext uri="{FF2B5EF4-FFF2-40B4-BE49-F238E27FC236}">
                <a16:creationId xmlns:a16="http://schemas.microsoft.com/office/drawing/2014/main" id="{372D2026-F436-FA78-D432-C3E57755249D}"/>
              </a:ext>
            </a:extLst>
          </p:cNvPr>
          <p:cNvPicPr>
            <a:picLocks noChangeAspect="1"/>
          </p:cNvPicPr>
          <p:nvPr/>
        </p:nvPicPr>
        <p:blipFill>
          <a:blip r:embed="rId2"/>
          <a:stretch>
            <a:fillRect/>
          </a:stretch>
        </p:blipFill>
        <p:spPr>
          <a:xfrm>
            <a:off x="762410" y="390832"/>
            <a:ext cx="10759798" cy="4519114"/>
          </a:xfrm>
          <a:prstGeom prst="rect">
            <a:avLst/>
          </a:prstGeom>
        </p:spPr>
      </p:pic>
    </p:spTree>
    <p:extLst>
      <p:ext uri="{BB962C8B-B14F-4D97-AF65-F5344CB8AC3E}">
        <p14:creationId xmlns:p14="http://schemas.microsoft.com/office/powerpoint/2010/main" val="4006405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B3F551A-0FB0-A6CF-7C62-E59837D8974C}"/>
              </a:ext>
            </a:extLst>
          </p:cNvPr>
          <p:cNvPicPr>
            <a:picLocks noChangeAspect="1"/>
          </p:cNvPicPr>
          <p:nvPr/>
        </p:nvPicPr>
        <p:blipFill>
          <a:blip r:embed="rId2"/>
          <a:stretch>
            <a:fillRect/>
          </a:stretch>
        </p:blipFill>
        <p:spPr>
          <a:xfrm>
            <a:off x="658368" y="816864"/>
            <a:ext cx="5530786" cy="5005202"/>
          </a:xfrm>
          <a:prstGeom prst="rect">
            <a:avLst/>
          </a:prstGeom>
        </p:spPr>
      </p:pic>
      <p:sp>
        <p:nvSpPr>
          <p:cNvPr id="3" name="CuadroTexto 2">
            <a:extLst>
              <a:ext uri="{FF2B5EF4-FFF2-40B4-BE49-F238E27FC236}">
                <a16:creationId xmlns:a16="http://schemas.microsoft.com/office/drawing/2014/main" id="{40AD0B84-CD48-70FF-294E-FC875817E48E}"/>
              </a:ext>
            </a:extLst>
          </p:cNvPr>
          <p:cNvSpPr txBox="1"/>
          <p:nvPr/>
        </p:nvSpPr>
        <p:spPr>
          <a:xfrm>
            <a:off x="6189154" y="1323116"/>
            <a:ext cx="5161598" cy="4629874"/>
          </a:xfrm>
          <a:prstGeom prst="rect">
            <a:avLst/>
          </a:prstGeom>
        </p:spPr>
        <p:txBody>
          <a:bodyPr vert="horz" lIns="91440" tIns="45720" rIns="91440" bIns="45720" rtlCol="0">
            <a:normAutofit lnSpcReduction="10000"/>
          </a:bodyPr>
          <a:lstStyle/>
          <a:p>
            <a:pPr indent="-228600">
              <a:lnSpc>
                <a:spcPct val="90000"/>
              </a:lnSpc>
              <a:spcAft>
                <a:spcPts val="600"/>
              </a:spcAft>
              <a:buFont typeface="Arial" panose="020B0604020202020204" pitchFamily="34" charset="0"/>
              <a:buChar char="•"/>
            </a:pPr>
            <a:r>
              <a:rPr lang="en-US" sz="2400" b="0" i="0" u="none" strike="noStrike" baseline="0" dirty="0"/>
              <a:t> Partimos de 8 clústeres para aplicar el algoritmo aglomerativo; es decir, que cada uno de los objetos a clasificar se considera un clúster en primera instancia.</a:t>
            </a:r>
          </a:p>
          <a:p>
            <a:pPr indent="-228600">
              <a:lnSpc>
                <a:spcPct val="90000"/>
              </a:lnSpc>
              <a:spcAft>
                <a:spcPts val="600"/>
              </a:spcAft>
              <a:buFont typeface="Arial" panose="020B0604020202020204" pitchFamily="34" charset="0"/>
              <a:buChar char="•"/>
            </a:pPr>
            <a:r>
              <a:rPr lang="en-US" sz="2400" b="0" i="0" u="none" strike="noStrike" baseline="0" dirty="0"/>
              <a:t> De acuerdo con la matriz de distancias, los objetos o clústeres más próximos son el 6 y el 8, con una distancia de 1.41, y por lo tanto los fusionamos construyendo un nuevo clúster que contiene los objetos 6 y 8.</a:t>
            </a:r>
          </a:p>
          <a:p>
            <a:pPr indent="-228600">
              <a:lnSpc>
                <a:spcPct val="90000"/>
              </a:lnSpc>
              <a:spcAft>
                <a:spcPts val="600"/>
              </a:spcAft>
              <a:buFont typeface="Arial" panose="020B0604020202020204" pitchFamily="34" charset="0"/>
              <a:buChar char="•"/>
            </a:pPr>
            <a:r>
              <a:rPr lang="en-US" sz="2400" b="0" i="0" u="none" strike="noStrike" baseline="0" dirty="0"/>
              <a:t>Llamaremos A al clúster formado por los elementos 6 y 8.</a:t>
            </a:r>
          </a:p>
          <a:p>
            <a:pPr indent="-228600">
              <a:lnSpc>
                <a:spcPct val="90000"/>
              </a:lnSpc>
              <a:spcAft>
                <a:spcPts val="600"/>
              </a:spcAft>
              <a:buFont typeface="Arial" panose="020B0604020202020204" pitchFamily="34" charset="0"/>
              <a:buChar char="•"/>
            </a:pPr>
            <a:r>
              <a:rPr lang="en-US" sz="2400" b="0" i="0" u="none" strike="noStrike" baseline="0" dirty="0"/>
              <a:t>Tenemos ahora 7 clústeres.</a:t>
            </a:r>
            <a:endParaRPr lang="en-US" sz="2400" dirty="0"/>
          </a:p>
        </p:txBody>
      </p:sp>
    </p:spTree>
    <p:extLst>
      <p:ext uri="{BB962C8B-B14F-4D97-AF65-F5344CB8AC3E}">
        <p14:creationId xmlns:p14="http://schemas.microsoft.com/office/powerpoint/2010/main" val="542715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0EAA7BD6-CBF5-2A41-D2DA-078470FDB32D}"/>
              </a:ext>
            </a:extLst>
          </p:cNvPr>
          <p:cNvSpPr txBox="1"/>
          <p:nvPr/>
        </p:nvSpPr>
        <p:spPr>
          <a:xfrm>
            <a:off x="804672" y="338328"/>
            <a:ext cx="5011473" cy="17739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b="1" dirty="0">
                <a:solidFill>
                  <a:schemeClr val="tx2"/>
                </a:solidFill>
                <a:latin typeface="+mj-lt"/>
                <a:ea typeface="+mj-ea"/>
                <a:cs typeface="+mj-cs"/>
              </a:rPr>
              <a:t>¿Y ahora </a:t>
            </a:r>
            <a:r>
              <a:rPr lang="en-US" sz="3600" b="1" dirty="0" err="1">
                <a:solidFill>
                  <a:schemeClr val="tx2"/>
                </a:solidFill>
                <a:latin typeface="+mj-lt"/>
                <a:ea typeface="+mj-ea"/>
                <a:cs typeface="+mj-cs"/>
              </a:rPr>
              <a:t>cómo</a:t>
            </a:r>
            <a:r>
              <a:rPr lang="en-US" sz="3600" b="1" dirty="0">
                <a:solidFill>
                  <a:schemeClr val="tx2"/>
                </a:solidFill>
                <a:latin typeface="+mj-lt"/>
                <a:ea typeface="+mj-ea"/>
                <a:cs typeface="+mj-cs"/>
              </a:rPr>
              <a:t> </a:t>
            </a:r>
            <a:r>
              <a:rPr lang="en-US" sz="3600" b="1" dirty="0" err="1">
                <a:solidFill>
                  <a:schemeClr val="tx2"/>
                </a:solidFill>
                <a:latin typeface="+mj-lt"/>
                <a:ea typeface="+mj-ea"/>
                <a:cs typeface="+mj-cs"/>
              </a:rPr>
              <a:t>quedarían</a:t>
            </a:r>
            <a:r>
              <a:rPr lang="en-US" sz="3600" b="1" dirty="0">
                <a:solidFill>
                  <a:schemeClr val="tx2"/>
                </a:solidFill>
                <a:latin typeface="+mj-lt"/>
                <a:ea typeface="+mj-ea"/>
                <a:cs typeface="+mj-cs"/>
              </a:rPr>
              <a:t> </a:t>
            </a:r>
            <a:r>
              <a:rPr lang="en-US" sz="3600" b="1" dirty="0" err="1">
                <a:solidFill>
                  <a:schemeClr val="tx2"/>
                </a:solidFill>
                <a:latin typeface="+mj-lt"/>
                <a:ea typeface="+mj-ea"/>
                <a:cs typeface="+mj-cs"/>
              </a:rPr>
              <a:t>conformados</a:t>
            </a:r>
            <a:r>
              <a:rPr lang="en-US" sz="3600" b="1" dirty="0">
                <a:solidFill>
                  <a:schemeClr val="tx2"/>
                </a:solidFill>
                <a:latin typeface="+mj-lt"/>
                <a:ea typeface="+mj-ea"/>
                <a:cs typeface="+mj-cs"/>
              </a:rPr>
              <a:t> los </a:t>
            </a:r>
            <a:r>
              <a:rPr lang="en-US" sz="3600" b="1" dirty="0" err="1">
                <a:solidFill>
                  <a:schemeClr val="tx2"/>
                </a:solidFill>
                <a:latin typeface="+mj-lt"/>
                <a:ea typeface="+mj-ea"/>
                <a:cs typeface="+mj-cs"/>
              </a:rPr>
              <a:t>nuevos</a:t>
            </a:r>
            <a:r>
              <a:rPr lang="en-US" sz="3600" b="1" dirty="0">
                <a:solidFill>
                  <a:schemeClr val="tx2"/>
                </a:solidFill>
                <a:latin typeface="+mj-lt"/>
                <a:ea typeface="+mj-ea"/>
                <a:cs typeface="+mj-cs"/>
              </a:rPr>
              <a:t> clústeres?</a:t>
            </a:r>
          </a:p>
        </p:txBody>
      </p:sp>
      <p:sp>
        <p:nvSpPr>
          <p:cNvPr id="3" name="CuadroTexto 2">
            <a:extLst>
              <a:ext uri="{FF2B5EF4-FFF2-40B4-BE49-F238E27FC236}">
                <a16:creationId xmlns:a16="http://schemas.microsoft.com/office/drawing/2014/main" id="{57840CE5-8F16-648A-FEAF-ACB2E896A43A}"/>
              </a:ext>
            </a:extLst>
          </p:cNvPr>
          <p:cNvSpPr txBox="1"/>
          <p:nvPr/>
        </p:nvSpPr>
        <p:spPr>
          <a:xfrm>
            <a:off x="6375857" y="633365"/>
            <a:ext cx="5029200" cy="177393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400" b="0" i="0" u="none" strike="noStrike" baseline="0" dirty="0" err="1">
                <a:solidFill>
                  <a:schemeClr val="tx2"/>
                </a:solidFill>
              </a:rPr>
              <a:t>Tomamos</a:t>
            </a:r>
            <a:r>
              <a:rPr lang="en-US" sz="2400" b="0" i="0" u="none" strike="noStrike" baseline="0" dirty="0">
                <a:solidFill>
                  <a:schemeClr val="tx2"/>
                </a:solidFill>
              </a:rPr>
              <a:t> como representante del grupo al centroide de los puntos que forman el clúster ; es decir, el vector medio de los elementos que constituyen el clúster</a:t>
            </a:r>
            <a:endParaRPr lang="en-US" sz="2400" dirty="0">
              <a:solidFill>
                <a:schemeClr val="tx2"/>
              </a:solidFill>
            </a:endParaRPr>
          </a:p>
        </p:txBody>
      </p:sp>
      <p:pic>
        <p:nvPicPr>
          <p:cNvPr id="7" name="Imagen 6">
            <a:extLst>
              <a:ext uri="{FF2B5EF4-FFF2-40B4-BE49-F238E27FC236}">
                <a16:creationId xmlns:a16="http://schemas.microsoft.com/office/drawing/2014/main" id="{B9719501-BF0B-2707-2B2F-6011277B4EC3}"/>
              </a:ext>
            </a:extLst>
          </p:cNvPr>
          <p:cNvPicPr>
            <a:picLocks noChangeAspect="1"/>
          </p:cNvPicPr>
          <p:nvPr/>
        </p:nvPicPr>
        <p:blipFill>
          <a:blip r:embed="rId2"/>
          <a:stretch>
            <a:fillRect/>
          </a:stretch>
        </p:blipFill>
        <p:spPr>
          <a:xfrm>
            <a:off x="530705" y="2449980"/>
            <a:ext cx="4344601" cy="3609694"/>
          </a:xfrm>
          <a:prstGeom prst="rect">
            <a:avLst/>
          </a:prstGeom>
        </p:spPr>
      </p:pic>
      <p:pic>
        <p:nvPicPr>
          <p:cNvPr id="10" name="Imagen 9">
            <a:extLst>
              <a:ext uri="{FF2B5EF4-FFF2-40B4-BE49-F238E27FC236}">
                <a16:creationId xmlns:a16="http://schemas.microsoft.com/office/drawing/2014/main" id="{301B3B90-61A3-95CC-FC42-8D2D408E0AB3}"/>
              </a:ext>
            </a:extLst>
          </p:cNvPr>
          <p:cNvPicPr>
            <a:picLocks noChangeAspect="1"/>
          </p:cNvPicPr>
          <p:nvPr/>
        </p:nvPicPr>
        <p:blipFill>
          <a:blip r:embed="rId3"/>
          <a:stretch>
            <a:fillRect/>
          </a:stretch>
        </p:blipFill>
        <p:spPr>
          <a:xfrm>
            <a:off x="5816145" y="3052777"/>
            <a:ext cx="6437549" cy="2864709"/>
          </a:xfrm>
          <a:prstGeom prst="rect">
            <a:avLst/>
          </a:prstGeom>
        </p:spPr>
      </p:pic>
    </p:spTree>
    <p:extLst>
      <p:ext uri="{BB962C8B-B14F-4D97-AF65-F5344CB8AC3E}">
        <p14:creationId xmlns:p14="http://schemas.microsoft.com/office/powerpoint/2010/main" val="1013558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C0215B8-9A14-9DCF-D451-3851F515E6CF}"/>
              </a:ext>
            </a:extLst>
          </p:cNvPr>
          <p:cNvSpPr txBox="1"/>
          <p:nvPr/>
        </p:nvSpPr>
        <p:spPr>
          <a:xfrm>
            <a:off x="750166" y="509830"/>
            <a:ext cx="10863902" cy="1951087"/>
          </a:xfrm>
          <a:prstGeom prst="rect">
            <a:avLst/>
          </a:prstGeom>
          <a:noFill/>
        </p:spPr>
        <p:txBody>
          <a:bodyPr vert="horz" lIns="91440" tIns="45720" rIns="91440" bIns="45720" rtlCol="0" anchor="t">
            <a:normAutofit/>
          </a:bodyPr>
          <a:lstStyle/>
          <a:p>
            <a:pPr>
              <a:lnSpc>
                <a:spcPct val="90000"/>
              </a:lnSpc>
              <a:spcAft>
                <a:spcPts val="600"/>
              </a:spcAft>
            </a:pPr>
            <a:r>
              <a:rPr lang="en-US" sz="2400" b="0" i="0" u="none" strike="noStrike" baseline="0" dirty="0">
                <a:solidFill>
                  <a:schemeClr val="bg1"/>
                </a:solidFill>
              </a:rPr>
              <a:t>Ahora los clústeres más similares son el 2 y el 3, con distancia 1.73, por lo que se </a:t>
            </a:r>
            <a:r>
              <a:rPr lang="en-US" sz="2400" b="0" i="0" u="none" strike="noStrike" baseline="0" dirty="0" err="1">
                <a:solidFill>
                  <a:schemeClr val="bg1"/>
                </a:solidFill>
              </a:rPr>
              <a:t>deben</a:t>
            </a:r>
            <a:r>
              <a:rPr lang="en-US" sz="2400" b="0" i="0" u="none" strike="noStrike" baseline="0" dirty="0">
                <a:solidFill>
                  <a:schemeClr val="bg1"/>
                </a:solidFill>
              </a:rPr>
              <a:t> </a:t>
            </a:r>
            <a:r>
              <a:rPr lang="en-US" sz="2400" b="0" i="0" u="none" strike="noStrike" baseline="0" dirty="0" err="1">
                <a:solidFill>
                  <a:schemeClr val="bg1"/>
                </a:solidFill>
              </a:rPr>
              <a:t>fusionar</a:t>
            </a:r>
            <a:r>
              <a:rPr lang="en-US" sz="2400" b="0" i="0" u="none" strike="noStrike" baseline="0" dirty="0">
                <a:solidFill>
                  <a:schemeClr val="bg1"/>
                </a:solidFill>
              </a:rPr>
              <a:t> en un nuevo clúster, al que </a:t>
            </a:r>
            <a:r>
              <a:rPr lang="en-US" sz="2400" b="0" i="0" u="none" strike="noStrike" baseline="0" dirty="0" err="1">
                <a:solidFill>
                  <a:schemeClr val="bg1"/>
                </a:solidFill>
              </a:rPr>
              <a:t>llamaremos</a:t>
            </a:r>
            <a:r>
              <a:rPr lang="en-US" sz="2400" b="0" i="0" u="none" strike="noStrike" baseline="0" dirty="0">
                <a:solidFill>
                  <a:schemeClr val="bg1"/>
                </a:solidFill>
              </a:rPr>
              <a:t> B y el centroide de este nuevo clúster es el punto (1.5, 1.5, 4.5).</a:t>
            </a:r>
            <a:endParaRPr lang="en-US" sz="2400" dirty="0">
              <a:solidFill>
                <a:schemeClr val="bg1"/>
              </a:solidFill>
            </a:endParaRPr>
          </a:p>
        </p:txBody>
      </p:sp>
      <p:pic>
        <p:nvPicPr>
          <p:cNvPr id="7" name="Imagen 6">
            <a:extLst>
              <a:ext uri="{FF2B5EF4-FFF2-40B4-BE49-F238E27FC236}">
                <a16:creationId xmlns:a16="http://schemas.microsoft.com/office/drawing/2014/main" id="{30D1939D-6AAF-5429-37C8-B406221278F9}"/>
              </a:ext>
            </a:extLst>
          </p:cNvPr>
          <p:cNvPicPr>
            <a:picLocks noChangeAspect="1"/>
          </p:cNvPicPr>
          <p:nvPr/>
        </p:nvPicPr>
        <p:blipFill>
          <a:blip r:embed="rId2"/>
          <a:stretch>
            <a:fillRect/>
          </a:stretch>
        </p:blipFill>
        <p:spPr>
          <a:xfrm>
            <a:off x="630313" y="2756877"/>
            <a:ext cx="4132788" cy="3492497"/>
          </a:xfrm>
          <a:prstGeom prst="rect">
            <a:avLst/>
          </a:prstGeom>
        </p:spPr>
      </p:pic>
      <p:pic>
        <p:nvPicPr>
          <p:cNvPr id="5" name="Imagen 4">
            <a:extLst>
              <a:ext uri="{FF2B5EF4-FFF2-40B4-BE49-F238E27FC236}">
                <a16:creationId xmlns:a16="http://schemas.microsoft.com/office/drawing/2014/main" id="{81C3E94B-FF51-8957-66D4-136D798A534C}"/>
              </a:ext>
            </a:extLst>
          </p:cNvPr>
          <p:cNvPicPr>
            <a:picLocks noChangeAspect="1"/>
          </p:cNvPicPr>
          <p:nvPr/>
        </p:nvPicPr>
        <p:blipFill>
          <a:blip r:embed="rId3"/>
          <a:stretch>
            <a:fillRect/>
          </a:stretch>
        </p:blipFill>
        <p:spPr>
          <a:xfrm>
            <a:off x="5535256" y="2403910"/>
            <a:ext cx="6557405" cy="3770508"/>
          </a:xfrm>
          <a:prstGeom prst="rect">
            <a:avLst/>
          </a:prstGeom>
        </p:spPr>
      </p:pic>
    </p:spTree>
    <p:extLst>
      <p:ext uri="{BB962C8B-B14F-4D97-AF65-F5344CB8AC3E}">
        <p14:creationId xmlns:p14="http://schemas.microsoft.com/office/powerpoint/2010/main" val="1999921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6EBD624-990F-F21F-9516-F9A6CEAF9249}"/>
              </a:ext>
            </a:extLst>
          </p:cNvPr>
          <p:cNvSpPr txBox="1"/>
          <p:nvPr/>
        </p:nvSpPr>
        <p:spPr>
          <a:xfrm>
            <a:off x="5541263" y="457200"/>
            <a:ext cx="6007608" cy="1929384"/>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200" b="0" i="0" u="none" strike="noStrike" baseline="0"/>
              <a:t>Luego repetimos el procedimiento agrupando en el clúster C los objetos más próximos A y 5, con distancia 2.55 y centroide (6.3, 5.3, 5), obteniendo la nueva configuración.</a:t>
            </a:r>
            <a:endParaRPr lang="en-US" sz="2200"/>
          </a:p>
        </p:txBody>
      </p:sp>
      <p:pic>
        <p:nvPicPr>
          <p:cNvPr id="7" name="Imagen 6">
            <a:extLst>
              <a:ext uri="{FF2B5EF4-FFF2-40B4-BE49-F238E27FC236}">
                <a16:creationId xmlns:a16="http://schemas.microsoft.com/office/drawing/2014/main" id="{374FDD3A-427B-52F4-B8B4-182D9D42D787}"/>
              </a:ext>
            </a:extLst>
          </p:cNvPr>
          <p:cNvPicPr>
            <a:picLocks noChangeAspect="1"/>
          </p:cNvPicPr>
          <p:nvPr/>
        </p:nvPicPr>
        <p:blipFill rotWithShape="1">
          <a:blip r:embed="rId2"/>
          <a:srcRect r="-1" b="12218"/>
          <a:stretch/>
        </p:blipFill>
        <p:spPr>
          <a:xfrm>
            <a:off x="5987529" y="2386584"/>
            <a:ext cx="5468112" cy="3595790"/>
          </a:xfrm>
          <a:prstGeom prst="rect">
            <a:avLst/>
          </a:prstGeom>
        </p:spPr>
      </p:pic>
      <p:pic>
        <p:nvPicPr>
          <p:cNvPr id="3" name="Imagen 2">
            <a:extLst>
              <a:ext uri="{FF2B5EF4-FFF2-40B4-BE49-F238E27FC236}">
                <a16:creationId xmlns:a16="http://schemas.microsoft.com/office/drawing/2014/main" id="{5AC0A5FC-63C3-3A68-AA03-36EB3611C4F4}"/>
              </a:ext>
            </a:extLst>
          </p:cNvPr>
          <p:cNvPicPr>
            <a:picLocks noChangeAspect="1"/>
          </p:cNvPicPr>
          <p:nvPr/>
        </p:nvPicPr>
        <p:blipFill rotWithShape="1">
          <a:blip r:embed="rId3"/>
          <a:srcRect t="3020" b="8581"/>
          <a:stretch/>
        </p:blipFill>
        <p:spPr>
          <a:xfrm>
            <a:off x="169200" y="2843784"/>
            <a:ext cx="5372063" cy="3047730"/>
          </a:xfrm>
          <a:prstGeom prst="rect">
            <a:avLst/>
          </a:prstGeom>
        </p:spPr>
      </p:pic>
    </p:spTree>
    <p:extLst>
      <p:ext uri="{BB962C8B-B14F-4D97-AF65-F5344CB8AC3E}">
        <p14:creationId xmlns:p14="http://schemas.microsoft.com/office/powerpoint/2010/main" val="728877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3E709E3-A89A-DA85-3F68-2DC39F1CF8B9}"/>
              </a:ext>
            </a:extLst>
          </p:cNvPr>
          <p:cNvPicPr>
            <a:picLocks noChangeAspect="1"/>
          </p:cNvPicPr>
          <p:nvPr/>
        </p:nvPicPr>
        <p:blipFill>
          <a:blip r:embed="rId2"/>
          <a:stretch>
            <a:fillRect/>
          </a:stretch>
        </p:blipFill>
        <p:spPr>
          <a:xfrm>
            <a:off x="411973" y="244132"/>
            <a:ext cx="5255009" cy="4008057"/>
          </a:xfrm>
          <a:prstGeom prst="rect">
            <a:avLst/>
          </a:prstGeom>
        </p:spPr>
      </p:pic>
      <p:pic>
        <p:nvPicPr>
          <p:cNvPr id="5" name="Imagen 4">
            <a:extLst>
              <a:ext uri="{FF2B5EF4-FFF2-40B4-BE49-F238E27FC236}">
                <a16:creationId xmlns:a16="http://schemas.microsoft.com/office/drawing/2014/main" id="{FC3DD784-DCD9-7B37-F8B3-E2C3F39CA286}"/>
              </a:ext>
            </a:extLst>
          </p:cNvPr>
          <p:cNvPicPr>
            <a:picLocks noChangeAspect="1"/>
          </p:cNvPicPr>
          <p:nvPr/>
        </p:nvPicPr>
        <p:blipFill>
          <a:blip r:embed="rId3"/>
          <a:stretch>
            <a:fillRect/>
          </a:stretch>
        </p:blipFill>
        <p:spPr>
          <a:xfrm>
            <a:off x="6141303" y="2089861"/>
            <a:ext cx="4581525" cy="2162175"/>
          </a:xfrm>
          <a:prstGeom prst="rect">
            <a:avLst/>
          </a:prstGeom>
        </p:spPr>
      </p:pic>
      <p:sp>
        <p:nvSpPr>
          <p:cNvPr id="7" name="CuadroTexto 6">
            <a:extLst>
              <a:ext uri="{FF2B5EF4-FFF2-40B4-BE49-F238E27FC236}">
                <a16:creationId xmlns:a16="http://schemas.microsoft.com/office/drawing/2014/main" id="{FBDE1995-ADFC-1687-B3BB-136E22A9E544}"/>
              </a:ext>
            </a:extLst>
          </p:cNvPr>
          <p:cNvSpPr txBox="1"/>
          <p:nvPr/>
        </p:nvSpPr>
        <p:spPr>
          <a:xfrm>
            <a:off x="755170" y="4305544"/>
            <a:ext cx="6094070" cy="1938992"/>
          </a:xfrm>
          <a:prstGeom prst="rect">
            <a:avLst/>
          </a:prstGeom>
          <a:solidFill>
            <a:schemeClr val="accent2">
              <a:lumMod val="20000"/>
              <a:lumOff val="80000"/>
            </a:schemeClr>
          </a:solidFill>
        </p:spPr>
        <p:txBody>
          <a:bodyPr wrap="square">
            <a:spAutoFit/>
          </a:bodyPr>
          <a:lstStyle/>
          <a:p>
            <a:pPr algn="l"/>
            <a:r>
              <a:rPr lang="es-MX" sz="2400" b="0" i="0" u="none" strike="noStrike" baseline="0" dirty="0">
                <a:latin typeface="CMSS10"/>
              </a:rPr>
              <a:t>Ahora vemos que la distancia más pequeña es 2</a:t>
            </a:r>
            <a:r>
              <a:rPr lang="es-MX" sz="2400" b="0" i="0" u="none" strike="noStrike" baseline="0" dirty="0">
                <a:latin typeface="CMMI10"/>
              </a:rPr>
              <a:t>.</a:t>
            </a:r>
            <a:r>
              <a:rPr lang="es-MX" sz="2400" b="0" i="0" u="none" strike="noStrike" baseline="0" dirty="0">
                <a:latin typeface="CMSS10"/>
              </a:rPr>
              <a:t>60, por lo que agrupamos en el </a:t>
            </a:r>
            <a:r>
              <a:rPr lang="es-MX" sz="2400" b="0" i="0" u="none" strike="noStrike" baseline="0" dirty="0">
                <a:latin typeface="CMSSI10"/>
              </a:rPr>
              <a:t>clúster D </a:t>
            </a:r>
            <a:r>
              <a:rPr lang="es-MX" sz="2400" b="0" i="0" u="none" strike="noStrike" baseline="0" dirty="0">
                <a:latin typeface="CMSS10"/>
              </a:rPr>
              <a:t>los objetos del clúster </a:t>
            </a:r>
            <a:r>
              <a:rPr lang="es-MX" sz="2400" b="0" i="0" u="none" strike="noStrike" baseline="0" dirty="0">
                <a:latin typeface="CMSSI10"/>
              </a:rPr>
              <a:t>B </a:t>
            </a:r>
            <a:r>
              <a:rPr lang="es-MX" sz="2400" b="0" i="0" u="none" strike="noStrike" baseline="0" dirty="0">
                <a:latin typeface="CMSS10"/>
              </a:rPr>
              <a:t>y 1, con centroide (1</a:t>
            </a:r>
            <a:r>
              <a:rPr lang="es-MX" sz="2400" b="0" i="0" u="none" strike="noStrike" baseline="0" dirty="0">
                <a:latin typeface="CMMI10"/>
              </a:rPr>
              <a:t>.</a:t>
            </a:r>
            <a:r>
              <a:rPr lang="es-MX" sz="2400" b="0" i="0" u="none" strike="noStrike" baseline="0" dirty="0">
                <a:latin typeface="CMSS10"/>
              </a:rPr>
              <a:t>3</a:t>
            </a:r>
            <a:r>
              <a:rPr lang="es-MX" sz="2400" b="0" i="0" u="none" strike="noStrike" baseline="0" dirty="0">
                <a:latin typeface="CMMI10"/>
              </a:rPr>
              <a:t>, </a:t>
            </a:r>
            <a:r>
              <a:rPr lang="es-MX" sz="2400" b="0" i="0" u="none" strike="noStrike" baseline="0" dirty="0">
                <a:latin typeface="CMSS10"/>
              </a:rPr>
              <a:t>1</a:t>
            </a:r>
            <a:r>
              <a:rPr lang="es-MX" sz="2400" b="0" i="0" u="none" strike="noStrike" baseline="0" dirty="0">
                <a:latin typeface="CMMI10"/>
              </a:rPr>
              <a:t>.</a:t>
            </a:r>
            <a:r>
              <a:rPr lang="es-MX" sz="2400" b="0" i="0" u="none" strike="noStrike" baseline="0" dirty="0">
                <a:latin typeface="CMSS10"/>
              </a:rPr>
              <a:t>3</a:t>
            </a:r>
            <a:r>
              <a:rPr lang="es-MX" sz="2400" b="0" i="0" u="none" strike="noStrike" baseline="0" dirty="0">
                <a:latin typeface="CMMI10"/>
              </a:rPr>
              <a:t>, </a:t>
            </a:r>
            <a:r>
              <a:rPr lang="es-MX" sz="2400" b="0" i="0" u="none" strike="noStrike" baseline="0" dirty="0">
                <a:latin typeface="CMSS10"/>
              </a:rPr>
              <a:t>3</a:t>
            </a:r>
            <a:r>
              <a:rPr lang="es-MX" sz="2400" b="0" i="0" u="none" strike="noStrike" baseline="0" dirty="0">
                <a:latin typeface="CMMI10"/>
              </a:rPr>
              <a:t>.</a:t>
            </a:r>
            <a:r>
              <a:rPr lang="es-MX" sz="2400" b="0" i="0" u="none" strike="noStrike" baseline="0" dirty="0">
                <a:latin typeface="CMSS10"/>
              </a:rPr>
              <a:t>6), obteniendo la configuración para el siguiente paso.</a:t>
            </a:r>
            <a:endParaRPr lang="es-AR" sz="2400" dirty="0"/>
          </a:p>
        </p:txBody>
      </p:sp>
    </p:spTree>
    <p:extLst>
      <p:ext uri="{BB962C8B-B14F-4D97-AF65-F5344CB8AC3E}">
        <p14:creationId xmlns:p14="http://schemas.microsoft.com/office/powerpoint/2010/main" val="976548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FEB26E2-A88D-1571-9018-512532B98F0B}"/>
              </a:ext>
            </a:extLst>
          </p:cNvPr>
          <p:cNvPicPr>
            <a:picLocks noChangeAspect="1"/>
          </p:cNvPicPr>
          <p:nvPr/>
        </p:nvPicPr>
        <p:blipFill>
          <a:blip r:embed="rId2"/>
          <a:stretch>
            <a:fillRect/>
          </a:stretch>
        </p:blipFill>
        <p:spPr>
          <a:xfrm>
            <a:off x="469555" y="556096"/>
            <a:ext cx="4180332" cy="2698234"/>
          </a:xfrm>
          <a:prstGeom prst="rect">
            <a:avLst/>
          </a:prstGeom>
        </p:spPr>
      </p:pic>
      <p:pic>
        <p:nvPicPr>
          <p:cNvPr id="7" name="Imagen 6">
            <a:extLst>
              <a:ext uri="{FF2B5EF4-FFF2-40B4-BE49-F238E27FC236}">
                <a16:creationId xmlns:a16="http://schemas.microsoft.com/office/drawing/2014/main" id="{64166282-4406-504C-EE3D-9EE795486371}"/>
              </a:ext>
            </a:extLst>
          </p:cNvPr>
          <p:cNvPicPr>
            <a:picLocks noChangeAspect="1"/>
          </p:cNvPicPr>
          <p:nvPr/>
        </p:nvPicPr>
        <p:blipFill>
          <a:blip r:embed="rId3"/>
          <a:stretch>
            <a:fillRect/>
          </a:stretch>
        </p:blipFill>
        <p:spPr>
          <a:xfrm>
            <a:off x="622549" y="3977677"/>
            <a:ext cx="3854945" cy="2012664"/>
          </a:xfrm>
          <a:prstGeom prst="rect">
            <a:avLst/>
          </a:prstGeom>
        </p:spPr>
      </p:pic>
      <p:pic>
        <p:nvPicPr>
          <p:cNvPr id="5" name="Imagen 4">
            <a:extLst>
              <a:ext uri="{FF2B5EF4-FFF2-40B4-BE49-F238E27FC236}">
                <a16:creationId xmlns:a16="http://schemas.microsoft.com/office/drawing/2014/main" id="{F0E8BC02-7668-7A3C-A3E1-1232DC10A119}"/>
              </a:ext>
            </a:extLst>
          </p:cNvPr>
          <p:cNvPicPr>
            <a:picLocks noChangeAspect="1"/>
          </p:cNvPicPr>
          <p:nvPr/>
        </p:nvPicPr>
        <p:blipFill>
          <a:blip r:embed="rId4"/>
          <a:stretch>
            <a:fillRect/>
          </a:stretch>
        </p:blipFill>
        <p:spPr>
          <a:xfrm>
            <a:off x="5359077" y="1367330"/>
            <a:ext cx="5709633" cy="4123340"/>
          </a:xfrm>
          <a:prstGeom prst="rect">
            <a:avLst/>
          </a:prstGeom>
        </p:spPr>
      </p:pic>
    </p:spTree>
    <p:extLst>
      <p:ext uri="{BB962C8B-B14F-4D97-AF65-F5344CB8AC3E}">
        <p14:creationId xmlns:p14="http://schemas.microsoft.com/office/powerpoint/2010/main" val="2100452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D1C7228-1A0C-9204-0947-0885EFE832B7}"/>
              </a:ext>
            </a:extLst>
          </p:cNvPr>
          <p:cNvPicPr>
            <a:picLocks noChangeAspect="1"/>
          </p:cNvPicPr>
          <p:nvPr/>
        </p:nvPicPr>
        <p:blipFill>
          <a:blip r:embed="rId2"/>
          <a:stretch>
            <a:fillRect/>
          </a:stretch>
        </p:blipFill>
        <p:spPr>
          <a:xfrm>
            <a:off x="1241608" y="1353599"/>
            <a:ext cx="2619759" cy="1630800"/>
          </a:xfrm>
          <a:prstGeom prst="rect">
            <a:avLst/>
          </a:prstGeom>
        </p:spPr>
      </p:pic>
      <p:pic>
        <p:nvPicPr>
          <p:cNvPr id="9" name="Imagen 8">
            <a:extLst>
              <a:ext uri="{FF2B5EF4-FFF2-40B4-BE49-F238E27FC236}">
                <a16:creationId xmlns:a16="http://schemas.microsoft.com/office/drawing/2014/main" id="{6A5E3CF2-6AE0-5A94-B808-CA5266D6FD92}"/>
              </a:ext>
            </a:extLst>
          </p:cNvPr>
          <p:cNvPicPr>
            <a:picLocks noChangeAspect="1"/>
          </p:cNvPicPr>
          <p:nvPr/>
        </p:nvPicPr>
        <p:blipFill>
          <a:blip r:embed="rId3"/>
          <a:stretch>
            <a:fillRect/>
          </a:stretch>
        </p:blipFill>
        <p:spPr>
          <a:xfrm>
            <a:off x="4611478" y="1353599"/>
            <a:ext cx="2957933" cy="1630800"/>
          </a:xfrm>
          <a:prstGeom prst="rect">
            <a:avLst/>
          </a:prstGeom>
        </p:spPr>
      </p:pic>
      <p:pic>
        <p:nvPicPr>
          <p:cNvPr id="7" name="Imagen 6">
            <a:extLst>
              <a:ext uri="{FF2B5EF4-FFF2-40B4-BE49-F238E27FC236}">
                <a16:creationId xmlns:a16="http://schemas.microsoft.com/office/drawing/2014/main" id="{52070C51-BF20-C9D9-A8DF-E92E91C8299B}"/>
              </a:ext>
            </a:extLst>
          </p:cNvPr>
          <p:cNvPicPr>
            <a:picLocks noChangeAspect="1"/>
          </p:cNvPicPr>
          <p:nvPr/>
        </p:nvPicPr>
        <p:blipFill>
          <a:blip r:embed="rId4"/>
          <a:stretch>
            <a:fillRect/>
          </a:stretch>
        </p:blipFill>
        <p:spPr>
          <a:xfrm>
            <a:off x="8045561" y="1353599"/>
            <a:ext cx="3167679" cy="1630800"/>
          </a:xfrm>
          <a:prstGeom prst="rect">
            <a:avLst/>
          </a:prstGeom>
        </p:spPr>
      </p:pic>
      <p:sp>
        <p:nvSpPr>
          <p:cNvPr id="3" name="CuadroTexto 2">
            <a:extLst>
              <a:ext uri="{FF2B5EF4-FFF2-40B4-BE49-F238E27FC236}">
                <a16:creationId xmlns:a16="http://schemas.microsoft.com/office/drawing/2014/main" id="{BE752D7B-035C-B1BB-2471-1B55D5097CE1}"/>
              </a:ext>
            </a:extLst>
          </p:cNvPr>
          <p:cNvSpPr txBox="1"/>
          <p:nvPr/>
        </p:nvSpPr>
        <p:spPr>
          <a:xfrm>
            <a:off x="1041722" y="4766266"/>
            <a:ext cx="10315253" cy="1229419"/>
          </a:xfrm>
          <a:prstGeom prst="rect">
            <a:avLst/>
          </a:prstGeom>
        </p:spPr>
        <p:txBody>
          <a:bodyPr vert="horz" lIns="91440" tIns="45720" rIns="91440" bIns="45720" rtlCol="0">
            <a:normAutofit/>
          </a:bodyPr>
          <a:lstStyle/>
          <a:p>
            <a:pPr>
              <a:lnSpc>
                <a:spcPct val="90000"/>
              </a:lnSpc>
              <a:spcAft>
                <a:spcPts val="600"/>
              </a:spcAft>
            </a:pPr>
            <a:r>
              <a:rPr lang="en-US" sz="2400" b="1" i="0" u="none" strike="noStrike" baseline="0" dirty="0">
                <a:solidFill>
                  <a:schemeClr val="bg1">
                    <a:alpha val="80000"/>
                  </a:schemeClr>
                </a:solidFill>
              </a:rPr>
              <a:t>Dado que la minima distancia es de 3.14 y se realiza entre los clústeres C y 7, los agrupamos en un nuevo clúster llamado E con los puntos del clúster C y el Punto 7.</a:t>
            </a:r>
            <a:endParaRPr lang="en-US" sz="2400" b="1" dirty="0">
              <a:solidFill>
                <a:schemeClr val="bg1">
                  <a:alpha val="80000"/>
                </a:schemeClr>
              </a:solidFill>
            </a:endParaRPr>
          </a:p>
        </p:txBody>
      </p:sp>
    </p:spTree>
    <p:extLst>
      <p:ext uri="{BB962C8B-B14F-4D97-AF65-F5344CB8AC3E}">
        <p14:creationId xmlns:p14="http://schemas.microsoft.com/office/powerpoint/2010/main" val="37111693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63AE8AE-F0F7-CFB3-6B77-BAAF59E31873}"/>
              </a:ext>
            </a:extLst>
          </p:cNvPr>
          <p:cNvPicPr>
            <a:picLocks noChangeAspect="1"/>
          </p:cNvPicPr>
          <p:nvPr/>
        </p:nvPicPr>
        <p:blipFill>
          <a:blip r:embed="rId2"/>
          <a:stretch>
            <a:fillRect/>
          </a:stretch>
        </p:blipFill>
        <p:spPr>
          <a:xfrm>
            <a:off x="621676" y="726959"/>
            <a:ext cx="5298894" cy="2437491"/>
          </a:xfrm>
          <a:prstGeom prst="rect">
            <a:avLst/>
          </a:prstGeom>
        </p:spPr>
      </p:pic>
      <p:pic>
        <p:nvPicPr>
          <p:cNvPr id="7" name="Imagen 6">
            <a:extLst>
              <a:ext uri="{FF2B5EF4-FFF2-40B4-BE49-F238E27FC236}">
                <a16:creationId xmlns:a16="http://schemas.microsoft.com/office/drawing/2014/main" id="{12B0A72B-F8B1-99C6-8184-BD4FE3E17508}"/>
              </a:ext>
            </a:extLst>
          </p:cNvPr>
          <p:cNvPicPr>
            <a:picLocks noChangeAspect="1"/>
          </p:cNvPicPr>
          <p:nvPr/>
        </p:nvPicPr>
        <p:blipFill>
          <a:blip r:embed="rId3"/>
          <a:stretch>
            <a:fillRect/>
          </a:stretch>
        </p:blipFill>
        <p:spPr>
          <a:xfrm>
            <a:off x="621676" y="3841689"/>
            <a:ext cx="5298894" cy="2134075"/>
          </a:xfrm>
          <a:prstGeom prst="rect">
            <a:avLst/>
          </a:prstGeom>
        </p:spPr>
      </p:pic>
      <p:sp>
        <p:nvSpPr>
          <p:cNvPr id="8" name="CuadroTexto 7">
            <a:extLst>
              <a:ext uri="{FF2B5EF4-FFF2-40B4-BE49-F238E27FC236}">
                <a16:creationId xmlns:a16="http://schemas.microsoft.com/office/drawing/2014/main" id="{96FA55B4-8DC9-6851-D9F7-E46B326CEEF8}"/>
              </a:ext>
            </a:extLst>
          </p:cNvPr>
          <p:cNvSpPr txBox="1"/>
          <p:nvPr/>
        </p:nvSpPr>
        <p:spPr>
          <a:xfrm>
            <a:off x="7083706" y="1724628"/>
            <a:ext cx="3515869" cy="3233037"/>
          </a:xfrm>
          <a:prstGeom prst="rect">
            <a:avLst/>
          </a:prstGeom>
        </p:spPr>
        <p:txBody>
          <a:bodyPr vert="horz" lIns="91440" tIns="45720" rIns="91440" bIns="45720" rtlCol="0" anchor="t">
            <a:normAutofit fontScale="92500" lnSpcReduction="10000"/>
          </a:bodyPr>
          <a:lstStyle/>
          <a:p>
            <a:pPr>
              <a:lnSpc>
                <a:spcPct val="90000"/>
              </a:lnSpc>
              <a:spcAft>
                <a:spcPts val="600"/>
              </a:spcAft>
            </a:pPr>
            <a:r>
              <a:rPr lang="en-US" sz="3600" dirty="0" err="1"/>
              <a:t>Finalmente</a:t>
            </a:r>
            <a:r>
              <a:rPr lang="en-US" sz="3600" dirty="0"/>
              <a:t> </a:t>
            </a:r>
            <a:r>
              <a:rPr lang="en-US" sz="3600" dirty="0" err="1"/>
              <a:t>nos</a:t>
            </a:r>
            <a:r>
              <a:rPr lang="en-US" sz="3600" dirty="0"/>
              <a:t> </a:t>
            </a:r>
            <a:r>
              <a:rPr lang="en-US" sz="3600" dirty="0" err="1"/>
              <a:t>han</a:t>
            </a:r>
            <a:r>
              <a:rPr lang="en-US" sz="3600" dirty="0"/>
              <a:t> </a:t>
            </a:r>
            <a:r>
              <a:rPr lang="en-US" sz="3600" dirty="0" err="1"/>
              <a:t>quedado</a:t>
            </a:r>
            <a:r>
              <a:rPr lang="en-US" sz="3600" dirty="0"/>
              <a:t> sólo dos </a:t>
            </a:r>
            <a:r>
              <a:rPr lang="en-US" sz="3600" dirty="0" err="1"/>
              <a:t>clusteres</a:t>
            </a:r>
            <a:r>
              <a:rPr lang="en-US" sz="3600" dirty="0"/>
              <a:t>.</a:t>
            </a:r>
          </a:p>
          <a:p>
            <a:pPr>
              <a:lnSpc>
                <a:spcPct val="90000"/>
              </a:lnSpc>
              <a:spcAft>
                <a:spcPts val="600"/>
              </a:spcAft>
            </a:pPr>
            <a:r>
              <a:rPr lang="en-US" sz="3600" dirty="0"/>
              <a:t>En el </a:t>
            </a:r>
            <a:r>
              <a:rPr lang="en-US" sz="3600" dirty="0" err="1"/>
              <a:t>próximo</a:t>
            </a:r>
            <a:r>
              <a:rPr lang="en-US" sz="3600" dirty="0"/>
              <a:t> paso no hay </a:t>
            </a:r>
            <a:r>
              <a:rPr lang="en-US" sz="3600" dirty="0" err="1"/>
              <a:t>otra</a:t>
            </a:r>
            <a:r>
              <a:rPr lang="en-US" sz="3600" dirty="0"/>
              <a:t> </a:t>
            </a:r>
            <a:r>
              <a:rPr lang="en-US" sz="3600" dirty="0" err="1"/>
              <a:t>opción</a:t>
            </a:r>
            <a:r>
              <a:rPr lang="en-US" sz="3600" dirty="0"/>
              <a:t> que </a:t>
            </a:r>
            <a:r>
              <a:rPr lang="en-US" sz="3600" dirty="0" err="1"/>
              <a:t>unirlos</a:t>
            </a:r>
            <a:r>
              <a:rPr lang="en-US" sz="3600" dirty="0"/>
              <a:t>.</a:t>
            </a:r>
          </a:p>
        </p:txBody>
      </p:sp>
    </p:spTree>
    <p:extLst>
      <p:ext uri="{BB962C8B-B14F-4D97-AF65-F5344CB8AC3E}">
        <p14:creationId xmlns:p14="http://schemas.microsoft.com/office/powerpoint/2010/main" val="450198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E36A2F0-1B87-F186-217C-358A608D0FB2}"/>
              </a:ext>
            </a:extLst>
          </p:cNvPr>
          <p:cNvPicPr>
            <a:picLocks noChangeAspect="1"/>
          </p:cNvPicPr>
          <p:nvPr/>
        </p:nvPicPr>
        <p:blipFill>
          <a:blip r:embed="rId2"/>
          <a:stretch>
            <a:fillRect/>
          </a:stretch>
        </p:blipFill>
        <p:spPr>
          <a:xfrm>
            <a:off x="6677026" y="1372296"/>
            <a:ext cx="4571936" cy="4090090"/>
          </a:xfrm>
          <a:prstGeom prst="rect">
            <a:avLst/>
          </a:prstGeom>
        </p:spPr>
      </p:pic>
      <p:sp>
        <p:nvSpPr>
          <p:cNvPr id="4" name="CuadroTexto 3">
            <a:extLst>
              <a:ext uri="{FF2B5EF4-FFF2-40B4-BE49-F238E27FC236}">
                <a16:creationId xmlns:a16="http://schemas.microsoft.com/office/drawing/2014/main" id="{E20364DA-BBC9-61E2-3FBC-A77DA3F3336B}"/>
              </a:ext>
            </a:extLst>
          </p:cNvPr>
          <p:cNvSpPr txBox="1"/>
          <p:nvPr/>
        </p:nvSpPr>
        <p:spPr>
          <a:xfrm>
            <a:off x="1063023" y="2211115"/>
            <a:ext cx="5501548" cy="2573579"/>
          </a:xfrm>
          <a:prstGeom prst="rect">
            <a:avLst/>
          </a:prstGeom>
        </p:spPr>
        <p:txBody>
          <a:bodyPr vert="horz" lIns="91440" tIns="45720" rIns="91440" bIns="45720" rtlCol="0" anchor="t">
            <a:normAutofit/>
          </a:bodyPr>
          <a:lstStyle/>
          <a:p>
            <a:pPr>
              <a:lnSpc>
                <a:spcPct val="90000"/>
              </a:lnSpc>
              <a:spcAft>
                <a:spcPts val="600"/>
              </a:spcAft>
            </a:pPr>
            <a:r>
              <a:rPr lang="en-US" sz="4400" b="1" dirty="0">
                <a:solidFill>
                  <a:schemeClr val="bg1"/>
                </a:solidFill>
              </a:rPr>
              <a:t>Dendrograma: resume </a:t>
            </a:r>
            <a:r>
              <a:rPr lang="en-US" sz="4400" b="1" dirty="0" err="1">
                <a:solidFill>
                  <a:schemeClr val="bg1"/>
                </a:solidFill>
              </a:rPr>
              <a:t>todo</a:t>
            </a:r>
            <a:r>
              <a:rPr lang="en-US" sz="4400" b="1" dirty="0">
                <a:solidFill>
                  <a:schemeClr val="bg1"/>
                </a:solidFill>
              </a:rPr>
              <a:t> el proceso</a:t>
            </a:r>
          </a:p>
        </p:txBody>
      </p:sp>
    </p:spTree>
    <p:extLst>
      <p:ext uri="{BB962C8B-B14F-4D97-AF65-F5344CB8AC3E}">
        <p14:creationId xmlns:p14="http://schemas.microsoft.com/office/powerpoint/2010/main" val="6174297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062333F-6501-E361-AC3F-AEB99F7B0CEE}"/>
              </a:ext>
            </a:extLst>
          </p:cNvPr>
          <p:cNvPicPr>
            <a:picLocks noChangeAspect="1"/>
          </p:cNvPicPr>
          <p:nvPr/>
        </p:nvPicPr>
        <p:blipFill rotWithShape="1">
          <a:blip r:embed="rId2"/>
          <a:srcRect r="4361" b="-1"/>
          <a:stretch/>
        </p:blipFill>
        <p:spPr>
          <a:xfrm>
            <a:off x="20" y="10"/>
            <a:ext cx="7390243" cy="6857990"/>
          </a:xfrm>
          <a:prstGeom prst="rect">
            <a:avLst/>
          </a:prstGeom>
        </p:spPr>
      </p:pic>
      <p:sp>
        <p:nvSpPr>
          <p:cNvPr id="4" name="CuadroTexto 3">
            <a:extLst>
              <a:ext uri="{FF2B5EF4-FFF2-40B4-BE49-F238E27FC236}">
                <a16:creationId xmlns:a16="http://schemas.microsoft.com/office/drawing/2014/main" id="{D0CE4CC4-CB43-35FB-FBF3-39514E98A4D6}"/>
              </a:ext>
            </a:extLst>
          </p:cNvPr>
          <p:cNvSpPr txBox="1"/>
          <p:nvPr/>
        </p:nvSpPr>
        <p:spPr>
          <a:xfrm>
            <a:off x="8079978" y="2533476"/>
            <a:ext cx="3369234" cy="3447832"/>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dirty="0"/>
              <a:t>La cantidad de clústeres la </a:t>
            </a:r>
            <a:r>
              <a:rPr lang="en-US" sz="3600" dirty="0" err="1"/>
              <a:t>determina</a:t>
            </a:r>
            <a:r>
              <a:rPr lang="en-US" sz="3600" dirty="0"/>
              <a:t> la </a:t>
            </a:r>
            <a:r>
              <a:rPr lang="en-US" sz="3600" dirty="0" err="1"/>
              <a:t>altura</a:t>
            </a:r>
            <a:r>
              <a:rPr lang="en-US" sz="3600" dirty="0"/>
              <a:t> de la recta que </a:t>
            </a:r>
            <a:r>
              <a:rPr lang="en-US" sz="3600" dirty="0" err="1"/>
              <a:t>trazamos</a:t>
            </a:r>
            <a:endParaRPr lang="en-US" sz="3600" dirty="0"/>
          </a:p>
        </p:txBody>
      </p:sp>
    </p:spTree>
    <p:extLst>
      <p:ext uri="{BB962C8B-B14F-4D97-AF65-F5344CB8AC3E}">
        <p14:creationId xmlns:p14="http://schemas.microsoft.com/office/powerpoint/2010/main" val="3650663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6: The three linkage types of hierarchical clustering: single-link,... |  Download Scientific Diagram">
            <a:extLst>
              <a:ext uri="{FF2B5EF4-FFF2-40B4-BE49-F238E27FC236}">
                <a16:creationId xmlns:a16="http://schemas.microsoft.com/office/drawing/2014/main" id="{26DA47DD-3DAF-1AAD-A5ED-68FFEFDC914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14500" y="3342398"/>
            <a:ext cx="10294566" cy="3036897"/>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95FAD61E-1D96-C138-9661-10FC7E7CC18E}"/>
              </a:ext>
            </a:extLst>
          </p:cNvPr>
          <p:cNvSpPr txBox="1"/>
          <p:nvPr/>
        </p:nvSpPr>
        <p:spPr>
          <a:xfrm>
            <a:off x="789707" y="578999"/>
            <a:ext cx="10744153" cy="1618388"/>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800" b="1" kern="1200" dirty="0">
                <a:solidFill>
                  <a:schemeClr val="bg1"/>
                </a:solidFill>
                <a:latin typeface="+mj-lt"/>
                <a:ea typeface="+mj-ea"/>
                <a:cs typeface="+mj-cs"/>
              </a:rPr>
              <a:t>¿Cómo se </a:t>
            </a:r>
            <a:r>
              <a:rPr lang="en-US" sz="4800" b="1" kern="1200" dirty="0" err="1">
                <a:solidFill>
                  <a:schemeClr val="bg1"/>
                </a:solidFill>
                <a:latin typeface="+mj-lt"/>
                <a:ea typeface="+mj-ea"/>
                <a:cs typeface="+mj-cs"/>
              </a:rPr>
              <a:t>mide</a:t>
            </a:r>
            <a:r>
              <a:rPr lang="en-US" sz="4800" b="1" kern="1200" dirty="0">
                <a:solidFill>
                  <a:schemeClr val="bg1"/>
                </a:solidFill>
                <a:latin typeface="+mj-lt"/>
                <a:ea typeface="+mj-ea"/>
                <a:cs typeface="+mj-cs"/>
              </a:rPr>
              <a:t> la distancia entre clústeres?</a:t>
            </a:r>
          </a:p>
        </p:txBody>
      </p:sp>
    </p:spTree>
    <p:extLst>
      <p:ext uri="{BB962C8B-B14F-4D97-AF65-F5344CB8AC3E}">
        <p14:creationId xmlns:p14="http://schemas.microsoft.com/office/powerpoint/2010/main" val="800752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12FFACF-9268-3B59-DEC8-687B4B7905CD}"/>
              </a:ext>
            </a:extLst>
          </p:cNvPr>
          <p:cNvPicPr>
            <a:picLocks noChangeAspect="1"/>
          </p:cNvPicPr>
          <p:nvPr/>
        </p:nvPicPr>
        <p:blipFill rotWithShape="1">
          <a:blip r:embed="rId2"/>
          <a:srcRect l="411" r="13531" b="-1"/>
          <a:stretch/>
        </p:blipFill>
        <p:spPr>
          <a:xfrm>
            <a:off x="3242695" y="10"/>
            <a:ext cx="8949307" cy="6857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p:spPr>
      </p:pic>
      <p:sp>
        <p:nvSpPr>
          <p:cNvPr id="6" name="CuadroTexto 5">
            <a:extLst>
              <a:ext uri="{FF2B5EF4-FFF2-40B4-BE49-F238E27FC236}">
                <a16:creationId xmlns:a16="http://schemas.microsoft.com/office/drawing/2014/main" id="{CA21BBD5-01E7-0451-E58A-E68B7D1B0658}"/>
              </a:ext>
            </a:extLst>
          </p:cNvPr>
          <p:cNvSpPr txBox="1"/>
          <p:nvPr/>
        </p:nvSpPr>
        <p:spPr>
          <a:xfrm>
            <a:off x="371094"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dirty="0"/>
              <a:t>La </a:t>
            </a:r>
            <a:r>
              <a:rPr lang="en-US" sz="1700" dirty="0" err="1"/>
              <a:t>decisión</a:t>
            </a:r>
            <a:r>
              <a:rPr lang="en-US" sz="1700" dirty="0"/>
              <a:t> </a:t>
            </a:r>
            <a:r>
              <a:rPr lang="en-US" sz="1700" dirty="0" err="1"/>
              <a:t>sobre</a:t>
            </a:r>
            <a:r>
              <a:rPr lang="en-US" sz="1700" dirty="0"/>
              <a:t> la cantidad</a:t>
            </a:r>
          </a:p>
          <a:p>
            <a:pPr indent="-228600">
              <a:lnSpc>
                <a:spcPct val="90000"/>
              </a:lnSpc>
              <a:spcAft>
                <a:spcPts val="600"/>
              </a:spcAft>
              <a:buFont typeface="Arial" panose="020B0604020202020204" pitchFamily="34" charset="0"/>
              <a:buChar char="•"/>
            </a:pPr>
            <a:r>
              <a:rPr lang="en-US" sz="1700" dirty="0"/>
              <a:t> de </a:t>
            </a:r>
            <a:r>
              <a:rPr lang="en-US" sz="1700" dirty="0" err="1"/>
              <a:t>conglomerados</a:t>
            </a:r>
            <a:r>
              <a:rPr lang="en-US" sz="1700" dirty="0"/>
              <a:t> es </a:t>
            </a:r>
            <a:r>
              <a:rPr lang="en-US" sz="1700" dirty="0" err="1"/>
              <a:t>subjetiva</a:t>
            </a:r>
            <a:r>
              <a:rPr lang="en-US" sz="1700" dirty="0"/>
              <a:t>.</a:t>
            </a:r>
          </a:p>
        </p:txBody>
      </p:sp>
    </p:spTree>
    <p:extLst>
      <p:ext uri="{BB962C8B-B14F-4D97-AF65-F5344CB8AC3E}">
        <p14:creationId xmlns:p14="http://schemas.microsoft.com/office/powerpoint/2010/main" val="4148753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lustering: la fórmula secreta para llegar mejor a tus clientes - Keyrus |  Insights">
            <a:extLst>
              <a:ext uri="{FF2B5EF4-FFF2-40B4-BE49-F238E27FC236}">
                <a16:creationId xmlns:a16="http://schemas.microsoft.com/office/drawing/2014/main" id="{C12D7774-2BC1-8F0E-C6B7-645142D20F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65" b="-1"/>
          <a:stretch/>
        </p:blipFill>
        <p:spPr bwMode="auto">
          <a:xfrm>
            <a:off x="20" y="-1"/>
            <a:ext cx="12191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B83213DA-3042-CE00-0516-EABB4511FCB1}"/>
              </a:ext>
            </a:extLst>
          </p:cNvPr>
          <p:cNvSpPr txBox="1"/>
          <p:nvPr/>
        </p:nvSpPr>
        <p:spPr>
          <a:xfrm>
            <a:off x="0" y="4170412"/>
            <a:ext cx="11356975" cy="2571841"/>
          </a:xfrm>
          <a:prstGeom prst="rect">
            <a:avLst/>
          </a:prstGeom>
        </p:spPr>
        <p:txBody>
          <a:bodyPr vert="horz" lIns="91440" tIns="45720" rIns="91440" bIns="45720" rtlCol="0">
            <a:normAutofit lnSpcReduction="10000"/>
          </a:bodyPr>
          <a:lstStyle/>
          <a:p>
            <a:pPr indent="-228600">
              <a:lnSpc>
                <a:spcPct val="90000"/>
              </a:lnSpc>
              <a:spcAft>
                <a:spcPts val="600"/>
              </a:spcAft>
              <a:buFont typeface="Arial" panose="020B0604020202020204" pitchFamily="34" charset="0"/>
              <a:buChar char="•"/>
            </a:pPr>
            <a:r>
              <a:rPr lang="en-US" sz="1600" b="0" i="0" u="none" strike="noStrike" baseline="0" dirty="0">
                <a:solidFill>
                  <a:schemeClr val="bg1">
                    <a:alpha val="80000"/>
                  </a:schemeClr>
                </a:solidFill>
              </a:rPr>
              <a:t>K Medias</a:t>
            </a:r>
          </a:p>
          <a:p>
            <a:pPr indent="-228600">
              <a:lnSpc>
                <a:spcPct val="90000"/>
              </a:lnSpc>
              <a:spcAft>
                <a:spcPts val="600"/>
              </a:spcAft>
              <a:buFont typeface="Arial" panose="020B0604020202020204" pitchFamily="34" charset="0"/>
              <a:buChar char="•"/>
            </a:pPr>
            <a:r>
              <a:rPr lang="en-US" sz="1600" b="0" i="0" u="none" strike="noStrike" baseline="0" dirty="0">
                <a:solidFill>
                  <a:schemeClr val="bg1">
                    <a:alpha val="80000"/>
                  </a:schemeClr>
                </a:solidFill>
              </a:rPr>
              <a:t>Es el más popular de los </a:t>
            </a:r>
            <a:r>
              <a:rPr lang="en-US" sz="1600" b="1" i="0" u="none" strike="noStrike" baseline="0" dirty="0" err="1">
                <a:solidFill>
                  <a:schemeClr val="bg1">
                    <a:alpha val="80000"/>
                  </a:schemeClr>
                </a:solidFill>
              </a:rPr>
              <a:t>algoritmos</a:t>
            </a:r>
            <a:r>
              <a:rPr lang="en-US" sz="1600" b="1" i="0" u="none" strike="noStrike" baseline="0" dirty="0">
                <a:solidFill>
                  <a:schemeClr val="bg1">
                    <a:alpha val="80000"/>
                  </a:schemeClr>
                </a:solidFill>
              </a:rPr>
              <a:t> no </a:t>
            </a:r>
            <a:r>
              <a:rPr lang="en-US" sz="1600" b="1" i="0" u="none" strike="noStrike" baseline="0" dirty="0" err="1">
                <a:solidFill>
                  <a:schemeClr val="bg1">
                    <a:alpha val="80000"/>
                  </a:schemeClr>
                </a:solidFill>
              </a:rPr>
              <a:t>jerárquicos</a:t>
            </a:r>
            <a:r>
              <a:rPr lang="en-US" sz="1600" b="0" i="0" u="none" strike="noStrike" baseline="0" dirty="0">
                <a:solidFill>
                  <a:schemeClr val="bg1">
                    <a:alpha val="80000"/>
                  </a:schemeClr>
                </a:solidFill>
              </a:rPr>
              <a:t>. La cantidad de </a:t>
            </a:r>
            <a:r>
              <a:rPr lang="en-US" sz="1600" b="0" i="0" u="none" strike="noStrike" baseline="0" dirty="0" err="1">
                <a:solidFill>
                  <a:schemeClr val="bg1">
                    <a:alpha val="80000"/>
                  </a:schemeClr>
                </a:solidFill>
              </a:rPr>
              <a:t>conglomerados</a:t>
            </a:r>
            <a:r>
              <a:rPr lang="en-US" sz="1600" b="0" i="0" u="none" strike="noStrike" baseline="0" dirty="0">
                <a:solidFill>
                  <a:schemeClr val="bg1">
                    <a:alpha val="80000"/>
                  </a:schemeClr>
                </a:solidFill>
              </a:rPr>
              <a:t> es un </a:t>
            </a:r>
            <a:r>
              <a:rPr lang="en-US" sz="1600" b="0" i="0" u="none" strike="noStrike" baseline="0" dirty="0" err="1">
                <a:solidFill>
                  <a:schemeClr val="bg1">
                    <a:alpha val="80000"/>
                  </a:schemeClr>
                </a:solidFill>
              </a:rPr>
              <a:t>dato</a:t>
            </a:r>
            <a:r>
              <a:rPr lang="en-US" sz="1600" b="0" i="0" u="none" strike="noStrike" baseline="0" dirty="0">
                <a:solidFill>
                  <a:schemeClr val="bg1">
                    <a:alpha val="80000"/>
                  </a:schemeClr>
                </a:solidFill>
              </a:rPr>
              <a:t> de entrada. </a:t>
            </a:r>
          </a:p>
          <a:p>
            <a:pPr indent="-228600">
              <a:lnSpc>
                <a:spcPct val="90000"/>
              </a:lnSpc>
              <a:spcAft>
                <a:spcPts val="600"/>
              </a:spcAft>
              <a:buFont typeface="Arial" panose="020B0604020202020204" pitchFamily="34" charset="0"/>
              <a:buChar char="•"/>
            </a:pPr>
            <a:endParaRPr lang="en-US" sz="1600" dirty="0">
              <a:solidFill>
                <a:schemeClr val="bg1">
                  <a:alpha val="80000"/>
                </a:schemeClr>
              </a:solidFill>
            </a:endParaRPr>
          </a:p>
          <a:p>
            <a:pPr indent="-228600">
              <a:lnSpc>
                <a:spcPct val="90000"/>
              </a:lnSpc>
              <a:spcAft>
                <a:spcPts val="600"/>
              </a:spcAft>
              <a:buFont typeface="Arial" panose="020B0604020202020204" pitchFamily="34" charset="0"/>
              <a:buChar char="•"/>
            </a:pPr>
            <a:r>
              <a:rPr lang="en-US" sz="1600" b="0" i="0" u="none" strike="noStrike" baseline="0" dirty="0">
                <a:solidFill>
                  <a:schemeClr val="bg1">
                    <a:alpha val="80000"/>
                  </a:schemeClr>
                </a:solidFill>
              </a:rPr>
              <a:t>Este algoritmo se </a:t>
            </a:r>
            <a:r>
              <a:rPr lang="en-US" sz="1600" b="0" i="0" u="none" strike="noStrike" baseline="0" dirty="0" err="1">
                <a:solidFill>
                  <a:schemeClr val="bg1">
                    <a:alpha val="80000"/>
                  </a:schemeClr>
                </a:solidFill>
              </a:rPr>
              <a:t>implementa</a:t>
            </a:r>
            <a:r>
              <a:rPr lang="en-US" sz="1600" b="0" i="0" u="none" strike="noStrike" baseline="0" dirty="0">
                <a:solidFill>
                  <a:schemeClr val="bg1">
                    <a:alpha val="80000"/>
                  </a:schemeClr>
                </a:solidFill>
              </a:rPr>
              <a:t> en los </a:t>
            </a:r>
            <a:r>
              <a:rPr lang="en-US" sz="1600" b="0" i="0" u="none" strike="noStrike" baseline="0" dirty="0" err="1">
                <a:solidFill>
                  <a:schemeClr val="bg1">
                    <a:alpha val="80000"/>
                  </a:schemeClr>
                </a:solidFill>
              </a:rPr>
              <a:t>siguientes</a:t>
            </a:r>
            <a:r>
              <a:rPr lang="en-US" sz="1600" b="0" i="0" u="none" strike="noStrike" baseline="0" dirty="0">
                <a:solidFill>
                  <a:schemeClr val="bg1">
                    <a:alpha val="80000"/>
                  </a:schemeClr>
                </a:solidFill>
              </a:rPr>
              <a:t> cuatro pasos.</a:t>
            </a:r>
          </a:p>
          <a:p>
            <a:pPr indent="-228600">
              <a:lnSpc>
                <a:spcPct val="90000"/>
              </a:lnSpc>
              <a:spcAft>
                <a:spcPts val="600"/>
              </a:spcAft>
              <a:buFont typeface="Arial" panose="020B0604020202020204" pitchFamily="34" charset="0"/>
              <a:buChar char="•"/>
            </a:pPr>
            <a:r>
              <a:rPr lang="en-US" sz="1600" b="0" i="0" u="none" strike="noStrike" baseline="0" dirty="0" err="1">
                <a:solidFill>
                  <a:schemeClr val="bg1">
                    <a:alpha val="80000"/>
                  </a:schemeClr>
                </a:solidFill>
              </a:rPr>
              <a:t>i</a:t>
            </a:r>
            <a:r>
              <a:rPr lang="en-US" sz="1600" b="0" i="0" u="none" strike="noStrike" baseline="0" dirty="0">
                <a:solidFill>
                  <a:schemeClr val="bg1">
                    <a:alpha val="80000"/>
                  </a:schemeClr>
                </a:solidFill>
              </a:rPr>
              <a:t>) Se divide a los </a:t>
            </a:r>
            <a:r>
              <a:rPr lang="en-US" sz="1600" b="0" i="1" u="none" strike="noStrike" baseline="0" dirty="0">
                <a:solidFill>
                  <a:schemeClr val="bg1">
                    <a:alpha val="80000"/>
                  </a:schemeClr>
                </a:solidFill>
              </a:rPr>
              <a:t>n </a:t>
            </a:r>
            <a:r>
              <a:rPr lang="en-US" sz="1600" b="0" i="0" u="none" strike="noStrike" baseline="0" dirty="0">
                <a:solidFill>
                  <a:schemeClr val="bg1">
                    <a:alpha val="80000"/>
                  </a:schemeClr>
                </a:solidFill>
              </a:rPr>
              <a:t>objetos en </a:t>
            </a:r>
            <a:r>
              <a:rPr lang="en-US" sz="1600" b="0" i="1" u="none" strike="noStrike" baseline="0" dirty="0">
                <a:solidFill>
                  <a:schemeClr val="bg1">
                    <a:alpha val="80000"/>
                  </a:schemeClr>
                </a:solidFill>
              </a:rPr>
              <a:t>k </a:t>
            </a:r>
            <a:r>
              <a:rPr lang="en-US" sz="1600" b="0" i="0" u="none" strike="noStrike" baseline="0" dirty="0" err="1">
                <a:solidFill>
                  <a:schemeClr val="bg1">
                    <a:alpha val="80000"/>
                  </a:schemeClr>
                </a:solidFill>
              </a:rPr>
              <a:t>subconjuntos</a:t>
            </a:r>
            <a:r>
              <a:rPr lang="en-US" sz="1600" b="0" i="0" u="none" strike="noStrike" baseline="0" dirty="0">
                <a:solidFill>
                  <a:schemeClr val="bg1">
                    <a:alpha val="80000"/>
                  </a:schemeClr>
                </a:solidFill>
              </a:rPr>
              <a:t> no </a:t>
            </a:r>
            <a:r>
              <a:rPr lang="en-US" sz="1600" b="0" i="0" u="none" strike="noStrike" baseline="0" dirty="0" err="1">
                <a:solidFill>
                  <a:schemeClr val="bg1">
                    <a:alpha val="80000"/>
                  </a:schemeClr>
                </a:solidFill>
              </a:rPr>
              <a:t>vacíos</a:t>
            </a:r>
            <a:r>
              <a:rPr lang="en-US" sz="1600" b="0" i="0" u="none" strike="noStrike" baseline="0" dirty="0">
                <a:solidFill>
                  <a:schemeClr val="bg1">
                    <a:alpha val="80000"/>
                  </a:schemeClr>
                </a:solidFill>
              </a:rPr>
              <a:t>.</a:t>
            </a:r>
          </a:p>
          <a:p>
            <a:pPr indent="-228600">
              <a:lnSpc>
                <a:spcPct val="90000"/>
              </a:lnSpc>
              <a:spcAft>
                <a:spcPts val="600"/>
              </a:spcAft>
              <a:buFont typeface="Arial" panose="020B0604020202020204" pitchFamily="34" charset="0"/>
              <a:buChar char="•"/>
            </a:pPr>
            <a:r>
              <a:rPr lang="en-US" sz="1600" b="0" i="0" u="none" strike="noStrike" baseline="0" dirty="0">
                <a:solidFill>
                  <a:schemeClr val="bg1">
                    <a:alpha val="80000"/>
                  </a:schemeClr>
                </a:solidFill>
              </a:rPr>
              <a:t>ii) Se </a:t>
            </a:r>
            <a:r>
              <a:rPr lang="en-US" sz="1600" b="0" i="0" u="none" strike="noStrike" baseline="0" dirty="0" err="1">
                <a:solidFill>
                  <a:schemeClr val="bg1">
                    <a:alpha val="80000"/>
                  </a:schemeClr>
                </a:solidFill>
              </a:rPr>
              <a:t>asigna</a:t>
            </a:r>
            <a:r>
              <a:rPr lang="en-US" sz="1600" b="0" i="0" u="none" strike="noStrike" baseline="0" dirty="0">
                <a:solidFill>
                  <a:schemeClr val="bg1">
                    <a:alpha val="80000"/>
                  </a:schemeClr>
                </a:solidFill>
              </a:rPr>
              <a:t> cada </a:t>
            </a:r>
            <a:r>
              <a:rPr lang="en-US" sz="1600" b="0" i="0" u="none" strike="noStrike" baseline="0" dirty="0" err="1">
                <a:solidFill>
                  <a:schemeClr val="bg1">
                    <a:alpha val="80000"/>
                  </a:schemeClr>
                </a:solidFill>
              </a:rPr>
              <a:t>elemento</a:t>
            </a:r>
            <a:r>
              <a:rPr lang="en-US" sz="1600" b="0" i="0" u="none" strike="noStrike" baseline="0" dirty="0">
                <a:solidFill>
                  <a:schemeClr val="bg1">
                    <a:alpha val="80000"/>
                  </a:schemeClr>
                </a:solidFill>
              </a:rPr>
              <a:t> a uno de los </a:t>
            </a:r>
            <a:r>
              <a:rPr lang="en-US" sz="1600" b="0" i="1" u="none" strike="noStrike" baseline="0" dirty="0">
                <a:solidFill>
                  <a:schemeClr val="bg1">
                    <a:alpha val="80000"/>
                  </a:schemeClr>
                </a:solidFill>
              </a:rPr>
              <a:t>k </a:t>
            </a:r>
            <a:r>
              <a:rPr lang="en-US" sz="1600" b="0" i="0" u="none" strike="noStrike" baseline="0" dirty="0">
                <a:solidFill>
                  <a:schemeClr val="bg1">
                    <a:alpha val="80000"/>
                  </a:schemeClr>
                </a:solidFill>
              </a:rPr>
              <a:t>clústeres, </a:t>
            </a:r>
            <a:r>
              <a:rPr lang="en-US" sz="1600" b="0" i="0" u="none" strike="noStrike" baseline="0" dirty="0" err="1">
                <a:solidFill>
                  <a:schemeClr val="bg1">
                    <a:alpha val="80000"/>
                  </a:schemeClr>
                </a:solidFill>
              </a:rPr>
              <a:t>cuando</a:t>
            </a:r>
            <a:r>
              <a:rPr lang="en-US" sz="1600" b="0" i="0" u="none" strike="noStrike" baseline="0" dirty="0">
                <a:solidFill>
                  <a:schemeClr val="bg1">
                    <a:alpha val="80000"/>
                  </a:schemeClr>
                </a:solidFill>
              </a:rPr>
              <a:t> la distancia al centroide de ese clúster es </a:t>
            </a:r>
            <a:r>
              <a:rPr lang="en-US" sz="1600" b="0" i="0" u="none" strike="noStrike" baseline="0" dirty="0" err="1">
                <a:solidFill>
                  <a:schemeClr val="bg1">
                    <a:alpha val="80000"/>
                  </a:schemeClr>
                </a:solidFill>
              </a:rPr>
              <a:t>mínima</a:t>
            </a:r>
            <a:r>
              <a:rPr lang="en-US" sz="1600" dirty="0">
                <a:solidFill>
                  <a:schemeClr val="bg1">
                    <a:alpha val="80000"/>
                  </a:schemeClr>
                </a:solidFill>
              </a:rPr>
              <a:t>, luego </a:t>
            </a:r>
            <a:r>
              <a:rPr lang="en-US" sz="1600" b="0" i="0" u="none" strike="noStrike" baseline="0" dirty="0">
                <a:solidFill>
                  <a:schemeClr val="bg1">
                    <a:alpha val="80000"/>
                  </a:schemeClr>
                </a:solidFill>
              </a:rPr>
              <a:t>se </a:t>
            </a:r>
            <a:r>
              <a:rPr lang="en-US" sz="1600" b="0" i="0" u="none" strike="noStrike" baseline="0" dirty="0" err="1">
                <a:solidFill>
                  <a:schemeClr val="bg1">
                    <a:alpha val="80000"/>
                  </a:schemeClr>
                </a:solidFill>
              </a:rPr>
              <a:t>vuelve</a:t>
            </a:r>
            <a:r>
              <a:rPr lang="en-US" sz="1600" b="0" i="0" u="none" strike="noStrike" baseline="0" dirty="0">
                <a:solidFill>
                  <a:schemeClr val="bg1">
                    <a:alpha val="80000"/>
                  </a:schemeClr>
                </a:solidFill>
              </a:rPr>
              <a:t> a calcular el centroide del nuevo </a:t>
            </a:r>
            <a:r>
              <a:rPr lang="en-US" sz="1600" b="0" i="1" u="none" strike="noStrike" baseline="0" dirty="0">
                <a:solidFill>
                  <a:schemeClr val="bg1">
                    <a:alpha val="80000"/>
                  </a:schemeClr>
                </a:solidFill>
              </a:rPr>
              <a:t>cluster</a:t>
            </a:r>
            <a:r>
              <a:rPr lang="en-US" sz="1600" b="0" i="0" u="none" strike="noStrike" baseline="0" dirty="0">
                <a:solidFill>
                  <a:schemeClr val="bg1">
                    <a:alpha val="80000"/>
                  </a:schemeClr>
                </a:solidFill>
              </a:rPr>
              <a:t>.</a:t>
            </a:r>
          </a:p>
          <a:p>
            <a:pPr indent="-228600">
              <a:lnSpc>
                <a:spcPct val="90000"/>
              </a:lnSpc>
              <a:spcAft>
                <a:spcPts val="600"/>
              </a:spcAft>
              <a:buFont typeface="Arial" panose="020B0604020202020204" pitchFamily="34" charset="0"/>
              <a:buChar char="•"/>
            </a:pPr>
            <a:r>
              <a:rPr lang="en-US" sz="1600" b="0" i="0" u="none" strike="noStrike" baseline="0" dirty="0">
                <a:solidFill>
                  <a:schemeClr val="bg1">
                    <a:alpha val="80000"/>
                  </a:schemeClr>
                </a:solidFill>
              </a:rPr>
              <a:t>iii) Se </a:t>
            </a:r>
            <a:r>
              <a:rPr lang="en-US" sz="1600" b="0" i="0" u="none" strike="noStrike" baseline="0" dirty="0" err="1">
                <a:solidFill>
                  <a:schemeClr val="bg1">
                    <a:alpha val="80000"/>
                  </a:schemeClr>
                </a:solidFill>
              </a:rPr>
              <a:t>reasigna</a:t>
            </a:r>
            <a:r>
              <a:rPr lang="en-US" sz="1600" b="0" i="0" u="none" strike="noStrike" baseline="0" dirty="0">
                <a:solidFill>
                  <a:schemeClr val="bg1">
                    <a:alpha val="80000"/>
                  </a:schemeClr>
                </a:solidFill>
              </a:rPr>
              <a:t> cada </a:t>
            </a:r>
            <a:r>
              <a:rPr lang="en-US" sz="1600" b="0" i="0" u="none" strike="noStrike" baseline="0" dirty="0" err="1">
                <a:solidFill>
                  <a:schemeClr val="bg1">
                    <a:alpha val="80000"/>
                  </a:schemeClr>
                </a:solidFill>
              </a:rPr>
              <a:t>objeto</a:t>
            </a:r>
            <a:r>
              <a:rPr lang="en-US" sz="1600" b="0" i="0" u="none" strike="noStrike" baseline="0" dirty="0">
                <a:solidFill>
                  <a:schemeClr val="bg1">
                    <a:alpha val="80000"/>
                  </a:schemeClr>
                </a:solidFill>
              </a:rPr>
              <a:t> al centroide de </a:t>
            </a:r>
            <a:r>
              <a:rPr lang="en-US" sz="1600" b="0" i="1" u="none" strike="noStrike" baseline="0" dirty="0">
                <a:solidFill>
                  <a:schemeClr val="bg1">
                    <a:alpha val="80000"/>
                  </a:schemeClr>
                </a:solidFill>
              </a:rPr>
              <a:t>cluster </a:t>
            </a:r>
            <a:r>
              <a:rPr lang="en-US" sz="1600" b="0" i="0" u="none" strike="noStrike" baseline="0" dirty="0">
                <a:solidFill>
                  <a:schemeClr val="bg1">
                    <a:alpha val="80000"/>
                  </a:schemeClr>
                </a:solidFill>
              </a:rPr>
              <a:t>más </a:t>
            </a:r>
            <a:r>
              <a:rPr lang="en-US" sz="1600" b="0" i="0" u="none" strike="noStrike" baseline="0" dirty="0" err="1">
                <a:solidFill>
                  <a:schemeClr val="bg1">
                    <a:alpha val="80000"/>
                  </a:schemeClr>
                </a:solidFill>
              </a:rPr>
              <a:t>cercano</a:t>
            </a:r>
            <a:r>
              <a:rPr lang="en-US" sz="1600" b="0" i="0" u="none" strike="noStrike" baseline="0" dirty="0">
                <a:solidFill>
                  <a:schemeClr val="bg1">
                    <a:alpha val="80000"/>
                  </a:schemeClr>
                </a:solidFill>
              </a:rPr>
              <a:t>.</a:t>
            </a:r>
          </a:p>
          <a:p>
            <a:pPr indent="-228600">
              <a:lnSpc>
                <a:spcPct val="90000"/>
              </a:lnSpc>
              <a:spcAft>
                <a:spcPts val="600"/>
              </a:spcAft>
              <a:buFont typeface="Arial" panose="020B0604020202020204" pitchFamily="34" charset="0"/>
              <a:buChar char="•"/>
            </a:pPr>
            <a:r>
              <a:rPr lang="en-US" sz="1600" b="0" i="0" u="none" strike="noStrike" baseline="0" dirty="0">
                <a:solidFill>
                  <a:schemeClr val="bg1">
                    <a:alpha val="80000"/>
                  </a:schemeClr>
                </a:solidFill>
              </a:rPr>
              <a:t>iv) Se </a:t>
            </a:r>
            <a:r>
              <a:rPr lang="en-US" sz="1600" b="0" i="0" u="none" strike="noStrike" baseline="0" dirty="0" err="1">
                <a:solidFill>
                  <a:schemeClr val="bg1">
                    <a:alpha val="80000"/>
                  </a:schemeClr>
                </a:solidFill>
              </a:rPr>
              <a:t>vuelve</a:t>
            </a:r>
            <a:r>
              <a:rPr lang="en-US" sz="1600" b="0" i="0" u="none" strike="noStrike" baseline="0" dirty="0">
                <a:solidFill>
                  <a:schemeClr val="bg1">
                    <a:alpha val="80000"/>
                  </a:schemeClr>
                </a:solidFill>
              </a:rPr>
              <a:t> al paso 2 y se </a:t>
            </a:r>
            <a:r>
              <a:rPr lang="en-US" sz="1600" b="0" i="0" u="none" strike="noStrike" baseline="0" dirty="0" err="1">
                <a:solidFill>
                  <a:schemeClr val="bg1">
                    <a:alpha val="80000"/>
                  </a:schemeClr>
                </a:solidFill>
              </a:rPr>
              <a:t>repite</a:t>
            </a:r>
            <a:r>
              <a:rPr lang="en-US" sz="1600" b="0" i="0" u="none" strike="noStrike" baseline="0" dirty="0">
                <a:solidFill>
                  <a:schemeClr val="bg1">
                    <a:alpha val="80000"/>
                  </a:schemeClr>
                </a:solidFill>
              </a:rPr>
              <a:t> hasta que no es necesario realizar </a:t>
            </a:r>
            <a:r>
              <a:rPr lang="en-US" sz="1600" b="0" i="0" u="none" strike="noStrike" baseline="0" dirty="0" err="1">
                <a:solidFill>
                  <a:schemeClr val="bg1">
                    <a:alpha val="80000"/>
                  </a:schemeClr>
                </a:solidFill>
              </a:rPr>
              <a:t>nuevas</a:t>
            </a:r>
            <a:r>
              <a:rPr lang="en-US" sz="1600" b="0" i="0" u="none" strike="noStrike" baseline="0" dirty="0">
                <a:solidFill>
                  <a:schemeClr val="bg1">
                    <a:alpha val="80000"/>
                  </a:schemeClr>
                </a:solidFill>
              </a:rPr>
              <a:t> </a:t>
            </a:r>
            <a:r>
              <a:rPr lang="en-US" sz="1600" b="0" i="0" u="none" strike="noStrike" baseline="0" dirty="0" err="1">
                <a:solidFill>
                  <a:schemeClr val="bg1">
                    <a:alpha val="80000"/>
                  </a:schemeClr>
                </a:solidFill>
              </a:rPr>
              <a:t>asignaciones</a:t>
            </a:r>
            <a:r>
              <a:rPr lang="en-US" sz="1600" b="0" i="0" u="none" strike="noStrike" baseline="0" dirty="0">
                <a:solidFill>
                  <a:schemeClr val="bg1">
                    <a:alpha val="80000"/>
                  </a:schemeClr>
                </a:solidFill>
              </a:rPr>
              <a:t>.</a:t>
            </a:r>
            <a:endParaRPr lang="en-US" sz="1600" dirty="0">
              <a:solidFill>
                <a:schemeClr val="bg1">
                  <a:alpha val="80000"/>
                </a:schemeClr>
              </a:solidFill>
            </a:endParaRPr>
          </a:p>
        </p:txBody>
      </p:sp>
    </p:spTree>
    <p:extLst>
      <p:ext uri="{BB962C8B-B14F-4D97-AF65-F5344CB8AC3E}">
        <p14:creationId xmlns:p14="http://schemas.microsoft.com/office/powerpoint/2010/main" val="3674387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416B64C-983D-E520-2E0B-3ACC72F7087E}"/>
              </a:ext>
            </a:extLst>
          </p:cNvPr>
          <p:cNvSpPr txBox="1"/>
          <p:nvPr/>
        </p:nvSpPr>
        <p:spPr>
          <a:xfrm>
            <a:off x="5345433" y="1434339"/>
            <a:ext cx="6299199" cy="1754326"/>
          </a:xfrm>
          <a:prstGeom prst="rect">
            <a:avLst/>
          </a:prstGeom>
          <a:noFill/>
        </p:spPr>
        <p:txBody>
          <a:bodyPr wrap="square">
            <a:spAutoFit/>
          </a:bodyPr>
          <a:lstStyle/>
          <a:p>
            <a:pPr algn="just"/>
            <a:r>
              <a:rPr lang="es-MX" b="1" i="0" dirty="0">
                <a:effectLst/>
                <a:latin typeface="Open Sans" panose="020B0606030504020204" pitchFamily="34" charset="0"/>
              </a:rPr>
              <a:t>Este método utiliza los valores de la inercia obtenidos tras aplicar el K-</a:t>
            </a:r>
            <a:r>
              <a:rPr lang="es-MX" b="1" i="0" dirty="0" err="1">
                <a:effectLst/>
                <a:latin typeface="Open Sans" panose="020B0606030504020204" pitchFamily="34" charset="0"/>
              </a:rPr>
              <a:t>means</a:t>
            </a:r>
            <a:r>
              <a:rPr lang="es-MX" b="1" i="0" dirty="0">
                <a:effectLst/>
                <a:latin typeface="Open Sans" panose="020B0606030504020204" pitchFamily="34" charset="0"/>
              </a:rPr>
              <a:t> a diferente número de Clusters (desde 1 a N Clusters), siendo la inercia la suma de las distancias al cuadrado de cada objeto del </a:t>
            </a:r>
            <a:r>
              <a:rPr lang="es-MX" b="1" i="0" dirty="0" err="1">
                <a:effectLst/>
                <a:latin typeface="Open Sans" panose="020B0606030504020204" pitchFamily="34" charset="0"/>
              </a:rPr>
              <a:t>Cluster</a:t>
            </a:r>
            <a:r>
              <a:rPr lang="es-MX" b="1" i="0" dirty="0">
                <a:effectLst/>
                <a:latin typeface="Open Sans" panose="020B0606030504020204" pitchFamily="34" charset="0"/>
              </a:rPr>
              <a:t> a su centroide:</a:t>
            </a:r>
          </a:p>
          <a:p>
            <a:pPr algn="just"/>
            <a:endParaRPr lang="es-MX" b="1" i="0" dirty="0">
              <a:effectLst/>
              <a:latin typeface="Open Sans" panose="020B0606030504020204" pitchFamily="34" charset="0"/>
            </a:endParaRPr>
          </a:p>
        </p:txBody>
      </p:sp>
      <p:sp>
        <p:nvSpPr>
          <p:cNvPr id="6" name="CuadroTexto 5">
            <a:extLst>
              <a:ext uri="{FF2B5EF4-FFF2-40B4-BE49-F238E27FC236}">
                <a16:creationId xmlns:a16="http://schemas.microsoft.com/office/drawing/2014/main" id="{D19347A3-E20A-3994-2BFA-7A38A044A494}"/>
              </a:ext>
            </a:extLst>
          </p:cNvPr>
          <p:cNvSpPr txBox="1"/>
          <p:nvPr/>
        </p:nvSpPr>
        <p:spPr>
          <a:xfrm>
            <a:off x="5501548" y="686545"/>
            <a:ext cx="4967111" cy="707886"/>
          </a:xfrm>
          <a:prstGeom prst="rect">
            <a:avLst/>
          </a:prstGeom>
          <a:solidFill>
            <a:schemeClr val="bg1">
              <a:lumMod val="95000"/>
            </a:schemeClr>
          </a:solidFill>
        </p:spPr>
        <p:txBody>
          <a:bodyPr wrap="square">
            <a:spAutoFit/>
          </a:bodyPr>
          <a:lstStyle/>
          <a:p>
            <a:pPr algn="just"/>
            <a:r>
              <a:rPr lang="es-MX" sz="2000" b="1" i="0" dirty="0">
                <a:effectLst/>
                <a:latin typeface="Open Sans" panose="020B0606030504020204" pitchFamily="34" charset="0"/>
              </a:rPr>
              <a:t>Método del codo (</a:t>
            </a:r>
            <a:r>
              <a:rPr lang="es-MX" sz="2000" b="1" i="0" dirty="0" err="1">
                <a:effectLst/>
                <a:latin typeface="Open Sans" panose="020B0606030504020204" pitchFamily="34" charset="0"/>
              </a:rPr>
              <a:t>Elbow</a:t>
            </a:r>
            <a:r>
              <a:rPr lang="es-MX" sz="2000" b="1" i="0" dirty="0">
                <a:effectLst/>
                <a:latin typeface="Open Sans" panose="020B0606030504020204" pitchFamily="34" charset="0"/>
              </a:rPr>
              <a:t> </a:t>
            </a:r>
            <a:r>
              <a:rPr lang="es-MX" sz="2000" b="1" i="0" dirty="0" err="1">
                <a:effectLst/>
                <a:latin typeface="Open Sans" panose="020B0606030504020204" pitchFamily="34" charset="0"/>
              </a:rPr>
              <a:t>Method</a:t>
            </a:r>
            <a:r>
              <a:rPr lang="es-MX" sz="2000" b="1" i="0" dirty="0">
                <a:effectLst/>
                <a:latin typeface="Open Sans" panose="020B0606030504020204" pitchFamily="34" charset="0"/>
              </a:rPr>
              <a:t>)</a:t>
            </a:r>
            <a:br>
              <a:rPr lang="es-MX" sz="2000" b="1" i="0" dirty="0">
                <a:effectLst/>
                <a:latin typeface="Open Sans" panose="020B0606030504020204" pitchFamily="34" charset="0"/>
              </a:rPr>
            </a:br>
            <a:endParaRPr lang="es-MX" sz="2000" b="1" i="0" dirty="0">
              <a:effectLst/>
              <a:latin typeface="Open Sans" panose="020B0606030504020204" pitchFamily="34" charset="0"/>
            </a:endParaRPr>
          </a:p>
        </p:txBody>
      </p:sp>
      <p:pic>
        <p:nvPicPr>
          <p:cNvPr id="7" name="Picture 4">
            <a:extLst>
              <a:ext uri="{FF2B5EF4-FFF2-40B4-BE49-F238E27FC236}">
                <a16:creationId xmlns:a16="http://schemas.microsoft.com/office/drawing/2014/main" id="{D329D5DF-E159-A001-E27E-65A652B3B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690" y="3182767"/>
            <a:ext cx="2544247" cy="979535"/>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85DC3EBD-C1FE-C757-4A46-E1BD7D5C92D6}"/>
              </a:ext>
            </a:extLst>
          </p:cNvPr>
          <p:cNvSpPr txBox="1"/>
          <p:nvPr/>
        </p:nvSpPr>
        <p:spPr>
          <a:xfrm>
            <a:off x="5501548" y="4499996"/>
            <a:ext cx="6094070" cy="1477328"/>
          </a:xfrm>
          <a:prstGeom prst="rect">
            <a:avLst/>
          </a:prstGeom>
          <a:noFill/>
        </p:spPr>
        <p:txBody>
          <a:bodyPr wrap="square">
            <a:spAutoFit/>
          </a:bodyPr>
          <a:lstStyle/>
          <a:p>
            <a:r>
              <a:rPr lang="es-MX" b="1" i="0" dirty="0">
                <a:effectLst/>
                <a:latin typeface="Open Sans" panose="020B0606030504020204" pitchFamily="34" charset="0"/>
              </a:rPr>
              <a:t>Con los valores de la inercia de K-</a:t>
            </a:r>
            <a:r>
              <a:rPr lang="es-MX" b="1" i="0" dirty="0" err="1">
                <a:effectLst/>
                <a:latin typeface="Open Sans" panose="020B0606030504020204" pitchFamily="34" charset="0"/>
              </a:rPr>
              <a:t>means</a:t>
            </a:r>
            <a:r>
              <a:rPr lang="es-MX" b="1" i="0" dirty="0">
                <a:effectLst/>
                <a:latin typeface="Open Sans" panose="020B0606030504020204" pitchFamily="34" charset="0"/>
              </a:rPr>
              <a:t> de 1 a N Clusters, representamos en una gráfica lineal la inercia respecto del número de Clusters. El punto en el que se observa ese cambio brusco (coco) nos indica el número óptimo de Clusters.</a:t>
            </a:r>
            <a:endParaRPr lang="es-AR" b="1" dirty="0"/>
          </a:p>
        </p:txBody>
      </p:sp>
      <p:pic>
        <p:nvPicPr>
          <p:cNvPr id="10" name="Picture 4">
            <a:extLst>
              <a:ext uri="{FF2B5EF4-FFF2-40B4-BE49-F238E27FC236}">
                <a16:creationId xmlns:a16="http://schemas.microsoft.com/office/drawing/2014/main" id="{4A3FE591-DE3C-6AFC-41E9-A6331FF42B43}"/>
              </a:ext>
            </a:extLst>
          </p:cNvPr>
          <p:cNvPicPr>
            <a:picLocks noChangeAspect="1"/>
          </p:cNvPicPr>
          <p:nvPr/>
        </p:nvPicPr>
        <p:blipFill rotWithShape="1">
          <a:blip r:embed="rId3"/>
          <a:srcRect l="10136" r="21971"/>
          <a:stretch/>
        </p:blipFill>
        <p:spPr>
          <a:xfrm>
            <a:off x="20" y="10"/>
            <a:ext cx="4656112"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401272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8503B19-4CFB-4EBD-5731-13768793D75F}"/>
              </a:ext>
            </a:extLst>
          </p:cNvPr>
          <p:cNvSpPr txBox="1"/>
          <p:nvPr/>
        </p:nvSpPr>
        <p:spPr>
          <a:xfrm>
            <a:off x="699714" y="353160"/>
            <a:ext cx="7091300" cy="89858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dirty="0">
                <a:solidFill>
                  <a:srgbClr val="FFFFFF"/>
                </a:solidFill>
                <a:latin typeface="+mj-lt"/>
                <a:ea typeface="+mj-ea"/>
                <a:cs typeface="+mj-cs"/>
              </a:rPr>
              <a:t>Método de Elbow o </a:t>
            </a:r>
            <a:r>
              <a:rPr lang="en-US" sz="4000" b="1" dirty="0" err="1">
                <a:solidFill>
                  <a:srgbClr val="FFFFFF"/>
                </a:solidFill>
                <a:latin typeface="+mj-lt"/>
                <a:ea typeface="+mj-ea"/>
                <a:cs typeface="+mj-cs"/>
              </a:rPr>
              <a:t>Codo</a:t>
            </a:r>
            <a:endParaRPr lang="en-US" sz="4000" b="1" dirty="0">
              <a:solidFill>
                <a:srgbClr val="FFFFFF"/>
              </a:solidFill>
              <a:latin typeface="+mj-lt"/>
              <a:ea typeface="+mj-ea"/>
              <a:cs typeface="+mj-cs"/>
            </a:endParaRPr>
          </a:p>
        </p:txBody>
      </p:sp>
      <p:pic>
        <p:nvPicPr>
          <p:cNvPr id="8194" name="Picture 2" descr="elbow_ds1_2">
            <a:extLst>
              <a:ext uri="{FF2B5EF4-FFF2-40B4-BE49-F238E27FC236}">
                <a16:creationId xmlns:a16="http://schemas.microsoft.com/office/drawing/2014/main" id="{E88C704D-99D7-23C6-C334-436207663BE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5748" y="2249673"/>
            <a:ext cx="5485686" cy="412797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Cluster3C">
            <a:extLst>
              <a:ext uri="{FF2B5EF4-FFF2-40B4-BE49-F238E27FC236}">
                <a16:creationId xmlns:a16="http://schemas.microsoft.com/office/drawing/2014/main" id="{5386AEC5-8291-01AC-2C66-58A87C1AF05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45165" y="2217815"/>
            <a:ext cx="5092777" cy="3997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267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gap_ds1">
            <a:extLst>
              <a:ext uri="{FF2B5EF4-FFF2-40B4-BE49-F238E27FC236}">
                <a16:creationId xmlns:a16="http://schemas.microsoft.com/office/drawing/2014/main" id="{A18E7B7B-BC1F-886D-B4B2-8DAEBC954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700" y="1298223"/>
            <a:ext cx="5762300" cy="458929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de flecha 4">
            <a:extLst>
              <a:ext uri="{FF2B5EF4-FFF2-40B4-BE49-F238E27FC236}">
                <a16:creationId xmlns:a16="http://schemas.microsoft.com/office/drawing/2014/main" id="{22C18FB4-C503-5801-1CF4-236334A0D3E9}"/>
              </a:ext>
            </a:extLst>
          </p:cNvPr>
          <p:cNvCxnSpPr>
            <a:cxnSpLocks/>
          </p:cNvCxnSpPr>
          <p:nvPr/>
        </p:nvCxnSpPr>
        <p:spPr>
          <a:xfrm flipH="1">
            <a:off x="7812911" y="1196622"/>
            <a:ext cx="1497939" cy="62060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aphicFrame>
        <p:nvGraphicFramePr>
          <p:cNvPr id="9220" name="CuadroTexto 2">
            <a:extLst>
              <a:ext uri="{FF2B5EF4-FFF2-40B4-BE49-F238E27FC236}">
                <a16:creationId xmlns:a16="http://schemas.microsoft.com/office/drawing/2014/main" id="{A527D5D7-C8B7-9AA5-DA55-C8437431D9FA}"/>
              </a:ext>
            </a:extLst>
          </p:cNvPr>
          <p:cNvGraphicFramePr/>
          <p:nvPr/>
        </p:nvGraphicFramePr>
        <p:xfrm>
          <a:off x="733778" y="1298223"/>
          <a:ext cx="5238044" cy="42165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17296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9D1AF47-661C-6F20-AEDE-4FF8BD2DDA89}"/>
              </a:ext>
            </a:extLst>
          </p:cNvPr>
          <p:cNvSpPr txBox="1"/>
          <p:nvPr/>
        </p:nvSpPr>
        <p:spPr>
          <a:xfrm>
            <a:off x="203200" y="416688"/>
            <a:ext cx="4680469" cy="6266333"/>
          </a:xfrm>
          <a:prstGeom prst="rect">
            <a:avLst/>
          </a:prstGeom>
        </p:spPr>
        <p:txBody>
          <a:bodyPr vert="horz" lIns="91440" tIns="45720" rIns="91440" bIns="45720" rtlCol="0">
            <a:normAutofit fontScale="85000" lnSpcReduction="20000"/>
          </a:bodyPr>
          <a:lstStyle/>
          <a:p>
            <a:pPr indent="-228600" fontAlgn="base">
              <a:lnSpc>
                <a:spcPct val="90000"/>
              </a:lnSpc>
              <a:spcAft>
                <a:spcPts val="600"/>
              </a:spcAft>
              <a:buFont typeface="Arial" panose="020B0604020202020204" pitchFamily="34" charset="0"/>
              <a:buChar char="•"/>
            </a:pPr>
            <a:r>
              <a:rPr lang="en-US" sz="2400" b="1" i="0" dirty="0">
                <a:effectLst/>
              </a:rPr>
              <a:t>Método de la </a:t>
            </a:r>
            <a:r>
              <a:rPr lang="en-US" sz="2400" b="1" i="0" dirty="0" err="1">
                <a:effectLst/>
              </a:rPr>
              <a:t>Silueta</a:t>
            </a:r>
            <a:endParaRPr lang="en-US" sz="2400" b="1" i="0" dirty="0">
              <a:effectLst/>
            </a:endParaRPr>
          </a:p>
          <a:p>
            <a:pPr indent="-228600" fontAlgn="base">
              <a:lnSpc>
                <a:spcPct val="90000"/>
              </a:lnSpc>
              <a:spcAft>
                <a:spcPts val="600"/>
              </a:spcAft>
              <a:buFont typeface="Arial" panose="020B0604020202020204" pitchFamily="34" charset="0"/>
              <a:buChar char="•"/>
            </a:pPr>
            <a:endParaRPr lang="en-US" sz="1600" b="1" dirty="0"/>
          </a:p>
          <a:p>
            <a:pPr indent="-228600" fontAlgn="base">
              <a:lnSpc>
                <a:spcPct val="90000"/>
              </a:lnSpc>
              <a:spcAft>
                <a:spcPts val="600"/>
              </a:spcAft>
              <a:buFont typeface="Arial" panose="020B0604020202020204" pitchFamily="34" charset="0"/>
              <a:buChar char="•"/>
            </a:pPr>
            <a:endParaRPr lang="en-US" sz="1600" b="1" i="0" dirty="0">
              <a:effectLst/>
            </a:endParaRPr>
          </a:p>
          <a:p>
            <a:pPr indent="-228600" fontAlgn="base">
              <a:lnSpc>
                <a:spcPct val="90000"/>
              </a:lnSpc>
              <a:spcAft>
                <a:spcPts val="600"/>
              </a:spcAft>
              <a:buFont typeface="Arial" panose="020B0604020202020204" pitchFamily="34" charset="0"/>
              <a:buChar char="•"/>
            </a:pPr>
            <a:endParaRPr lang="en-US" sz="1600" b="1" dirty="0"/>
          </a:p>
          <a:p>
            <a:pPr indent="-228600" fontAlgn="base">
              <a:lnSpc>
                <a:spcPct val="90000"/>
              </a:lnSpc>
              <a:spcAft>
                <a:spcPts val="600"/>
              </a:spcAft>
              <a:buFont typeface="Arial" panose="020B0604020202020204" pitchFamily="34" charset="0"/>
              <a:buChar char="•"/>
            </a:pPr>
            <a:endParaRPr lang="en-US" sz="1600" b="1" i="0" dirty="0">
              <a:effectLst/>
            </a:endParaRPr>
          </a:p>
          <a:p>
            <a:pPr indent="-228600" fontAlgn="base">
              <a:lnSpc>
                <a:spcPct val="90000"/>
              </a:lnSpc>
              <a:spcAft>
                <a:spcPts val="600"/>
              </a:spcAft>
              <a:buFont typeface="Arial" panose="020B0604020202020204" pitchFamily="34" charset="0"/>
              <a:buChar char="•"/>
            </a:pPr>
            <a:endParaRPr lang="en-US" sz="1600" b="1" dirty="0"/>
          </a:p>
          <a:p>
            <a:pPr indent="-228600" fontAlgn="base">
              <a:lnSpc>
                <a:spcPct val="90000"/>
              </a:lnSpc>
              <a:spcAft>
                <a:spcPts val="600"/>
              </a:spcAft>
              <a:buFont typeface="Arial" panose="020B0604020202020204" pitchFamily="34" charset="0"/>
              <a:buChar char="•"/>
            </a:pPr>
            <a:endParaRPr lang="en-US" sz="1600" b="1" i="0" dirty="0">
              <a:effectLst/>
            </a:endParaRPr>
          </a:p>
          <a:p>
            <a:pPr indent="-228600" fontAlgn="base">
              <a:lnSpc>
                <a:spcPct val="90000"/>
              </a:lnSpc>
              <a:spcAft>
                <a:spcPts val="600"/>
              </a:spcAft>
              <a:buFont typeface="Arial" panose="020B0604020202020204" pitchFamily="34" charset="0"/>
              <a:buChar char="•"/>
            </a:pPr>
            <a:endParaRPr lang="en-US" sz="1600" b="1" dirty="0"/>
          </a:p>
          <a:p>
            <a:pPr indent="-228600" fontAlgn="base">
              <a:lnSpc>
                <a:spcPct val="90000"/>
              </a:lnSpc>
              <a:spcAft>
                <a:spcPts val="600"/>
              </a:spcAft>
              <a:buFont typeface="Arial" panose="020B0604020202020204" pitchFamily="34" charset="0"/>
              <a:buChar char="•"/>
            </a:pPr>
            <a:endParaRPr lang="en-US" sz="1600" b="1" i="0" dirty="0">
              <a:effectLst/>
            </a:endParaRPr>
          </a:p>
          <a:p>
            <a:pPr indent="-228600" fontAlgn="base">
              <a:lnSpc>
                <a:spcPct val="90000"/>
              </a:lnSpc>
              <a:spcAft>
                <a:spcPts val="600"/>
              </a:spcAft>
              <a:buFont typeface="Arial" panose="020B0604020202020204" pitchFamily="34" charset="0"/>
              <a:buChar char="•"/>
            </a:pPr>
            <a:endParaRPr lang="en-US" sz="1600" b="1" dirty="0"/>
          </a:p>
          <a:p>
            <a:pPr fontAlgn="base">
              <a:lnSpc>
                <a:spcPct val="90000"/>
              </a:lnSpc>
              <a:spcAft>
                <a:spcPts val="600"/>
              </a:spcAft>
            </a:pPr>
            <a:r>
              <a:rPr lang="en-US" sz="2600" b="0" i="0" dirty="0">
                <a:effectLst/>
              </a:rPr>
              <a:t>El </a:t>
            </a:r>
            <a:r>
              <a:rPr lang="en-US" sz="2600" b="0" i="0" dirty="0" err="1">
                <a:effectLst/>
              </a:rPr>
              <a:t>método</a:t>
            </a:r>
            <a:r>
              <a:rPr lang="en-US" sz="2600" b="0" i="0" dirty="0">
                <a:effectLst/>
              </a:rPr>
              <a:t> de la </a:t>
            </a:r>
            <a:r>
              <a:rPr lang="en-US" sz="2600" b="0" i="0" dirty="0" err="1">
                <a:effectLst/>
              </a:rPr>
              <a:t>silueta</a:t>
            </a:r>
            <a:r>
              <a:rPr lang="en-US" sz="2600" b="0" i="0" dirty="0">
                <a:effectLst/>
              </a:rPr>
              <a:t> </a:t>
            </a:r>
            <a:r>
              <a:rPr lang="en-US" sz="2600" b="0" i="0" dirty="0" err="1">
                <a:effectLst/>
              </a:rPr>
              <a:t>puede</a:t>
            </a:r>
            <a:r>
              <a:rPr lang="en-US" sz="2600" b="0" i="0" dirty="0">
                <a:effectLst/>
              </a:rPr>
              <a:t> </a:t>
            </a:r>
            <a:r>
              <a:rPr lang="en-US" sz="2600" b="0" i="0" dirty="0" err="1">
                <a:effectLst/>
              </a:rPr>
              <a:t>utilizarse</a:t>
            </a:r>
            <a:r>
              <a:rPr lang="en-US" sz="2600" b="0" i="0" dirty="0">
                <a:effectLst/>
              </a:rPr>
              <a:t> para </a:t>
            </a:r>
            <a:r>
              <a:rPr lang="en-US" sz="2600" b="0" i="0" dirty="0" err="1">
                <a:effectLst/>
              </a:rPr>
              <a:t>estudiar</a:t>
            </a:r>
            <a:r>
              <a:rPr lang="en-US" sz="2600" b="0" i="0" dirty="0">
                <a:effectLst/>
              </a:rPr>
              <a:t> la distancia de </a:t>
            </a:r>
            <a:r>
              <a:rPr lang="en-US" sz="2600" b="0" i="0" dirty="0" err="1">
                <a:effectLst/>
              </a:rPr>
              <a:t>separación</a:t>
            </a:r>
            <a:r>
              <a:rPr lang="en-US" sz="2600" b="0" i="0" dirty="0">
                <a:effectLst/>
              </a:rPr>
              <a:t> entre los </a:t>
            </a:r>
            <a:r>
              <a:rPr lang="en-US" sz="2600" b="0" i="0" dirty="0" err="1">
                <a:effectLst/>
              </a:rPr>
              <a:t>grupos</a:t>
            </a:r>
            <a:r>
              <a:rPr lang="en-US" sz="2600" b="0" i="0" dirty="0">
                <a:effectLst/>
              </a:rPr>
              <a:t> resultantes. El gráfico de </a:t>
            </a:r>
            <a:r>
              <a:rPr lang="en-US" sz="2600" b="0" i="0" dirty="0" err="1">
                <a:effectLst/>
              </a:rPr>
              <a:t>silueta</a:t>
            </a:r>
            <a:r>
              <a:rPr lang="en-US" sz="2600" b="0" i="0" dirty="0">
                <a:effectLst/>
              </a:rPr>
              <a:t> muestra una </a:t>
            </a:r>
            <a:r>
              <a:rPr lang="en-US" sz="2600" b="0" i="0" dirty="0" err="1">
                <a:effectLst/>
              </a:rPr>
              <a:t>medida</a:t>
            </a:r>
            <a:r>
              <a:rPr lang="en-US" sz="2600" b="0" i="0" dirty="0">
                <a:effectLst/>
              </a:rPr>
              <a:t> de </a:t>
            </a:r>
            <a:r>
              <a:rPr lang="en-US" sz="2600" b="0" i="0" dirty="0" err="1">
                <a:effectLst/>
              </a:rPr>
              <a:t>cuán</a:t>
            </a:r>
            <a:r>
              <a:rPr lang="en-US" sz="2600" b="0" i="0" dirty="0">
                <a:effectLst/>
              </a:rPr>
              <a:t> </a:t>
            </a:r>
            <a:r>
              <a:rPr lang="en-US" sz="2600" b="0" i="0" dirty="0" err="1">
                <a:effectLst/>
              </a:rPr>
              <a:t>cerca</a:t>
            </a:r>
            <a:r>
              <a:rPr lang="en-US" sz="2600" b="0" i="0" dirty="0">
                <a:effectLst/>
              </a:rPr>
              <a:t> </a:t>
            </a:r>
            <a:r>
              <a:rPr lang="en-US" sz="2600" b="0" i="0" dirty="0" err="1">
                <a:effectLst/>
              </a:rPr>
              <a:t>está</a:t>
            </a:r>
            <a:r>
              <a:rPr lang="en-US" sz="2600" b="0" i="0" dirty="0">
                <a:effectLst/>
              </a:rPr>
              <a:t> cada punto en un clúster de los puntos en los clústeres </a:t>
            </a:r>
            <a:r>
              <a:rPr lang="en-US" sz="2600" b="0" i="0" dirty="0" err="1">
                <a:effectLst/>
              </a:rPr>
              <a:t>vecinos</a:t>
            </a:r>
            <a:r>
              <a:rPr lang="en-US" sz="2600" b="0" i="0" dirty="0">
                <a:effectLst/>
              </a:rPr>
              <a:t> y por lo tanto </a:t>
            </a:r>
            <a:r>
              <a:rPr lang="en-US" sz="2600" b="0" i="0" dirty="0" err="1">
                <a:effectLst/>
              </a:rPr>
              <a:t>proporciona</a:t>
            </a:r>
            <a:r>
              <a:rPr lang="en-US" sz="2600" b="0" i="0" dirty="0">
                <a:effectLst/>
              </a:rPr>
              <a:t> una forma de </a:t>
            </a:r>
            <a:r>
              <a:rPr lang="en-US" sz="2600" b="0" i="0" dirty="0" err="1">
                <a:effectLst/>
              </a:rPr>
              <a:t>evaluar</a:t>
            </a:r>
            <a:r>
              <a:rPr lang="en-US" sz="2600" b="0" i="0" dirty="0">
                <a:effectLst/>
              </a:rPr>
              <a:t> </a:t>
            </a:r>
            <a:r>
              <a:rPr lang="en-US" sz="2600" b="0" i="0" dirty="0" err="1">
                <a:effectLst/>
              </a:rPr>
              <a:t>parámetros</a:t>
            </a:r>
            <a:r>
              <a:rPr lang="en-US" sz="2600" b="0" i="0" dirty="0">
                <a:effectLst/>
              </a:rPr>
              <a:t> como el número de clústeres </a:t>
            </a:r>
            <a:r>
              <a:rPr lang="en-US" sz="2600" b="0" i="0" dirty="0" err="1">
                <a:effectLst/>
              </a:rPr>
              <a:t>visualmente</a:t>
            </a:r>
            <a:r>
              <a:rPr lang="en-US" sz="2600" b="0" i="0" dirty="0">
                <a:effectLst/>
              </a:rPr>
              <a:t>. Esta </a:t>
            </a:r>
            <a:r>
              <a:rPr lang="en-US" sz="2600" b="0" i="0" dirty="0" err="1">
                <a:effectLst/>
              </a:rPr>
              <a:t>medida</a:t>
            </a:r>
            <a:r>
              <a:rPr lang="en-US" sz="2600" b="0" i="0" dirty="0">
                <a:effectLst/>
              </a:rPr>
              <a:t> tiene un </a:t>
            </a:r>
            <a:r>
              <a:rPr lang="en-US" sz="2600" b="0" i="0" dirty="0" err="1">
                <a:effectLst/>
              </a:rPr>
              <a:t>rango</a:t>
            </a:r>
            <a:r>
              <a:rPr lang="en-US" sz="2600" b="0" i="0" dirty="0">
                <a:effectLst/>
              </a:rPr>
              <a:t> de -1 a 1. Donde 1 </a:t>
            </a:r>
            <a:r>
              <a:rPr lang="en-US" sz="2600" b="0" i="0" dirty="0" err="1">
                <a:effectLst/>
              </a:rPr>
              <a:t>significa</a:t>
            </a:r>
            <a:r>
              <a:rPr lang="en-US" sz="2600" b="0" i="0" dirty="0">
                <a:effectLst/>
              </a:rPr>
              <a:t> que los puntos están </a:t>
            </a:r>
            <a:r>
              <a:rPr lang="en-US" sz="2600" b="0" i="0" dirty="0" err="1">
                <a:effectLst/>
              </a:rPr>
              <a:t>muy</a:t>
            </a:r>
            <a:r>
              <a:rPr lang="en-US" sz="2600" b="0" i="0" dirty="0">
                <a:effectLst/>
              </a:rPr>
              <a:t> </a:t>
            </a:r>
            <a:r>
              <a:rPr lang="en-US" sz="2600" b="0" i="0" dirty="0" err="1">
                <a:effectLst/>
              </a:rPr>
              <a:t>cerca</a:t>
            </a:r>
            <a:r>
              <a:rPr lang="en-US" sz="2600" b="0" i="0" dirty="0">
                <a:effectLst/>
              </a:rPr>
              <a:t> de </a:t>
            </a:r>
            <a:r>
              <a:rPr lang="en-US" sz="2600" b="0" i="0" dirty="0" err="1">
                <a:effectLst/>
              </a:rPr>
              <a:t>su</a:t>
            </a:r>
            <a:r>
              <a:rPr lang="en-US" sz="2600" b="0" i="0" dirty="0">
                <a:effectLst/>
              </a:rPr>
              <a:t> </a:t>
            </a:r>
            <a:r>
              <a:rPr lang="en-US" sz="2600" b="0" i="0" dirty="0" err="1">
                <a:effectLst/>
              </a:rPr>
              <a:t>propio</a:t>
            </a:r>
            <a:r>
              <a:rPr lang="en-US" sz="2600" b="0" i="0" dirty="0">
                <a:effectLst/>
              </a:rPr>
              <a:t> clúster y </a:t>
            </a:r>
            <a:r>
              <a:rPr lang="en-US" sz="2600" b="0" i="0" dirty="0" err="1">
                <a:effectLst/>
              </a:rPr>
              <a:t>lejos</a:t>
            </a:r>
            <a:r>
              <a:rPr lang="en-US" sz="2600" b="0" i="0" dirty="0">
                <a:effectLst/>
              </a:rPr>
              <a:t> de </a:t>
            </a:r>
            <a:r>
              <a:rPr lang="en-US" sz="2600" b="0" i="0" dirty="0" err="1">
                <a:effectLst/>
              </a:rPr>
              <a:t>otros</a:t>
            </a:r>
            <a:r>
              <a:rPr lang="en-US" sz="2600" b="0" i="0" dirty="0">
                <a:effectLst/>
              </a:rPr>
              <a:t> clústeres, </a:t>
            </a:r>
            <a:r>
              <a:rPr lang="en-US" sz="2600" b="0" i="0" dirty="0" err="1">
                <a:effectLst/>
              </a:rPr>
              <a:t>mientras</a:t>
            </a:r>
            <a:r>
              <a:rPr lang="en-US" sz="2600" b="0" i="0" dirty="0">
                <a:effectLst/>
              </a:rPr>
              <a:t> que -1 indica que los puntos están </a:t>
            </a:r>
            <a:r>
              <a:rPr lang="en-US" sz="2600" b="0" i="0" dirty="0" err="1">
                <a:effectLst/>
              </a:rPr>
              <a:t>cerca</a:t>
            </a:r>
            <a:r>
              <a:rPr lang="en-US" sz="2600" b="0" i="0" dirty="0">
                <a:effectLst/>
              </a:rPr>
              <a:t> de los clústeres </a:t>
            </a:r>
            <a:r>
              <a:rPr lang="en-US" sz="2600" b="0" i="0" dirty="0" err="1">
                <a:effectLst/>
              </a:rPr>
              <a:t>vecinos</a:t>
            </a:r>
            <a:r>
              <a:rPr lang="en-US" sz="1900" b="0" i="0" dirty="0">
                <a:effectLst/>
              </a:rPr>
              <a:t>.</a:t>
            </a:r>
          </a:p>
        </p:txBody>
      </p:sp>
      <p:pic>
        <p:nvPicPr>
          <p:cNvPr id="6" name="Picture 3" descr="Gráficas financieras en una pantalla oscura">
            <a:extLst>
              <a:ext uri="{FF2B5EF4-FFF2-40B4-BE49-F238E27FC236}">
                <a16:creationId xmlns:a16="http://schemas.microsoft.com/office/drawing/2014/main" id="{86214D65-7AE0-F50B-7FB6-CF2A49AA5124}"/>
              </a:ext>
            </a:extLst>
          </p:cNvPr>
          <p:cNvPicPr>
            <a:picLocks noChangeAspect="1"/>
          </p:cNvPicPr>
          <p:nvPr/>
        </p:nvPicPr>
        <p:blipFill rotWithShape="1">
          <a:blip r:embed="rId2"/>
          <a:srcRect l="15751" r="2156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2594165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C868417-B2D6-BC24-085D-3ED8E8343F92}"/>
                  </a:ext>
                </a:extLst>
              </p:cNvPr>
              <p:cNvSpPr txBox="1"/>
              <p:nvPr/>
            </p:nvSpPr>
            <p:spPr>
              <a:xfrm>
                <a:off x="598311" y="496712"/>
                <a:ext cx="6321778" cy="5444266"/>
              </a:xfrm>
              <a:prstGeom prst="rect">
                <a:avLst/>
              </a:prstGeom>
            </p:spPr>
            <p:txBody>
              <a:bodyPr vert="horz" lIns="91440" tIns="45720" rIns="91440" bIns="45720" rtlCol="0" anchor="t">
                <a:normAutofit lnSpcReduction="10000"/>
              </a:bodyPr>
              <a:lstStyle/>
              <a:p>
                <a:pPr fontAlgn="base">
                  <a:lnSpc>
                    <a:spcPct val="90000"/>
                  </a:lnSpc>
                  <a:spcAft>
                    <a:spcPts val="600"/>
                  </a:spcAft>
                </a:pPr>
                <a:r>
                  <a:rPr lang="en-US" sz="2000" b="1" i="0" dirty="0">
                    <a:effectLst/>
                  </a:rPr>
                  <a:t>Método de la </a:t>
                </a:r>
                <a:r>
                  <a:rPr lang="en-US" sz="2000" b="1" i="0" dirty="0" err="1">
                    <a:effectLst/>
                  </a:rPr>
                  <a:t>Silueta</a:t>
                </a:r>
                <a:endParaRPr lang="en-US" sz="2000" b="1" i="0" dirty="0">
                  <a:effectLst/>
                </a:endParaRPr>
              </a:p>
              <a:p>
                <a:pPr indent="-228600" fontAlgn="base">
                  <a:lnSpc>
                    <a:spcPct val="90000"/>
                  </a:lnSpc>
                  <a:spcAft>
                    <a:spcPts val="600"/>
                  </a:spcAft>
                  <a:buFont typeface="Arial" panose="020B0604020202020204" pitchFamily="34" charset="0"/>
                  <a:buChar char="•"/>
                </a:pPr>
                <a:endParaRPr lang="en-US" sz="2000" b="1" dirty="0"/>
              </a:p>
              <a:p>
                <a:pPr fontAlgn="base">
                  <a:lnSpc>
                    <a:spcPct val="90000"/>
                  </a:lnSpc>
                  <a:spcAft>
                    <a:spcPts val="600"/>
                  </a:spcAft>
                </a:pPr>
                <a:r>
                  <a:rPr lang="en-US" sz="2000" b="0" i="1" dirty="0">
                    <a:effectLst/>
                  </a:rPr>
                  <a:t>S</a:t>
                </a:r>
                <a:r>
                  <a:rPr lang="en-US" sz="2000" dirty="0"/>
                  <a:t>(</a:t>
                </a:r>
                <a:r>
                  <a:rPr lang="en-US" sz="2000" dirty="0" err="1"/>
                  <a:t>i</a:t>
                </a:r>
                <a:r>
                  <a:rPr lang="en-US" sz="2000" dirty="0"/>
                  <a:t>)</a:t>
                </a:r>
                <a:r>
                  <a:rPr lang="en-US" sz="2000" b="0" i="0" dirty="0">
                    <a:effectLst/>
                  </a:rPr>
                  <a:t>=</a:t>
                </a:r>
                <a:r>
                  <a:rPr lang="en-US" sz="2000" b="0" i="1" dirty="0">
                    <a:effectLst/>
                  </a:rPr>
                  <a:t> </a:t>
                </a:r>
                <a14:m>
                  <m:oMath xmlns:m="http://schemas.openxmlformats.org/officeDocument/2006/math">
                    <m:f>
                      <m:fPr>
                        <m:ctrlPr>
                          <a:rPr lang="en-US" sz="2000" b="0" i="1">
                            <a:effectLst/>
                            <a:latin typeface="Cambria Math" panose="02040503050406030204" pitchFamily="18" charset="0"/>
                          </a:rPr>
                        </m:ctrlPr>
                      </m:fPr>
                      <m:num>
                        <m:r>
                          <a:rPr lang="en-US" sz="2000" b="0" i="1">
                            <a:effectLst/>
                            <a:latin typeface="Cambria Math" panose="02040503050406030204" pitchFamily="18" charset="0"/>
                          </a:rPr>
                          <m:t>𝑏𝑖</m:t>
                        </m:r>
                        <m:r>
                          <a:rPr lang="en-US" sz="2000" b="0" i="1">
                            <a:effectLst/>
                            <a:latin typeface="Cambria Math" panose="02040503050406030204" pitchFamily="18" charset="0"/>
                          </a:rPr>
                          <m:t>​−</m:t>
                        </m:r>
                        <m:r>
                          <a:rPr lang="en-US" sz="2000" b="0" i="1">
                            <a:effectLst/>
                            <a:latin typeface="Cambria Math" panose="02040503050406030204" pitchFamily="18" charset="0"/>
                          </a:rPr>
                          <m:t>𝑎𝑖</m:t>
                        </m:r>
                      </m:num>
                      <m:den>
                        <m:r>
                          <m:rPr>
                            <m:sty m:val="p"/>
                          </m:rPr>
                          <a:rPr lang="en-US" sz="2000" b="0" i="1">
                            <a:effectLst/>
                            <a:latin typeface="Cambria Math" panose="02040503050406030204" pitchFamily="18" charset="0"/>
                          </a:rPr>
                          <m:t>max</m:t>
                        </m:r>
                        <m:r>
                          <a:rPr lang="en-US" sz="2000" b="0" i="1">
                            <a:effectLst/>
                            <a:latin typeface="Cambria Math" panose="02040503050406030204" pitchFamily="18" charset="0"/>
                          </a:rPr>
                          <m:t>⁡(</m:t>
                        </m:r>
                        <m:r>
                          <a:rPr lang="en-US" sz="2000" b="0" i="1">
                            <a:effectLst/>
                            <a:latin typeface="Cambria Math" panose="02040503050406030204" pitchFamily="18" charset="0"/>
                          </a:rPr>
                          <m:t>𝑎𝑖</m:t>
                        </m:r>
                        <m:r>
                          <a:rPr lang="en-US" sz="2000" b="0" i="1">
                            <a:effectLst/>
                            <a:latin typeface="Cambria Math" panose="02040503050406030204" pitchFamily="18" charset="0"/>
                          </a:rPr>
                          <m:t>​,</m:t>
                        </m:r>
                        <m:r>
                          <a:rPr lang="en-US" sz="2000" b="0" i="1">
                            <a:effectLst/>
                            <a:latin typeface="Cambria Math" panose="02040503050406030204" pitchFamily="18" charset="0"/>
                          </a:rPr>
                          <m:t>𝑏𝑖</m:t>
                        </m:r>
                        <m:r>
                          <a:rPr lang="en-US" sz="2000" b="0" i="1">
                            <a:effectLst/>
                            <a:latin typeface="Cambria Math" panose="02040503050406030204" pitchFamily="18" charset="0"/>
                          </a:rPr>
                          <m:t>)​</m:t>
                        </m:r>
                      </m:den>
                    </m:f>
                    <m:r>
                      <a:rPr lang="en-US" sz="2000" b="0" i="1">
                        <a:effectLst/>
                        <a:latin typeface="Cambria Math" panose="02040503050406030204" pitchFamily="18" charset="0"/>
                      </a:rPr>
                      <m:t>​​</m:t>
                    </m:r>
                  </m:oMath>
                </a14:m>
                <a:endParaRPr lang="en-US" sz="2000" dirty="0"/>
              </a:p>
              <a:p>
                <a:pPr indent="-228600" fontAlgn="base">
                  <a:lnSpc>
                    <a:spcPct val="90000"/>
                  </a:lnSpc>
                  <a:spcAft>
                    <a:spcPts val="600"/>
                  </a:spcAft>
                  <a:buFont typeface="Arial" panose="020B0604020202020204" pitchFamily="34" charset="0"/>
                  <a:buChar char="•"/>
                </a:pPr>
                <a:endParaRPr lang="en-US" sz="2400" dirty="0"/>
              </a:p>
              <a:p>
                <a:pPr fontAlgn="base">
                  <a:lnSpc>
                    <a:spcPct val="90000"/>
                  </a:lnSpc>
                  <a:spcAft>
                    <a:spcPts val="600"/>
                  </a:spcAft>
                </a:pPr>
                <a:r>
                  <a:rPr lang="en-US" sz="2000" b="0" i="0" dirty="0">
                    <a:effectLst/>
                  </a:rPr>
                  <a:t>donde </a:t>
                </a:r>
                <a:r>
                  <a:rPr lang="en-US" sz="2000" b="0" i="1" dirty="0">
                    <a:effectLst/>
                  </a:rPr>
                  <a:t>ai</a:t>
                </a:r>
                <a:r>
                  <a:rPr lang="en-US" sz="2000" b="0" i="0" dirty="0">
                    <a:effectLst/>
                  </a:rPr>
                  <a:t>​ es la distancia promedio entre el punto 𝑖 y todos los </a:t>
                </a:r>
                <a:r>
                  <a:rPr lang="en-US" sz="2000" b="0" i="0" dirty="0" err="1">
                    <a:effectLst/>
                  </a:rPr>
                  <a:t>demás</a:t>
                </a:r>
                <a:r>
                  <a:rPr lang="en-US" sz="2000" b="0" i="0" dirty="0">
                    <a:effectLst/>
                  </a:rPr>
                  <a:t> puntos </a:t>
                </a:r>
                <a:r>
                  <a:rPr lang="en-US" sz="2000" b="0" i="0" dirty="0" err="1">
                    <a:effectLst/>
                  </a:rPr>
                  <a:t>dentro</a:t>
                </a:r>
                <a:r>
                  <a:rPr lang="en-US" sz="2000" b="0" i="0" dirty="0">
                    <a:effectLst/>
                  </a:rPr>
                  <a:t> del mismo cluster y 𝑏</a:t>
                </a:r>
                <a:r>
                  <a:rPr lang="en-US" sz="2000" b="0" i="1" dirty="0" err="1">
                    <a:effectLst/>
                  </a:rPr>
                  <a:t>i</a:t>
                </a:r>
                <a:r>
                  <a:rPr lang="en-US" sz="2000" b="0" i="0" dirty="0">
                    <a:effectLst/>
                  </a:rPr>
                  <a:t>​ es la distancia promedio entre el punto 𝑖 y todos los puntos en el cluster más </a:t>
                </a:r>
                <a:r>
                  <a:rPr lang="en-US" sz="2000" b="0" i="0" dirty="0" err="1">
                    <a:effectLst/>
                  </a:rPr>
                  <a:t>cercano</a:t>
                </a:r>
                <a:r>
                  <a:rPr lang="en-US" sz="2000" b="0" i="0" dirty="0">
                    <a:effectLst/>
                  </a:rPr>
                  <a:t> (</a:t>
                </a:r>
                <a:r>
                  <a:rPr lang="en-US" sz="2000" b="0" i="0" dirty="0" err="1">
                    <a:effectLst/>
                  </a:rPr>
                  <a:t>diferente</a:t>
                </a:r>
                <a:r>
                  <a:rPr lang="en-US" sz="2000" b="0" i="0" dirty="0">
                    <a:effectLst/>
                  </a:rPr>
                  <a:t> al que </a:t>
                </a:r>
                <a:r>
                  <a:rPr lang="en-US" sz="2000" b="0" i="0" dirty="0" err="1">
                    <a:effectLst/>
                  </a:rPr>
                  <a:t>pertenece</a:t>
                </a:r>
                <a:r>
                  <a:rPr lang="en-US" sz="2000" b="0" i="0" dirty="0">
                    <a:effectLst/>
                  </a:rPr>
                  <a:t> 𝑖).</a:t>
                </a:r>
              </a:p>
              <a:p>
                <a:pPr indent="-228600" fontAlgn="base">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dirty="0"/>
                  <a:t>• s(</a:t>
                </a:r>
                <a:r>
                  <a:rPr lang="en-US" sz="2000" dirty="0" err="1"/>
                  <a:t>i</a:t>
                </a:r>
                <a:r>
                  <a:rPr lang="en-US" sz="2000" dirty="0"/>
                  <a:t>) ≈ 1, la </a:t>
                </a:r>
                <a:r>
                  <a:rPr lang="en-US" sz="2000" dirty="0" err="1"/>
                  <a:t>observación</a:t>
                </a:r>
                <a:r>
                  <a:rPr lang="en-US" sz="2000" dirty="0"/>
                  <a:t> </a:t>
                </a:r>
                <a:r>
                  <a:rPr lang="en-US" sz="2000" dirty="0" err="1"/>
                  <a:t>i</a:t>
                </a:r>
                <a:r>
                  <a:rPr lang="en-US" sz="2000" dirty="0"/>
                  <a:t> </a:t>
                </a:r>
                <a:r>
                  <a:rPr lang="en-US" sz="2000" dirty="0" err="1"/>
                  <a:t>está</a:t>
                </a:r>
                <a:r>
                  <a:rPr lang="en-US" sz="2000" dirty="0"/>
                  <a:t> bien </a:t>
                </a:r>
                <a:r>
                  <a:rPr lang="en-US" sz="2000" dirty="0" err="1"/>
                  <a:t>asignada</a:t>
                </a:r>
                <a:r>
                  <a:rPr lang="en-US" sz="2000" dirty="0"/>
                  <a:t> a </a:t>
                </a:r>
                <a:r>
                  <a:rPr lang="en-US" sz="2000" dirty="0" err="1"/>
                  <a:t>su</a:t>
                </a:r>
                <a:r>
                  <a:rPr lang="en-US" sz="2000" dirty="0"/>
                  <a:t> cluster </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dirty="0"/>
                  <a:t>• s(</a:t>
                </a:r>
                <a:r>
                  <a:rPr lang="en-US" sz="2000" dirty="0" err="1"/>
                  <a:t>i</a:t>
                </a:r>
                <a:r>
                  <a:rPr lang="en-US" sz="2000" dirty="0"/>
                  <a:t>) ≈ 0, la </a:t>
                </a:r>
                <a:r>
                  <a:rPr lang="en-US" sz="2000" dirty="0" err="1"/>
                  <a:t>observación</a:t>
                </a:r>
                <a:r>
                  <a:rPr lang="en-US" sz="2000" dirty="0"/>
                  <a:t> </a:t>
                </a:r>
                <a:r>
                  <a:rPr lang="en-US" sz="2000" dirty="0" err="1"/>
                  <a:t>i</a:t>
                </a:r>
                <a:r>
                  <a:rPr lang="en-US" sz="2000" dirty="0"/>
                  <a:t> </a:t>
                </a:r>
                <a:r>
                  <a:rPr lang="en-US" sz="2000" dirty="0" err="1"/>
                  <a:t>está</a:t>
                </a:r>
                <a:r>
                  <a:rPr lang="en-US" sz="2000" dirty="0"/>
                  <a:t> entre dos cluster </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dirty="0"/>
                  <a:t>• s(</a:t>
                </a:r>
                <a:r>
                  <a:rPr lang="en-US" sz="2000" dirty="0" err="1"/>
                  <a:t>i</a:t>
                </a:r>
                <a:r>
                  <a:rPr lang="en-US" sz="2000" dirty="0"/>
                  <a:t>) ≈ −1, la </a:t>
                </a:r>
                <a:r>
                  <a:rPr lang="en-US" sz="2000" dirty="0" err="1"/>
                  <a:t>observación</a:t>
                </a:r>
                <a:r>
                  <a:rPr lang="en-US" sz="2000" dirty="0"/>
                  <a:t> </a:t>
                </a:r>
                <a:r>
                  <a:rPr lang="en-US" sz="2000" dirty="0" err="1"/>
                  <a:t>i</a:t>
                </a:r>
                <a:r>
                  <a:rPr lang="en-US" sz="2000" dirty="0"/>
                  <a:t> </a:t>
                </a:r>
                <a:r>
                  <a:rPr lang="en-US" sz="2000" dirty="0" err="1"/>
                  <a:t>está</a:t>
                </a:r>
                <a:r>
                  <a:rPr lang="en-US" sz="2000" dirty="0"/>
                  <a:t> mal </a:t>
                </a:r>
                <a:r>
                  <a:rPr lang="en-US" sz="2000" dirty="0" err="1"/>
                  <a:t>asignada</a:t>
                </a:r>
                <a:r>
                  <a:rPr lang="en-US" sz="2000" dirty="0"/>
                  <a:t> a </a:t>
                </a:r>
                <a:r>
                  <a:rPr lang="en-US" sz="2000" dirty="0" err="1"/>
                  <a:t>su</a:t>
                </a:r>
                <a:r>
                  <a:rPr lang="en-US" sz="2000" dirty="0"/>
                  <a:t> cluster</a:t>
                </a:r>
              </a:p>
              <a:p>
                <a:pPr indent="-228600" fontAlgn="base">
                  <a:lnSpc>
                    <a:spcPct val="90000"/>
                  </a:lnSpc>
                  <a:spcAft>
                    <a:spcPts val="600"/>
                  </a:spcAft>
                  <a:buFont typeface="Arial" panose="020B0604020202020204" pitchFamily="34" charset="0"/>
                  <a:buChar char="•"/>
                </a:pPr>
                <a:endParaRPr lang="en-US" sz="2000" dirty="0"/>
              </a:p>
              <a:p>
                <a:pPr indent="-228600" fontAlgn="base">
                  <a:lnSpc>
                    <a:spcPct val="90000"/>
                  </a:lnSpc>
                  <a:spcAft>
                    <a:spcPts val="600"/>
                  </a:spcAft>
                  <a:buFont typeface="Arial" panose="020B0604020202020204" pitchFamily="34" charset="0"/>
                  <a:buChar char="•"/>
                </a:pPr>
                <a:endParaRPr lang="en-US" sz="2000" dirty="0"/>
              </a:p>
              <a:p>
                <a:pPr indent="-228600" fontAlgn="base">
                  <a:lnSpc>
                    <a:spcPct val="90000"/>
                  </a:lnSpc>
                  <a:spcAft>
                    <a:spcPts val="600"/>
                  </a:spcAft>
                  <a:buFont typeface="Arial" panose="020B0604020202020204" pitchFamily="34" charset="0"/>
                  <a:buChar char="•"/>
                </a:pPr>
                <a:endParaRPr lang="en-US" sz="2000" b="1" i="0" dirty="0">
                  <a:effectLst/>
                </a:endParaRPr>
              </a:p>
            </p:txBody>
          </p:sp>
        </mc:Choice>
        <mc:Fallback xmlns="">
          <p:sp>
            <p:nvSpPr>
              <p:cNvPr id="8" name="CuadroTexto 7">
                <a:extLst>
                  <a:ext uri="{FF2B5EF4-FFF2-40B4-BE49-F238E27FC236}">
                    <a16:creationId xmlns:a16="http://schemas.microsoft.com/office/drawing/2014/main" id="{0C868417-B2D6-BC24-085D-3ED8E8343F92}"/>
                  </a:ext>
                </a:extLst>
              </p:cNvPr>
              <p:cNvSpPr txBox="1">
                <a:spLocks noRot="1" noChangeAspect="1" noMove="1" noResize="1" noEditPoints="1" noAdjustHandles="1" noChangeArrowheads="1" noChangeShapeType="1" noTextEdit="1"/>
              </p:cNvSpPr>
              <p:nvPr/>
            </p:nvSpPr>
            <p:spPr>
              <a:xfrm>
                <a:off x="598311" y="496712"/>
                <a:ext cx="6321778" cy="5444266"/>
              </a:xfrm>
              <a:prstGeom prst="rect">
                <a:avLst/>
              </a:prstGeom>
              <a:blipFill>
                <a:blip r:embed="rId2"/>
                <a:stretch>
                  <a:fillRect l="-964" t="-1454" r="-193"/>
                </a:stretch>
              </a:blipFill>
            </p:spPr>
            <p:txBody>
              <a:bodyPr/>
              <a:lstStyle/>
              <a:p>
                <a:r>
                  <a:rPr lang="es-AR">
                    <a:noFill/>
                  </a:rPr>
                  <a:t> </a:t>
                </a:r>
              </a:p>
            </p:txBody>
          </p:sp>
        </mc:Fallback>
      </mc:AlternateContent>
      <p:pic>
        <p:nvPicPr>
          <p:cNvPr id="10242" name="Picture 2" descr="Bases de Datos Masivas (11088) Departamento de Ciencias Básicas">
            <a:extLst>
              <a:ext uri="{FF2B5EF4-FFF2-40B4-BE49-F238E27FC236}">
                <a16:creationId xmlns:a16="http://schemas.microsoft.com/office/drawing/2014/main" id="{8787794C-C401-1E1C-A398-E4A6A00990E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52072" y="1140178"/>
            <a:ext cx="4873621" cy="4380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73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45A5873-0B5D-116C-8CF4-8A927D744EA5}"/>
              </a:ext>
            </a:extLst>
          </p:cNvPr>
          <p:cNvSpPr txBox="1"/>
          <p:nvPr/>
        </p:nvSpPr>
        <p:spPr>
          <a:xfrm>
            <a:off x="640080" y="325369"/>
            <a:ext cx="4368602" cy="1956841"/>
          </a:xfrm>
          <a:prstGeom prst="rect">
            <a:avLst/>
          </a:prstGeom>
        </p:spPr>
        <p:txBody>
          <a:bodyPr vert="horz" lIns="91440" tIns="45720" rIns="91440" bIns="45720" rtlCol="0" anchor="b">
            <a:normAutofit/>
          </a:bodyPr>
          <a:lstStyle/>
          <a:p>
            <a:pPr>
              <a:lnSpc>
                <a:spcPct val="90000"/>
              </a:lnSpc>
              <a:spcBef>
                <a:spcPct val="0"/>
              </a:spcBef>
              <a:spcAft>
                <a:spcPts val="600"/>
              </a:spcAft>
            </a:pPr>
            <a:r>
              <a:rPr kumimoji="0" lang="en-US" altLang="es-AR" sz="4200" b="1" i="0" u="none" strike="noStrike" cap="none" normalizeH="0" baseline="0" dirty="0" err="1">
                <a:ln>
                  <a:noFill/>
                </a:ln>
                <a:effectLst/>
                <a:latin typeface="+mj-lt"/>
                <a:ea typeface="+mj-ea"/>
                <a:cs typeface="+mj-cs"/>
              </a:rPr>
              <a:t>Análisis</a:t>
            </a:r>
            <a:r>
              <a:rPr kumimoji="0" lang="en-US" altLang="es-AR" sz="4200" b="1" i="0" u="none" strike="noStrike" cap="none" normalizeH="0" baseline="0" dirty="0">
                <a:ln>
                  <a:noFill/>
                </a:ln>
                <a:effectLst/>
                <a:latin typeface="+mj-lt"/>
                <a:ea typeface="+mj-ea"/>
                <a:cs typeface="+mj-cs"/>
              </a:rPr>
              <a:t> de Componentes Principales (PCA)</a:t>
            </a:r>
            <a:r>
              <a:rPr kumimoji="0" lang="en-US" altLang="es-AR" sz="4200" b="0" i="0" u="none" strike="noStrike" cap="none" normalizeH="0" baseline="0" dirty="0">
                <a:ln>
                  <a:noFill/>
                </a:ln>
                <a:effectLst/>
                <a:latin typeface="+mj-lt"/>
                <a:ea typeface="+mj-ea"/>
                <a:cs typeface="+mj-cs"/>
              </a:rPr>
              <a:t> </a:t>
            </a:r>
            <a:endParaRPr lang="en-US" sz="4200" dirty="0">
              <a:latin typeface="+mj-lt"/>
              <a:ea typeface="+mj-ea"/>
              <a:cs typeface="+mj-cs"/>
            </a:endParaRPr>
          </a:p>
        </p:txBody>
      </p:sp>
      <p:sp>
        <p:nvSpPr>
          <p:cNvPr id="2" name="Rectangle 1">
            <a:extLst>
              <a:ext uri="{FF2B5EF4-FFF2-40B4-BE49-F238E27FC236}">
                <a16:creationId xmlns:a16="http://schemas.microsoft.com/office/drawing/2014/main" id="{9812E3E1-BB48-BE06-4D10-6E9F02D74308}"/>
              </a:ext>
            </a:extLst>
          </p:cNvPr>
          <p:cNvSpPr>
            <a:spLocks noChangeArrowheads="1"/>
          </p:cNvSpPr>
          <p:nvPr/>
        </p:nvSpPr>
        <p:spPr bwMode="auto">
          <a:xfrm>
            <a:off x="405114" y="2872899"/>
            <a:ext cx="4884516" cy="36597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228600" eaLnBrk="1" fontAlgn="base" hangingPunct="1">
              <a:lnSpc>
                <a:spcPct val="90000"/>
              </a:lnSpc>
              <a:spcBef>
                <a:spcPct val="0"/>
              </a:spcBef>
              <a:spcAft>
                <a:spcPts val="600"/>
              </a:spcAft>
              <a:buClrTx/>
              <a:buSzTx/>
              <a:buFont typeface="Arial" panose="020B0604020202020204" pitchFamily="34" charset="0"/>
              <a:buChar char="•"/>
              <a:tabLst/>
            </a:pPr>
            <a:r>
              <a:rPr lang="en-US" altLang="es-AR" sz="1400" b="1" dirty="0">
                <a:latin typeface="+mn-lt"/>
              </a:rPr>
              <a:t>M</a:t>
            </a:r>
            <a:r>
              <a:rPr kumimoji="0" lang="en-US" altLang="es-AR" sz="1400" b="1" i="0" u="none" strike="noStrike" cap="none" normalizeH="0" baseline="0" dirty="0">
                <a:ln>
                  <a:noFill/>
                </a:ln>
                <a:effectLst/>
                <a:latin typeface="+mn-lt"/>
              </a:rPr>
              <a:t>étodo estadístico para simplificar la complejidad de </a:t>
            </a:r>
            <a:r>
              <a:rPr kumimoji="0" lang="en-US" altLang="es-AR" sz="1400" b="1" i="0" u="none" strike="noStrike" cap="none" normalizeH="0" baseline="0" dirty="0" err="1">
                <a:ln>
                  <a:noFill/>
                </a:ln>
                <a:effectLst/>
                <a:latin typeface="+mn-lt"/>
              </a:rPr>
              <a:t>espacios</a:t>
            </a:r>
            <a:r>
              <a:rPr kumimoji="0" lang="en-US" altLang="es-AR" sz="1400" b="1" i="0" u="none" strike="noStrike" cap="none" normalizeH="0" baseline="0" dirty="0">
                <a:ln>
                  <a:noFill/>
                </a:ln>
                <a:effectLst/>
                <a:latin typeface="+mn-lt"/>
              </a:rPr>
              <a:t> </a:t>
            </a:r>
            <a:r>
              <a:rPr kumimoji="0" lang="en-US" altLang="es-AR" sz="1400" b="1" i="0" u="none" strike="noStrike" cap="none" normalizeH="0" baseline="0" dirty="0" err="1">
                <a:ln>
                  <a:noFill/>
                </a:ln>
                <a:effectLst/>
                <a:latin typeface="+mn-lt"/>
              </a:rPr>
              <a:t>muestrales</a:t>
            </a:r>
            <a:r>
              <a:rPr kumimoji="0" lang="en-US" altLang="es-AR" sz="1400" b="1" i="0" u="none" strike="noStrike" cap="none" normalizeH="0" baseline="0" dirty="0">
                <a:ln>
                  <a:noFill/>
                </a:ln>
                <a:effectLst/>
                <a:latin typeface="+mn-lt"/>
              </a:rPr>
              <a:t> con </a:t>
            </a:r>
            <a:r>
              <a:rPr kumimoji="0" lang="en-US" altLang="es-AR" sz="1400" b="1" i="0" u="none" strike="noStrike" cap="none" normalizeH="0" baseline="0" dirty="0" err="1">
                <a:ln>
                  <a:noFill/>
                </a:ln>
                <a:effectLst/>
                <a:latin typeface="+mn-lt"/>
              </a:rPr>
              <a:t>muchas</a:t>
            </a:r>
            <a:r>
              <a:rPr kumimoji="0" lang="en-US" altLang="es-AR" sz="1400" b="1" i="0" u="none" strike="noStrike" cap="none" normalizeH="0" baseline="0" dirty="0">
                <a:ln>
                  <a:noFill/>
                </a:ln>
                <a:effectLst/>
                <a:latin typeface="+mn-lt"/>
              </a:rPr>
              <a:t> dimensiones a la vez que </a:t>
            </a:r>
            <a:r>
              <a:rPr kumimoji="0" lang="en-US" altLang="es-AR" sz="1400" b="1" i="0" u="none" strike="noStrike" cap="none" normalizeH="0" baseline="0" dirty="0" err="1">
                <a:ln>
                  <a:noFill/>
                </a:ln>
                <a:effectLst/>
                <a:latin typeface="+mn-lt"/>
              </a:rPr>
              <a:t>conserva</a:t>
            </a:r>
            <a:r>
              <a:rPr kumimoji="0" lang="en-US" altLang="es-AR" sz="1400" b="1" i="0" u="none" strike="noStrike" cap="none" normalizeH="0" baseline="0" dirty="0">
                <a:ln>
                  <a:noFill/>
                </a:ln>
                <a:effectLst/>
                <a:latin typeface="+mn-lt"/>
              </a:rPr>
              <a:t> </a:t>
            </a:r>
            <a:r>
              <a:rPr kumimoji="0" lang="en-US" altLang="es-AR" sz="1400" b="1" i="0" u="none" strike="noStrike" cap="none" normalizeH="0" baseline="0" dirty="0" err="1">
                <a:ln>
                  <a:noFill/>
                </a:ln>
                <a:effectLst/>
                <a:latin typeface="+mn-lt"/>
              </a:rPr>
              <a:t>su</a:t>
            </a:r>
            <a:r>
              <a:rPr kumimoji="0" lang="en-US" altLang="es-AR" sz="1400" b="1" i="0" u="none" strike="noStrike" cap="none" normalizeH="0" baseline="0" dirty="0">
                <a:ln>
                  <a:noFill/>
                </a:ln>
                <a:effectLst/>
                <a:latin typeface="+mn-lt"/>
              </a:rPr>
              <a:t> información.</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s-AR" sz="1400" dirty="0">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sz="1400"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1400" b="0" i="0" u="none" strike="noStrike" cap="none" normalizeH="0" baseline="0" dirty="0">
                <a:ln>
                  <a:noFill/>
                </a:ln>
                <a:effectLst/>
                <a:latin typeface="+mn-lt"/>
              </a:rPr>
              <a:t>Dada una muestra de n𝑛 individuos cada uno con p𝑝 variables (X1,X2,…,</a:t>
            </a:r>
            <a:r>
              <a:rPr kumimoji="0" lang="en-US" altLang="es-AR" sz="1400" b="0" i="0" u="none" strike="noStrike" cap="none" normalizeH="0" baseline="0" dirty="0" err="1">
                <a:ln>
                  <a:noFill/>
                </a:ln>
                <a:effectLst/>
                <a:latin typeface="+mn-lt"/>
              </a:rPr>
              <a:t>Xp</a:t>
            </a:r>
            <a:r>
              <a:rPr kumimoji="0" lang="en-US" altLang="es-AR" sz="1400" b="0" i="0" u="none" strike="noStrike" cap="none" normalizeH="0" baseline="0" dirty="0">
                <a:ln>
                  <a:noFill/>
                </a:ln>
                <a:effectLst/>
                <a:latin typeface="+mn-lt"/>
              </a:rPr>
              <a:t>), es decir, el espacio muestral tiene 𝑝 dimensiones.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1400" b="0" i="0" u="none" strike="noStrike" cap="none" normalizeH="0" baseline="0" dirty="0">
                <a:ln>
                  <a:noFill/>
                </a:ln>
                <a:effectLst/>
                <a:latin typeface="+mn-lt"/>
              </a:rPr>
              <a:t>El PCA permite encontrar un número de factores subyacentes (z&lt;p)</a:t>
            </a:r>
            <a:r>
              <a:rPr lang="en-US" altLang="es-AR" sz="1400" dirty="0">
                <a:latin typeface="+mn-lt"/>
              </a:rPr>
              <a:t> </a:t>
            </a:r>
            <a:r>
              <a:rPr kumimoji="0" lang="en-US" altLang="es-AR" sz="1400" b="0" i="0" u="none" strike="noStrike" cap="none" normalizeH="0" baseline="0" dirty="0">
                <a:ln>
                  <a:noFill/>
                </a:ln>
                <a:effectLst/>
                <a:latin typeface="+mn-lt"/>
              </a:rPr>
              <a:t>que explican aproximadamente lo mismo que las p𝑝 variables originales.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1400" b="0" i="0" u="none" strike="noStrike" cap="none" normalizeH="0" baseline="0" dirty="0">
                <a:ln>
                  <a:noFill/>
                </a:ln>
                <a:effectLst/>
                <a:latin typeface="+mn-lt"/>
              </a:rPr>
              <a:t>Cada 𝑧 recibe el nombre de componente principal.</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1400" b="0" i="0" u="none" strike="noStrike" cap="none" normalizeH="0" baseline="0" dirty="0">
                <a:ln>
                  <a:noFill/>
                </a:ln>
                <a:effectLst/>
                <a:latin typeface="+mn-lt"/>
              </a:rPr>
              <a:t>Una de las aplicaciones de PCA es la reducción de dimensionalidad (variables), perdiendo la menor cantidad de información (varianza) posible.</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1400" b="0" i="0" u="none" strike="noStrike" cap="none" normalizeH="0" baseline="0" dirty="0">
                <a:ln>
                  <a:noFill/>
                </a:ln>
                <a:effectLst/>
                <a:latin typeface="+mn-lt"/>
              </a:rPr>
              <a:t>El PCA sirve como herramienta para la visualización de datos.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sz="1400" b="0" i="0" u="none" strike="noStrike" cap="none" normalizeH="0" baseline="0" dirty="0">
              <a:ln>
                <a:noFill/>
              </a:ln>
              <a:effectLst/>
              <a:latin typeface="+mn-lt"/>
            </a:endParaRPr>
          </a:p>
        </p:txBody>
      </p:sp>
      <p:pic>
        <p:nvPicPr>
          <p:cNvPr id="12293" name="Picture 5">
            <a:extLst>
              <a:ext uri="{FF2B5EF4-FFF2-40B4-BE49-F238E27FC236}">
                <a16:creationId xmlns:a16="http://schemas.microsoft.com/office/drawing/2014/main" id="{AAD739B2-5D9A-2586-BC93-E704FCC22C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124" r="18682"/>
          <a:stretch/>
        </p:blipFill>
        <p:spPr bwMode="auto">
          <a:xfrm>
            <a:off x="5856790" y="10"/>
            <a:ext cx="6333687"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800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61A01EA-FA42-33DD-BD3F-B0E241719D68}"/>
              </a:ext>
            </a:extLst>
          </p:cNvPr>
          <p:cNvSpPr txBox="1"/>
          <p:nvPr/>
        </p:nvSpPr>
        <p:spPr>
          <a:xfrm>
            <a:off x="6944810" y="497712"/>
            <a:ext cx="4504402" cy="120675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i="0" dirty="0">
                <a:effectLst/>
                <a:latin typeface="+mj-lt"/>
                <a:ea typeface="+mj-ea"/>
                <a:cs typeface="+mj-cs"/>
              </a:rPr>
              <a:t>Objetivos del ACP</a:t>
            </a:r>
          </a:p>
        </p:txBody>
      </p:sp>
      <p:pic>
        <p:nvPicPr>
          <p:cNvPr id="7" name="Picture 6" descr="Gráfico en un documento con un bolígrafo">
            <a:extLst>
              <a:ext uri="{FF2B5EF4-FFF2-40B4-BE49-F238E27FC236}">
                <a16:creationId xmlns:a16="http://schemas.microsoft.com/office/drawing/2014/main" id="{E3A4041E-1EB5-EDD5-EC96-4CEEA6EC746C}"/>
              </a:ext>
            </a:extLst>
          </p:cNvPr>
          <p:cNvPicPr>
            <a:picLocks noChangeAspect="1"/>
          </p:cNvPicPr>
          <p:nvPr/>
        </p:nvPicPr>
        <p:blipFill rotWithShape="1">
          <a:blip r:embed="rId2"/>
          <a:srcRect l="20896" r="7173" b="-1"/>
          <a:stretch/>
        </p:blipFill>
        <p:spPr>
          <a:xfrm>
            <a:off x="21" y="10"/>
            <a:ext cx="6504952" cy="6857990"/>
          </a:xfrm>
          <a:prstGeom prst="rect">
            <a:avLst/>
          </a:prstGeom>
        </p:spPr>
      </p:pic>
      <p:sp>
        <p:nvSpPr>
          <p:cNvPr id="3" name="CuadroTexto 2">
            <a:extLst>
              <a:ext uri="{FF2B5EF4-FFF2-40B4-BE49-F238E27FC236}">
                <a16:creationId xmlns:a16="http://schemas.microsoft.com/office/drawing/2014/main" id="{0B08E18F-1F9C-F953-EE13-A80AA3CA4155}"/>
              </a:ext>
            </a:extLst>
          </p:cNvPr>
          <p:cNvSpPr txBox="1"/>
          <p:nvPr/>
        </p:nvSpPr>
        <p:spPr>
          <a:xfrm>
            <a:off x="7025832" y="2020924"/>
            <a:ext cx="4504401" cy="4576645"/>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b="0" i="0" dirty="0" err="1">
                <a:effectLst/>
              </a:rPr>
              <a:t>Comparar</a:t>
            </a:r>
            <a:r>
              <a:rPr lang="en-US" sz="2000" b="0" i="0" dirty="0">
                <a:effectLst/>
              </a:rPr>
              <a:t> los individuos entre sí. Las </a:t>
            </a:r>
            <a:r>
              <a:rPr lang="en-US" sz="2000" b="0" i="0" dirty="0" err="1">
                <a:effectLst/>
              </a:rPr>
              <a:t>gráficas</a:t>
            </a:r>
            <a:r>
              <a:rPr lang="en-US" sz="2000" b="0" i="0" dirty="0">
                <a:effectLst/>
              </a:rPr>
              <a:t> que se </a:t>
            </a:r>
            <a:r>
              <a:rPr lang="en-US" sz="2000" b="0" i="0" dirty="0" err="1">
                <a:effectLst/>
              </a:rPr>
              <a:t>obtienen</a:t>
            </a:r>
            <a:r>
              <a:rPr lang="en-US" sz="2000" b="0" i="0" dirty="0">
                <a:effectLst/>
              </a:rPr>
              <a:t> </a:t>
            </a:r>
            <a:r>
              <a:rPr lang="en-US" sz="2000" b="0" i="0" dirty="0" err="1">
                <a:effectLst/>
              </a:rPr>
              <a:t>permiten</a:t>
            </a:r>
            <a:r>
              <a:rPr lang="en-US" sz="2000" b="0" i="0" dirty="0">
                <a:effectLst/>
              </a:rPr>
              <a:t> </a:t>
            </a:r>
            <a:r>
              <a:rPr lang="en-US" sz="2000" b="0" i="0" dirty="0" err="1">
                <a:effectLst/>
              </a:rPr>
              <a:t>observar</a:t>
            </a:r>
            <a:r>
              <a:rPr lang="en-US" sz="2000" b="0" i="0" dirty="0">
                <a:effectLst/>
              </a:rPr>
              <a:t> la forma de la “</a:t>
            </a:r>
            <a:r>
              <a:rPr lang="en-US" sz="2000" b="0" i="0" dirty="0" err="1">
                <a:effectLst/>
              </a:rPr>
              <a:t>nube</a:t>
            </a:r>
            <a:r>
              <a:rPr lang="en-US" sz="2000" b="0" i="0" dirty="0">
                <a:effectLst/>
              </a:rPr>
              <a:t> de individuos”, lo que a </a:t>
            </a:r>
            <a:r>
              <a:rPr lang="en-US" sz="2000" b="0" i="0" dirty="0" err="1">
                <a:effectLst/>
              </a:rPr>
              <a:t>su</a:t>
            </a:r>
            <a:r>
              <a:rPr lang="en-US" sz="2000" b="0" i="0" dirty="0">
                <a:effectLst/>
              </a:rPr>
              <a:t> vez permite </a:t>
            </a:r>
            <a:r>
              <a:rPr lang="en-US" sz="2000" b="0" i="0" dirty="0" err="1">
                <a:effectLst/>
              </a:rPr>
              <a:t>detectar</a:t>
            </a:r>
            <a:r>
              <a:rPr lang="en-US" sz="2000" b="0" i="0" dirty="0">
                <a:effectLst/>
              </a:rPr>
              <a:t> </a:t>
            </a:r>
            <a:r>
              <a:rPr lang="en-US" sz="2000" b="0" i="0" dirty="0" err="1">
                <a:effectLst/>
              </a:rPr>
              <a:t>patrones</a:t>
            </a:r>
            <a:r>
              <a:rPr lang="en-US" sz="2000" b="0" i="0" dirty="0">
                <a:effectLst/>
              </a:rPr>
              <a:t> en </a:t>
            </a:r>
            <a:r>
              <a:rPr lang="en-US" sz="2000" b="0" i="0" dirty="0" err="1">
                <a:effectLst/>
              </a:rPr>
              <a:t>ellos</a:t>
            </a:r>
            <a:r>
              <a:rPr lang="en-US" sz="2000" b="0" i="0" dirty="0">
                <a:effectLst/>
              </a:rPr>
              <a:t>.</a:t>
            </a:r>
          </a:p>
          <a:p>
            <a:pPr indent="-228600">
              <a:lnSpc>
                <a:spcPct val="90000"/>
              </a:lnSpc>
              <a:spcAft>
                <a:spcPts val="600"/>
              </a:spcAft>
              <a:buFont typeface="Arial" panose="020B0604020202020204" pitchFamily="34" charset="0"/>
              <a:buChar char="•"/>
            </a:pPr>
            <a:endParaRPr lang="en-US" sz="2000" b="0" i="0" dirty="0">
              <a:effectLst/>
            </a:endParaRPr>
          </a:p>
          <a:p>
            <a:pPr indent="-228600">
              <a:lnSpc>
                <a:spcPct val="90000"/>
              </a:lnSpc>
              <a:spcAft>
                <a:spcPts val="600"/>
              </a:spcAft>
              <a:buFont typeface="Arial" panose="020B0604020202020204" pitchFamily="34" charset="0"/>
              <a:buChar char="•"/>
            </a:pPr>
            <a:r>
              <a:rPr lang="en-US" sz="2000" b="0" i="0" dirty="0" err="1">
                <a:effectLst/>
              </a:rPr>
              <a:t>Describir</a:t>
            </a:r>
            <a:r>
              <a:rPr lang="en-US" sz="2000" b="0" i="0" dirty="0">
                <a:effectLst/>
              </a:rPr>
              <a:t> las </a:t>
            </a:r>
            <a:r>
              <a:rPr lang="en-US" sz="2000" b="0" i="0" dirty="0" err="1">
                <a:effectLst/>
              </a:rPr>
              <a:t>relaciones</a:t>
            </a:r>
            <a:r>
              <a:rPr lang="en-US" sz="2000" b="0" i="0" dirty="0">
                <a:effectLst/>
              </a:rPr>
              <a:t> entre las variables.</a:t>
            </a:r>
          </a:p>
          <a:p>
            <a:pPr indent="-228600">
              <a:lnSpc>
                <a:spcPct val="90000"/>
              </a:lnSpc>
              <a:spcAft>
                <a:spcPts val="600"/>
              </a:spcAft>
              <a:buFont typeface="Arial" panose="020B0604020202020204" pitchFamily="34" charset="0"/>
              <a:buChar char="•"/>
            </a:pPr>
            <a:endParaRPr lang="en-US" sz="2000" b="0" i="0" dirty="0">
              <a:effectLst/>
            </a:endParaRPr>
          </a:p>
          <a:p>
            <a:pPr indent="-228600">
              <a:lnSpc>
                <a:spcPct val="90000"/>
              </a:lnSpc>
              <a:spcAft>
                <a:spcPts val="600"/>
              </a:spcAft>
              <a:buFont typeface="Arial" panose="020B0604020202020204" pitchFamily="34" charset="0"/>
              <a:buChar char="•"/>
            </a:pPr>
            <a:r>
              <a:rPr lang="en-US" sz="2000" b="0" i="0" dirty="0" err="1">
                <a:effectLst/>
              </a:rPr>
              <a:t>Reducir</a:t>
            </a:r>
            <a:r>
              <a:rPr lang="en-US" sz="2000" b="0" i="0" dirty="0">
                <a:effectLst/>
              </a:rPr>
              <a:t> la </a:t>
            </a:r>
            <a:r>
              <a:rPr lang="en-US" sz="2000" b="0" i="0" dirty="0" err="1">
                <a:effectLst/>
              </a:rPr>
              <a:t>dimensión</a:t>
            </a:r>
            <a:r>
              <a:rPr lang="en-US" sz="2000" b="0" i="0" dirty="0">
                <a:effectLst/>
              </a:rPr>
              <a:t> de la </a:t>
            </a:r>
            <a:r>
              <a:rPr lang="en-US" sz="2000" b="0" i="0" dirty="0" err="1">
                <a:effectLst/>
              </a:rPr>
              <a:t>representación</a:t>
            </a:r>
            <a:r>
              <a:rPr lang="en-US" sz="2000" b="0" i="0" dirty="0">
                <a:effectLst/>
              </a:rPr>
              <a:t>. A mayor </a:t>
            </a:r>
            <a:r>
              <a:rPr lang="en-US" sz="2000" b="0" i="0" dirty="0" err="1">
                <a:effectLst/>
              </a:rPr>
              <a:t>relación</a:t>
            </a:r>
            <a:r>
              <a:rPr lang="en-US" sz="2000" b="0" i="0" dirty="0">
                <a:effectLst/>
              </a:rPr>
              <a:t> entre las variables mayor es la </a:t>
            </a:r>
            <a:r>
              <a:rPr lang="en-US" sz="2000" b="0" i="0" dirty="0" err="1">
                <a:effectLst/>
              </a:rPr>
              <a:t>capacidad</a:t>
            </a:r>
            <a:r>
              <a:rPr lang="en-US" sz="2000" b="0" i="0" dirty="0">
                <a:effectLst/>
              </a:rPr>
              <a:t> de </a:t>
            </a:r>
            <a:r>
              <a:rPr lang="en-US" sz="2000" b="0" i="0" dirty="0" err="1">
                <a:effectLst/>
              </a:rPr>
              <a:t>síntesis</a:t>
            </a:r>
            <a:r>
              <a:rPr lang="en-US" sz="2000" b="0" i="0" dirty="0">
                <a:effectLst/>
              </a:rPr>
              <a:t> del ACP y </a:t>
            </a:r>
            <a:r>
              <a:rPr lang="en-US" sz="2000" b="0" i="0" dirty="0" err="1">
                <a:effectLst/>
              </a:rPr>
              <a:t>unos</a:t>
            </a:r>
            <a:r>
              <a:rPr lang="en-US" sz="2000" b="0" i="0" dirty="0">
                <a:effectLst/>
              </a:rPr>
              <a:t> </a:t>
            </a:r>
            <a:r>
              <a:rPr lang="en-US" sz="2000" b="0" i="0" dirty="0" err="1">
                <a:effectLst/>
              </a:rPr>
              <a:t>pocos</a:t>
            </a:r>
            <a:r>
              <a:rPr lang="en-US" sz="2000" b="0" i="0" dirty="0">
                <a:effectLst/>
              </a:rPr>
              <a:t> </a:t>
            </a:r>
            <a:r>
              <a:rPr lang="en-US" sz="2000" b="0" i="0" dirty="0" err="1">
                <a:effectLst/>
              </a:rPr>
              <a:t>ejes</a:t>
            </a:r>
            <a:r>
              <a:rPr lang="en-US" sz="2000" b="0" i="0" dirty="0">
                <a:effectLst/>
              </a:rPr>
              <a:t> </a:t>
            </a:r>
            <a:r>
              <a:rPr lang="en-US" sz="2000" b="0" i="0" dirty="0" err="1">
                <a:effectLst/>
              </a:rPr>
              <a:t>factoriales</a:t>
            </a:r>
            <a:r>
              <a:rPr lang="en-US" sz="2000" b="0" i="0" dirty="0">
                <a:effectLst/>
              </a:rPr>
              <a:t> </a:t>
            </a:r>
            <a:r>
              <a:rPr lang="en-US" sz="2000" b="0" i="0" dirty="0" err="1">
                <a:effectLst/>
              </a:rPr>
              <a:t>podrán</a:t>
            </a:r>
            <a:r>
              <a:rPr lang="en-US" sz="2000" b="0" i="0" dirty="0">
                <a:effectLst/>
              </a:rPr>
              <a:t> </a:t>
            </a:r>
            <a:r>
              <a:rPr lang="en-US" sz="2000" b="0" i="0" dirty="0" err="1">
                <a:effectLst/>
              </a:rPr>
              <a:t>resumir</a:t>
            </a:r>
            <a:r>
              <a:rPr lang="en-US" sz="2000" b="0" i="0" dirty="0">
                <a:effectLst/>
              </a:rPr>
              <a:t> las variables originales.</a:t>
            </a:r>
          </a:p>
        </p:txBody>
      </p:sp>
    </p:spTree>
    <p:extLst>
      <p:ext uri="{BB962C8B-B14F-4D97-AF65-F5344CB8AC3E}">
        <p14:creationId xmlns:p14="http://schemas.microsoft.com/office/powerpoint/2010/main" val="2726544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a:extLst>
              <a:ext uri="{FF2B5EF4-FFF2-40B4-BE49-F238E27FC236}">
                <a16:creationId xmlns:a16="http://schemas.microsoft.com/office/drawing/2014/main" id="{1D20C6F7-F98D-0B14-58BD-E3C96550E522}"/>
              </a:ext>
            </a:extLst>
          </p:cNvPr>
          <p:cNvPicPr>
            <a:picLocks noChangeAspect="1"/>
          </p:cNvPicPr>
          <p:nvPr/>
        </p:nvPicPr>
        <p:blipFill rotWithShape="1">
          <a:blip r:embed="rId2"/>
          <a:srcRect l="12391" r="20258"/>
          <a:stretch/>
        </p:blipFill>
        <p:spPr>
          <a:xfrm>
            <a:off x="20" y="10"/>
            <a:ext cx="7390243" cy="6857990"/>
          </a:xfrm>
          <a:prstGeom prst="rect">
            <a:avLst/>
          </a:prstGeom>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2EA40FD-948D-614B-EEE4-5DF4A5B0CDC0}"/>
                  </a:ext>
                </a:extLst>
              </p:cNvPr>
              <p:cNvSpPr>
                <a:spLocks noChangeArrowheads="1"/>
              </p:cNvSpPr>
              <p:nvPr/>
            </p:nvSpPr>
            <p:spPr bwMode="auto">
              <a:xfrm>
                <a:off x="7685590" y="544010"/>
                <a:ext cx="3763622" cy="5437298"/>
              </a:xfrm>
              <a:prstGeom prst="rect">
                <a:avLst/>
              </a:prstGeom>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2000" b="0" i="0" u="none" strike="noStrike" cap="none" normalizeH="0" baseline="0" dirty="0">
                    <a:ln>
                      <a:noFill/>
                    </a:ln>
                    <a:effectLst/>
                    <a:latin typeface="+mn-lt"/>
                  </a:rPr>
                  <a:t>ESTANDARIZACIÓN DE LAS VARIABLES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sz="2000"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2000" b="0" i="0" u="none" strike="noStrike" cap="none" normalizeH="0" baseline="0" dirty="0">
                    <a:ln>
                      <a:noFill/>
                    </a:ln>
                    <a:effectLst/>
                    <a:latin typeface="+mn-lt"/>
                  </a:rPr>
                  <a:t>El </a:t>
                </a:r>
                <a:r>
                  <a:rPr kumimoji="0" lang="en-US" altLang="es-AR" sz="2000" b="0" i="0" u="none" strike="noStrike" cap="none" normalizeH="0" baseline="0" dirty="0" err="1">
                    <a:ln>
                      <a:noFill/>
                    </a:ln>
                    <a:effectLst/>
                    <a:latin typeface="+mn-lt"/>
                  </a:rPr>
                  <a:t>cálculo</a:t>
                </a:r>
                <a:r>
                  <a:rPr kumimoji="0" lang="en-US" altLang="es-AR" sz="2000" b="0" i="0" u="none" strike="noStrike" cap="none" normalizeH="0" baseline="0" dirty="0">
                    <a:ln>
                      <a:noFill/>
                    </a:ln>
                    <a:effectLst/>
                    <a:latin typeface="+mn-lt"/>
                  </a:rPr>
                  <a:t> de los componentes principales </a:t>
                </a:r>
                <a:r>
                  <a:rPr kumimoji="0" lang="en-US" altLang="es-AR" sz="2000" b="0" i="0" u="none" strike="noStrike" cap="none" normalizeH="0" baseline="0" dirty="0" err="1">
                    <a:ln>
                      <a:noFill/>
                    </a:ln>
                    <a:effectLst/>
                    <a:latin typeface="+mn-lt"/>
                  </a:rPr>
                  <a:t>depende</a:t>
                </a:r>
                <a:r>
                  <a:rPr kumimoji="0" lang="en-US" altLang="es-AR" sz="2000" b="0" i="0" u="none" strike="noStrike" cap="none" normalizeH="0" baseline="0" dirty="0">
                    <a:ln>
                      <a:noFill/>
                    </a:ln>
                    <a:effectLst/>
                    <a:latin typeface="+mn-lt"/>
                  </a:rPr>
                  <a:t> de las unidades de </a:t>
                </a:r>
                <a:r>
                  <a:rPr kumimoji="0" lang="en-US" altLang="es-AR" sz="2000" b="0" i="0" u="none" strike="noStrike" cap="none" normalizeH="0" baseline="0" dirty="0" err="1">
                    <a:ln>
                      <a:noFill/>
                    </a:ln>
                    <a:effectLst/>
                    <a:latin typeface="+mn-lt"/>
                  </a:rPr>
                  <a:t>medida</a:t>
                </a:r>
                <a:r>
                  <a:rPr kumimoji="0" lang="en-US" altLang="es-AR" sz="2000" b="0" i="0" u="none" strike="noStrike" cap="none" normalizeH="0" baseline="0" dirty="0">
                    <a:ln>
                      <a:noFill/>
                    </a:ln>
                    <a:effectLst/>
                    <a:latin typeface="+mn-lt"/>
                  </a:rPr>
                  <a:t> </a:t>
                </a:r>
                <a:r>
                  <a:rPr kumimoji="0" lang="en-US" altLang="es-AR" sz="2000" b="0" i="0" u="none" strike="noStrike" cap="none" normalizeH="0" baseline="0" dirty="0" err="1">
                    <a:ln>
                      <a:noFill/>
                    </a:ln>
                    <a:effectLst/>
                    <a:latin typeface="+mn-lt"/>
                  </a:rPr>
                  <a:t>empleadas</a:t>
                </a:r>
                <a:r>
                  <a:rPr kumimoji="0" lang="en-US" altLang="es-AR" sz="2000" b="0" i="0" u="none" strike="noStrike" cap="none" normalizeH="0" baseline="0" dirty="0">
                    <a:ln>
                      <a:noFill/>
                    </a:ln>
                    <a:effectLst/>
                    <a:latin typeface="+mn-lt"/>
                  </a:rPr>
                  <a:t> en las variables.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sz="2000"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2000" b="0" i="0" u="none" strike="noStrike" cap="none" normalizeH="0" baseline="0" dirty="0">
                    <a:ln>
                      <a:noFill/>
                    </a:ln>
                    <a:effectLst/>
                    <a:latin typeface="+mn-lt"/>
                  </a:rPr>
                  <a:t>Es </a:t>
                </a:r>
                <a:r>
                  <a:rPr kumimoji="0" lang="en-US" altLang="es-AR" sz="2000" b="0" i="0" u="none" strike="noStrike" cap="none" normalizeH="0" baseline="0" dirty="0" err="1">
                    <a:ln>
                      <a:noFill/>
                    </a:ln>
                    <a:effectLst/>
                    <a:latin typeface="+mn-lt"/>
                  </a:rPr>
                  <a:t>importante</a:t>
                </a:r>
                <a:r>
                  <a:rPr kumimoji="0" lang="en-US" altLang="es-AR" sz="2000" b="0" i="0" u="none" strike="noStrike" cap="none" normalizeH="0" baseline="0" dirty="0">
                    <a:ln>
                      <a:noFill/>
                    </a:ln>
                    <a:effectLst/>
                    <a:latin typeface="+mn-lt"/>
                  </a:rPr>
                  <a:t>, antes de aplicar el PCA, </a:t>
                </a:r>
                <a:r>
                  <a:rPr kumimoji="0" lang="en-US" altLang="es-AR" sz="2000" b="0" i="0" u="none" strike="noStrike" cap="none" normalizeH="0" baseline="0" dirty="0" err="1">
                    <a:ln>
                      <a:noFill/>
                    </a:ln>
                    <a:effectLst/>
                    <a:latin typeface="+mn-lt"/>
                  </a:rPr>
                  <a:t>estandarizar</a:t>
                </a:r>
                <a:r>
                  <a:rPr kumimoji="0" lang="en-US" altLang="es-AR" sz="2000" b="0" i="0" u="none" strike="noStrike" cap="none" normalizeH="0" baseline="0" dirty="0">
                    <a:ln>
                      <a:noFill/>
                    </a:ln>
                    <a:effectLst/>
                    <a:latin typeface="+mn-lt"/>
                  </a:rPr>
                  <a:t> las variables para que </a:t>
                </a:r>
                <a:r>
                  <a:rPr kumimoji="0" lang="en-US" altLang="es-AR" sz="2000" b="0" i="0" u="none" strike="noStrike" cap="none" normalizeH="0" baseline="0" dirty="0" err="1">
                    <a:ln>
                      <a:noFill/>
                    </a:ln>
                    <a:effectLst/>
                    <a:latin typeface="+mn-lt"/>
                  </a:rPr>
                  <a:t>tengan</a:t>
                </a:r>
                <a:r>
                  <a:rPr kumimoji="0" lang="en-US" altLang="es-AR" sz="2000" b="0" i="0" u="none" strike="noStrike" cap="none" normalizeH="0" baseline="0" dirty="0">
                    <a:ln>
                      <a:noFill/>
                    </a:ln>
                    <a:effectLst/>
                    <a:latin typeface="+mn-lt"/>
                  </a:rPr>
                  <a:t> media 0 y </a:t>
                </a:r>
                <a:r>
                  <a:rPr kumimoji="0" lang="en-US" altLang="es-AR" sz="2000" b="0" i="0" u="none" strike="noStrike" cap="none" normalizeH="0" baseline="0" dirty="0" err="1">
                    <a:ln>
                      <a:noFill/>
                    </a:ln>
                    <a:effectLst/>
                    <a:latin typeface="+mn-lt"/>
                  </a:rPr>
                  <a:t>desviación</a:t>
                </a:r>
                <a:r>
                  <a:rPr kumimoji="0" lang="en-US" altLang="es-AR" sz="2000" b="0" i="0" u="none" strike="noStrike" cap="none" normalizeH="0" baseline="0" dirty="0">
                    <a:ln>
                      <a:noFill/>
                    </a:ln>
                    <a:effectLst/>
                    <a:latin typeface="+mn-lt"/>
                  </a:rPr>
                  <a:t> </a:t>
                </a:r>
                <a:r>
                  <a:rPr kumimoji="0" lang="en-US" altLang="es-AR" sz="2000" b="0" i="0" u="none" strike="noStrike" cap="none" normalizeH="0" baseline="0" dirty="0" err="1">
                    <a:ln>
                      <a:noFill/>
                    </a:ln>
                    <a:effectLst/>
                    <a:latin typeface="+mn-lt"/>
                  </a:rPr>
                  <a:t>estándar</a:t>
                </a:r>
                <a:r>
                  <a:rPr kumimoji="0" lang="en-US" altLang="es-AR" sz="2000" b="0" i="0" u="none" strike="noStrike" cap="none" normalizeH="0" baseline="0" dirty="0">
                    <a:ln>
                      <a:noFill/>
                    </a:ln>
                    <a:effectLst/>
                    <a:latin typeface="+mn-lt"/>
                  </a:rPr>
                  <a:t> 1</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sz="2000" b="0" i="0" u="none" strike="noStrike" cap="none" normalizeH="0" baseline="0" dirty="0">
                  <a:ln>
                    <a:noFill/>
                  </a:ln>
                  <a:effectLst/>
                  <a:latin typeface="+mn-lt"/>
                </a:endParaRPr>
              </a:p>
              <a:p>
                <a:pPr lvl="0" indent="-228600" eaLnBrk="1" hangingPunct="1">
                  <a:lnSpc>
                    <a:spcPct val="90000"/>
                  </a:lnSpc>
                  <a:spcAft>
                    <a:spcPts val="600"/>
                  </a:spcAft>
                  <a:buFont typeface="Arial" panose="020B0604020202020204" pitchFamily="34" charset="0"/>
                  <a:buChar char="•"/>
                </a:pPr>
                <a:r>
                  <a:rPr kumimoji="0" lang="en-US" altLang="es-AR" sz="2000" b="0" i="0" u="none" strike="noStrike" cap="none" normalizeH="0" baseline="0" dirty="0">
                    <a:ln>
                      <a:noFill/>
                    </a:ln>
                    <a:effectLst/>
                    <a:latin typeface="+mn-lt"/>
                  </a:rPr>
                  <a:t>Zi=</a:t>
                </a:r>
                <a14:m>
                  <m:oMath xmlns:m="http://schemas.openxmlformats.org/officeDocument/2006/math">
                    <m:f>
                      <m:fPr>
                        <m:ctrlPr>
                          <a:rPr kumimoji="0" lang="en-US" altLang="es-AR" sz="2000" b="0" i="1" u="none" strike="noStrike" cap="none" normalizeH="0" baseline="0">
                            <a:ln>
                              <a:noFill/>
                            </a:ln>
                            <a:effectLst/>
                            <a:latin typeface="Cambria Math" panose="02040503050406030204" pitchFamily="18" charset="0"/>
                          </a:rPr>
                        </m:ctrlPr>
                      </m:fPr>
                      <m:num>
                        <m:r>
                          <m:rPr>
                            <m:nor/>
                          </m:rPr>
                          <a:rPr kumimoji="0" lang="en-US" altLang="es-AR" sz="2000" b="0" i="0" u="none" strike="noStrike" cap="none" normalizeH="0" baseline="0">
                            <a:ln>
                              <a:noFill/>
                            </a:ln>
                            <a:effectLst/>
                            <a:latin typeface="+mn-lt"/>
                          </a:rPr>
                          <m:t>xi</m:t>
                        </m:r>
                        <m:r>
                          <m:rPr>
                            <m:nor/>
                          </m:rPr>
                          <a:rPr kumimoji="0" lang="en-US" altLang="es-AR" sz="2000" b="0" i="0" u="none" strike="noStrike" cap="none" normalizeH="0" baseline="0">
                            <a:ln>
                              <a:noFill/>
                            </a:ln>
                            <a:effectLst/>
                            <a:latin typeface="+mn-lt"/>
                          </a:rPr>
                          <m:t>−</m:t>
                        </m:r>
                        <m:r>
                          <m:rPr>
                            <m:nor/>
                          </m:rPr>
                          <a:rPr kumimoji="0" lang="en-US" altLang="es-AR" sz="2000" b="0" i="0" u="none" strike="noStrike" cap="none" normalizeH="0" baseline="0">
                            <a:ln>
                              <a:noFill/>
                            </a:ln>
                            <a:effectLst/>
                            <a:latin typeface="+mn-lt"/>
                          </a:rPr>
                          <m:t>media</m:t>
                        </m:r>
                        <m:r>
                          <m:rPr>
                            <m:nor/>
                          </m:rPr>
                          <a:rPr kumimoji="0" lang="en-US" altLang="es-AR" sz="2000" b="0" i="0" u="none" strike="noStrike" cap="none" normalizeH="0" baseline="0">
                            <a:ln>
                              <a:noFill/>
                            </a:ln>
                            <a:effectLst/>
                            <a:latin typeface="+mn-lt"/>
                          </a:rPr>
                          <m:t>(</m:t>
                        </m:r>
                        <m:r>
                          <m:rPr>
                            <m:nor/>
                          </m:rPr>
                          <a:rPr kumimoji="0" lang="en-US" altLang="es-AR" sz="2000" b="0" i="0" u="none" strike="noStrike" cap="none" normalizeH="0" baseline="0">
                            <a:ln>
                              <a:noFill/>
                            </a:ln>
                            <a:effectLst/>
                            <a:latin typeface="+mn-lt"/>
                          </a:rPr>
                          <m:t>x</m:t>
                        </m:r>
                        <m:r>
                          <m:rPr>
                            <m:nor/>
                          </m:rPr>
                          <a:rPr kumimoji="0" lang="en-US" altLang="es-AR" sz="2000" b="0" i="0" u="none" strike="noStrike" cap="none" normalizeH="0" baseline="0">
                            <a:ln>
                              <a:noFill/>
                            </a:ln>
                            <a:effectLst/>
                            <a:latin typeface="+mn-lt"/>
                          </a:rPr>
                          <m:t>) </m:t>
                        </m:r>
                      </m:num>
                      <m:den>
                        <m:r>
                          <m:rPr>
                            <m:nor/>
                          </m:rPr>
                          <a:rPr kumimoji="0" lang="en-US" altLang="es-AR" sz="2000" b="0" i="0" u="none" strike="noStrike" cap="none" normalizeH="0" baseline="0">
                            <a:ln>
                              <a:noFill/>
                            </a:ln>
                            <a:effectLst/>
                            <a:latin typeface="+mn-lt"/>
                          </a:rPr>
                          <m:t>sd</m:t>
                        </m:r>
                        <m:r>
                          <m:rPr>
                            <m:nor/>
                          </m:rPr>
                          <a:rPr kumimoji="0" lang="en-US" altLang="es-AR" sz="2000" b="0" i="0" u="none" strike="noStrike" cap="none" normalizeH="0" baseline="0">
                            <a:ln>
                              <a:noFill/>
                            </a:ln>
                            <a:effectLst/>
                            <a:latin typeface="+mn-lt"/>
                          </a:rPr>
                          <m:t>(</m:t>
                        </m:r>
                        <m:r>
                          <m:rPr>
                            <m:nor/>
                          </m:rPr>
                          <a:rPr kumimoji="0" lang="en-US" altLang="es-AR" sz="2000" b="0" i="0" u="none" strike="noStrike" cap="none" normalizeH="0" baseline="0">
                            <a:ln>
                              <a:noFill/>
                            </a:ln>
                            <a:effectLst/>
                            <a:latin typeface="+mn-lt"/>
                          </a:rPr>
                          <m:t>x</m:t>
                        </m:r>
                        <m:r>
                          <m:rPr>
                            <m:nor/>
                          </m:rPr>
                          <a:rPr kumimoji="0" lang="en-US" altLang="es-AR" sz="2000" b="0" i="0" u="none" strike="noStrike" cap="none" normalizeH="0" baseline="0">
                            <a:ln>
                              <a:noFill/>
                            </a:ln>
                            <a:effectLst/>
                            <a:latin typeface="+mn-lt"/>
                          </a:rPr>
                          <m:t>)</m:t>
                        </m:r>
                      </m:den>
                    </m:f>
                  </m:oMath>
                </a14:m>
                <a:endParaRPr kumimoji="0" lang="en-US" altLang="es-AR" sz="2000"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br>
                  <a:rPr kumimoji="0" lang="en-US" altLang="es-AR" sz="2000" b="0" i="0" u="none" strike="noStrike" cap="none" normalizeH="0" baseline="0" dirty="0">
                    <a:ln>
                      <a:noFill/>
                    </a:ln>
                    <a:effectLst/>
                    <a:latin typeface="+mn-lt"/>
                  </a:rPr>
                </a:br>
                <a:endParaRPr kumimoji="0" lang="en-US" altLang="es-AR" sz="2000" b="0" i="0" u="none" strike="noStrike" cap="none" normalizeH="0" baseline="0" dirty="0">
                  <a:ln>
                    <a:noFill/>
                  </a:ln>
                  <a:effectLst/>
                  <a:latin typeface="+mn-lt"/>
                </a:endParaRPr>
              </a:p>
            </p:txBody>
          </p:sp>
        </mc:Choice>
        <mc:Fallback xmlns="">
          <p:sp>
            <p:nvSpPr>
              <p:cNvPr id="2" name="Rectangle 1">
                <a:extLst>
                  <a:ext uri="{FF2B5EF4-FFF2-40B4-BE49-F238E27FC236}">
                    <a16:creationId xmlns:a16="http://schemas.microsoft.com/office/drawing/2014/main" id="{C2EA40FD-948D-614B-EEE4-5DF4A5B0CDC0}"/>
                  </a:ext>
                </a:extLst>
              </p:cNvPr>
              <p:cNvSpPr>
                <a:spLocks noRot="1" noChangeAspect="1" noMove="1" noResize="1" noEditPoints="1" noAdjustHandles="1" noChangeArrowheads="1" noChangeShapeType="1" noTextEdit="1"/>
              </p:cNvSpPr>
              <p:nvPr/>
            </p:nvSpPr>
            <p:spPr bwMode="auto">
              <a:xfrm>
                <a:off x="7685590" y="544010"/>
                <a:ext cx="3763622" cy="5437298"/>
              </a:xfrm>
              <a:prstGeom prst="rect">
                <a:avLst/>
              </a:prstGeom>
              <a:blipFill>
                <a:blip r:embed="rId3"/>
                <a:stretch>
                  <a:fillRect l="-1783" t="-1009" r="-2269"/>
                </a:stretch>
              </a:blip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p:spTree>
    <p:extLst>
      <p:ext uri="{BB962C8B-B14F-4D97-AF65-F5344CB8AC3E}">
        <p14:creationId xmlns:p14="http://schemas.microsoft.com/office/powerpoint/2010/main" val="1244180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6639211-4450-8239-17E6-EBA61C22E72E}"/>
              </a:ext>
            </a:extLst>
          </p:cNvPr>
          <p:cNvPicPr>
            <a:picLocks noChangeAspect="1"/>
          </p:cNvPicPr>
          <p:nvPr/>
        </p:nvPicPr>
        <p:blipFill>
          <a:blip r:embed="rId2"/>
          <a:stretch>
            <a:fillRect/>
          </a:stretch>
        </p:blipFill>
        <p:spPr>
          <a:xfrm>
            <a:off x="0" y="539461"/>
            <a:ext cx="4777381" cy="389707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 name="Rectangle 1">
            <a:extLst>
              <a:ext uri="{FF2B5EF4-FFF2-40B4-BE49-F238E27FC236}">
                <a16:creationId xmlns:a16="http://schemas.microsoft.com/office/drawing/2014/main" id="{3BE0F1AC-3C3B-F8A5-AB0C-252849F56AAE}"/>
              </a:ext>
            </a:extLst>
          </p:cNvPr>
          <p:cNvSpPr>
            <a:spLocks noChangeArrowheads="1"/>
          </p:cNvSpPr>
          <p:nvPr/>
        </p:nvSpPr>
        <p:spPr bwMode="auto">
          <a:xfrm>
            <a:off x="5426677" y="722346"/>
            <a:ext cx="5635906" cy="572555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ct val="0"/>
              </a:spcBef>
              <a:spcAft>
                <a:spcPts val="600"/>
              </a:spcAft>
              <a:buClrTx/>
              <a:buSzTx/>
              <a:tabLst/>
            </a:pPr>
            <a:r>
              <a:rPr kumimoji="0" lang="en-US" altLang="es-AR" b="1" i="0" u="none" strike="noStrike" cap="none" normalizeH="0" baseline="0" dirty="0">
                <a:ln>
                  <a:noFill/>
                </a:ln>
                <a:effectLst/>
                <a:latin typeface="+mn-lt"/>
              </a:rPr>
              <a:t>Cálculo de las componentes principales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0" i="0" u="none" strike="noStrike" cap="none" normalizeH="0" baseline="0" dirty="0">
                <a:ln>
                  <a:noFill/>
                </a:ln>
                <a:effectLst/>
                <a:latin typeface="+mn-lt"/>
              </a:rPr>
              <a:t>Cada componente principal (𝑍𝑖) se </a:t>
            </a:r>
            <a:r>
              <a:rPr kumimoji="0" lang="en-US" altLang="es-AR" b="0" i="0" u="none" strike="noStrike" cap="none" normalizeH="0" baseline="0" dirty="0" err="1">
                <a:ln>
                  <a:noFill/>
                </a:ln>
                <a:effectLst/>
                <a:latin typeface="+mn-lt"/>
              </a:rPr>
              <a:t>obtiene</a:t>
            </a:r>
            <a:r>
              <a:rPr kumimoji="0" lang="en-US" altLang="es-AR" b="0" i="0" u="none" strike="noStrike" cap="none" normalizeH="0" baseline="0" dirty="0">
                <a:ln>
                  <a:noFill/>
                </a:ln>
                <a:effectLst/>
                <a:latin typeface="+mn-lt"/>
              </a:rPr>
              <a:t> por combinación lineal de las variables originales.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0" i="0" u="none" strike="noStrike" cap="none" normalizeH="0" baseline="0" dirty="0">
                <a:ln>
                  <a:noFill/>
                </a:ln>
                <a:effectLst/>
                <a:latin typeface="+mn-lt"/>
              </a:rPr>
              <a:t>La primera componente principal de un grupo de variables (X1,X2,…,</a:t>
            </a:r>
            <a:r>
              <a:rPr kumimoji="0" lang="en-US" altLang="es-AR" b="0" i="0" u="none" strike="noStrike" cap="none" normalizeH="0" baseline="0" dirty="0" err="1">
                <a:ln>
                  <a:noFill/>
                </a:ln>
                <a:effectLst/>
                <a:latin typeface="+mn-lt"/>
              </a:rPr>
              <a:t>Xp</a:t>
            </a:r>
            <a:r>
              <a:rPr kumimoji="0" lang="en-US" altLang="es-AR" b="0" i="0" u="none" strike="noStrike" cap="none" normalizeH="0" baseline="0" dirty="0">
                <a:ln>
                  <a:noFill/>
                </a:ln>
                <a:effectLst/>
                <a:latin typeface="+mn-lt"/>
              </a:rPr>
              <a:t>) es la combinación lineal </a:t>
            </a:r>
            <a:r>
              <a:rPr kumimoji="0" lang="en-US" altLang="es-AR" b="0" i="0" u="none" strike="noStrike" cap="none" normalizeH="0" baseline="0" dirty="0" err="1">
                <a:ln>
                  <a:noFill/>
                </a:ln>
                <a:effectLst/>
                <a:latin typeface="+mn-lt"/>
              </a:rPr>
              <a:t>normalizada</a:t>
            </a:r>
            <a:r>
              <a:rPr kumimoji="0" lang="en-US" altLang="es-AR" b="0" i="0" u="none" strike="noStrike" cap="none" normalizeH="0" baseline="0" dirty="0">
                <a:ln>
                  <a:noFill/>
                </a:ln>
                <a:effectLst/>
                <a:latin typeface="+mn-lt"/>
              </a:rPr>
              <a:t> de </a:t>
            </a:r>
            <a:r>
              <a:rPr kumimoji="0" lang="en-US" altLang="es-AR" b="0" i="0" u="none" strike="noStrike" cap="none" normalizeH="0" baseline="0" dirty="0" err="1">
                <a:ln>
                  <a:noFill/>
                </a:ln>
                <a:effectLst/>
                <a:latin typeface="+mn-lt"/>
              </a:rPr>
              <a:t>dichas</a:t>
            </a:r>
            <a:r>
              <a:rPr kumimoji="0" lang="en-US" altLang="es-AR" b="0" i="0" u="none" strike="noStrike" cap="none" normalizeH="0" baseline="0" dirty="0">
                <a:ln>
                  <a:noFill/>
                </a:ln>
                <a:effectLst/>
                <a:latin typeface="+mn-lt"/>
              </a:rPr>
              <a:t> variables que tiene mayor varianza:</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1" i="0" u="none" strike="noStrike" cap="none" normalizeH="0" baseline="0" dirty="0">
                <a:ln>
                  <a:noFill/>
                </a:ln>
                <a:effectLst/>
                <a:latin typeface="+mn-lt"/>
              </a:rPr>
              <a:t>Z1=ϕ11X1+ϕ21X2+...+ϕp1Xp</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1"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0" i="0" u="none" strike="noStrike" cap="none" normalizeH="0" baseline="0" dirty="0">
                <a:ln>
                  <a:noFill/>
                </a:ln>
                <a:effectLst/>
                <a:latin typeface="+mn-lt"/>
              </a:rPr>
              <a:t>con la condición</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0" i="0" u="none" strike="noStrike" cap="none" normalizeH="0" baseline="0" dirty="0">
                <a:ln>
                  <a:noFill/>
                </a:ln>
                <a:effectLst/>
                <a:latin typeface="+mn-lt"/>
              </a:rPr>
              <a:t>∑j=1pϕ2j1=1</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0" i="0" u="none" strike="noStrike" cap="none" normalizeH="0" baseline="0" dirty="0">
                <a:ln>
                  <a:noFill/>
                </a:ln>
                <a:effectLst/>
                <a:latin typeface="+mn-lt"/>
              </a:rPr>
              <a:t>En general</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0" i="0" u="none" strike="noStrike" cap="none" normalizeH="0" baseline="0" dirty="0">
                <a:ln>
                  <a:noFill/>
                </a:ln>
                <a:effectLst/>
                <a:latin typeface="+mn-lt"/>
              </a:rPr>
              <a:t>𝜙1𝑚,𝜙2𝑚,...,𝜙𝑝𝑚 son las cargas o loadings de los componentes principales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0" i="0" u="none" strike="noStrike" cap="none" normalizeH="0" baseline="0" dirty="0">
              <a:ln>
                <a:noFill/>
              </a:ln>
              <a:effectLst/>
              <a:latin typeface="+mn-lt"/>
            </a:endParaRPr>
          </a:p>
        </p:txBody>
      </p:sp>
    </p:spTree>
    <p:extLst>
      <p:ext uri="{BB962C8B-B14F-4D97-AF65-F5344CB8AC3E}">
        <p14:creationId xmlns:p14="http://schemas.microsoft.com/office/powerpoint/2010/main" val="1487014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B15831-951C-48F9-8611-A0C32B26F957}"/>
              </a:ext>
            </a:extLst>
          </p:cNvPr>
          <p:cNvSpPr>
            <a:spLocks noChangeArrowheads="1"/>
          </p:cNvSpPr>
          <p:nvPr/>
        </p:nvSpPr>
        <p:spPr bwMode="auto">
          <a:xfrm>
            <a:off x="4309690" y="776539"/>
            <a:ext cx="7324145"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sz="1100" b="1"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1" i="0" u="none" strike="noStrike" cap="none" normalizeH="0" baseline="0" dirty="0">
                <a:ln>
                  <a:noFill/>
                </a:ln>
                <a:effectLst/>
                <a:latin typeface="+mn-lt"/>
              </a:rPr>
              <a:t>La primera componente principal (Z1) es </a:t>
            </a:r>
            <a:r>
              <a:rPr kumimoji="0" lang="es-AR" altLang="es-AR" b="1" i="0" u="none" strike="noStrike" cap="none" normalizeH="0" baseline="0" dirty="0">
                <a:ln>
                  <a:noFill/>
                </a:ln>
                <a:effectLst/>
                <a:latin typeface="+mn-lt"/>
              </a:rPr>
              <a:t>aquella</a:t>
            </a:r>
            <a:r>
              <a:rPr kumimoji="0" lang="en-US" altLang="es-AR" b="1" i="0" u="none" strike="noStrike" cap="none" normalizeH="0" baseline="0" dirty="0">
                <a:ln>
                  <a:noFill/>
                </a:ln>
                <a:effectLst/>
                <a:latin typeface="+mn-lt"/>
              </a:rPr>
              <a:t> cuya dirección refleja o contiene la mayor variabilidad en los datos.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1"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1" i="0" u="none" strike="noStrike" cap="none" normalizeH="0" baseline="0" dirty="0">
                <a:ln>
                  <a:noFill/>
                </a:ln>
                <a:effectLst/>
                <a:latin typeface="+mn-lt"/>
              </a:rPr>
              <a:t>Este vector define la línea lo más próxima posible a los datos y que minimiza la suma de las distancias perpendiculares entre cada dato y la línea representada por la componente (usando como medida de </a:t>
            </a:r>
            <a:r>
              <a:rPr kumimoji="0" lang="es-AR" altLang="es-AR" b="1" i="0" u="none" strike="noStrike" cap="none" normalizeH="0" baseline="0" dirty="0">
                <a:ln>
                  <a:noFill/>
                </a:ln>
                <a:effectLst/>
                <a:latin typeface="+mn-lt"/>
              </a:rPr>
              <a:t>cercanía</a:t>
            </a:r>
            <a:r>
              <a:rPr kumimoji="0" lang="en-US" altLang="es-AR" b="1" i="0" u="none" strike="noStrike" cap="none" normalizeH="0" baseline="0" dirty="0">
                <a:ln>
                  <a:noFill/>
                </a:ln>
                <a:effectLst/>
                <a:latin typeface="+mn-lt"/>
              </a:rPr>
              <a:t> el promedio de la distancia euclídea al cuadrado)</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1"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1" i="0" u="none" strike="noStrike" cap="none" normalizeH="0" baseline="0" dirty="0">
                <a:ln>
                  <a:noFill/>
                </a:ln>
                <a:effectLst/>
                <a:latin typeface="+mn-lt"/>
              </a:rPr>
              <a:t>zi1=ϕ11xi1+ϕ21xi2+…+ϕp1xip</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1"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1" i="0" u="none" strike="noStrike" cap="none" normalizeH="0" baseline="0" dirty="0">
                <a:ln>
                  <a:noFill/>
                </a:ln>
                <a:effectLst/>
                <a:latin typeface="+mn-lt"/>
              </a:rPr>
              <a:t>donde ϕ11𝜙11 corresponde al primer loading de la primera componente principal.</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1"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1" i="0" u="none" strike="noStrike" cap="none" normalizeH="0" baseline="0" dirty="0">
                <a:ln>
                  <a:noFill/>
                </a:ln>
                <a:effectLst/>
                <a:latin typeface="+mn-lt"/>
              </a:rPr>
              <a:t>En otras palabras, el vector de loadings de la primera componente principal resuelve el problema de optimización</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s-AR" b="1" dirty="0">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1"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1" i="0" u="none" strike="noStrike" cap="none" normalizeH="0" baseline="0" dirty="0">
                <a:ln>
                  <a:noFill/>
                </a:ln>
                <a:effectLst/>
                <a:latin typeface="+mn-lt"/>
              </a:rPr>
              <a:t>maximize𝜙11,…,𝜙𝑝1{1𝑛∑𝑖=1𝑛(∑𝑗=1𝑝𝜙𝑗1𝑥𝑖𝑗)2}</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s-AR" b="1" dirty="0">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AR" b="1"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b="1" i="0" u="none" strike="noStrike" cap="none" normalizeH="0" baseline="0" dirty="0">
                <a:ln>
                  <a:noFill/>
                </a:ln>
                <a:effectLst/>
                <a:latin typeface="+mn-lt"/>
              </a:rPr>
              <a:t> sujeto a ∑j=1pϕ2j1=1</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br>
              <a:rPr kumimoji="0" lang="en-US" altLang="es-AR" sz="1100" b="0" i="0" u="none" strike="noStrike" cap="none" normalizeH="0" baseline="0" dirty="0">
                <a:ln>
                  <a:noFill/>
                </a:ln>
                <a:effectLst/>
                <a:latin typeface="+mn-lt"/>
              </a:rPr>
            </a:br>
            <a:endParaRPr kumimoji="0" lang="en-US" altLang="es-AR" sz="1100" b="0" i="0" u="none" strike="noStrike" cap="none" normalizeH="0" baseline="0" dirty="0">
              <a:ln>
                <a:noFill/>
              </a:ln>
              <a:effectLst/>
              <a:latin typeface="+mn-lt"/>
            </a:endParaRPr>
          </a:p>
        </p:txBody>
      </p:sp>
    </p:spTree>
    <p:extLst>
      <p:ext uri="{BB962C8B-B14F-4D97-AF65-F5344CB8AC3E}">
        <p14:creationId xmlns:p14="http://schemas.microsoft.com/office/powerpoint/2010/main" val="2275757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3DF8D5-35EC-90B3-53D3-D01137D1320A}"/>
              </a:ext>
            </a:extLst>
          </p:cNvPr>
          <p:cNvSpPr>
            <a:spLocks noChangeArrowheads="1"/>
          </p:cNvSpPr>
          <p:nvPr/>
        </p:nvSpPr>
        <p:spPr bwMode="auto">
          <a:xfrm>
            <a:off x="548527" y="391174"/>
            <a:ext cx="5649074" cy="604349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3200" b="0" i="0" u="none" strike="noStrike" cap="none" normalizeH="0" baseline="0" dirty="0">
                <a:ln>
                  <a:noFill/>
                </a:ln>
                <a:effectLst/>
                <a:latin typeface="+mn-lt"/>
              </a:rPr>
              <a:t> La segunda componente principal (Z2) será una combinación lineal de las variables, que recoja la segunda dirección con mayor varianza de los datos, pero que no esté correlacionada con Z1. </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s-AR" sz="3200" dirty="0">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AR" sz="3200" b="0" i="0" u="none" strike="noStrike" cap="none" normalizeH="0" baseline="0" dirty="0">
                <a:ln>
                  <a:noFill/>
                </a:ln>
                <a:effectLst/>
                <a:latin typeface="+mn-lt"/>
              </a:rPr>
              <a:t>Esta condición es equivalente a decir que la dirección de Z2 (vector ϕ2) ha de ser ortogonal respecto a Z1 (vector ϕ1). </a:t>
            </a:r>
          </a:p>
        </p:txBody>
      </p:sp>
    </p:spTree>
    <p:extLst>
      <p:ext uri="{BB962C8B-B14F-4D97-AF65-F5344CB8AC3E}">
        <p14:creationId xmlns:p14="http://schemas.microsoft.com/office/powerpoint/2010/main" val="3456219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EB1EB77-C2F4-8362-B858-3362D7096C90}"/>
              </a:ext>
            </a:extLst>
          </p:cNvPr>
          <p:cNvSpPr txBox="1"/>
          <p:nvPr/>
        </p:nvSpPr>
        <p:spPr>
          <a:xfrm>
            <a:off x="804672" y="338328"/>
            <a:ext cx="5011473" cy="17739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b="1">
                <a:solidFill>
                  <a:schemeClr val="tx2"/>
                </a:solidFill>
                <a:latin typeface="+mj-lt"/>
                <a:ea typeface="+mj-ea"/>
                <a:cs typeface="+mj-cs"/>
              </a:rPr>
              <a:t>Variabilidad Explicada</a:t>
            </a:r>
          </a:p>
          <a:p>
            <a:pPr>
              <a:lnSpc>
                <a:spcPct val="90000"/>
              </a:lnSpc>
              <a:spcBef>
                <a:spcPct val="0"/>
              </a:spcBef>
              <a:spcAft>
                <a:spcPts val="600"/>
              </a:spcAft>
            </a:pPr>
            <a:endParaRPr lang="en-US" sz="3600" b="1">
              <a:solidFill>
                <a:schemeClr val="tx2"/>
              </a:solidFill>
              <a:latin typeface="+mj-lt"/>
              <a:ea typeface="+mj-ea"/>
              <a:cs typeface="+mj-cs"/>
            </a:endParaRPr>
          </a:p>
          <a:p>
            <a:pPr>
              <a:lnSpc>
                <a:spcPct val="90000"/>
              </a:lnSpc>
              <a:spcBef>
                <a:spcPct val="0"/>
              </a:spcBef>
              <a:spcAft>
                <a:spcPts val="600"/>
              </a:spcAft>
            </a:pPr>
            <a:endParaRPr lang="en-US" sz="3600" b="1">
              <a:solidFill>
                <a:schemeClr val="tx2"/>
              </a:solidFill>
              <a:latin typeface="+mj-lt"/>
              <a:ea typeface="+mj-ea"/>
              <a:cs typeface="+mj-cs"/>
            </a:endParaRPr>
          </a:p>
        </p:txBody>
      </p:sp>
      <p:sp>
        <p:nvSpPr>
          <p:cNvPr id="5" name="CuadroTexto 4">
            <a:extLst>
              <a:ext uri="{FF2B5EF4-FFF2-40B4-BE49-F238E27FC236}">
                <a16:creationId xmlns:a16="http://schemas.microsoft.com/office/drawing/2014/main" id="{53808AF7-1884-5609-6241-01DCDBB0AB12}"/>
              </a:ext>
            </a:extLst>
          </p:cNvPr>
          <p:cNvSpPr txBox="1"/>
          <p:nvPr/>
        </p:nvSpPr>
        <p:spPr>
          <a:xfrm>
            <a:off x="6620817" y="1678905"/>
            <a:ext cx="5029200" cy="177393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400" b="0" i="0" u="none" strike="noStrike" dirty="0">
                <a:solidFill>
                  <a:schemeClr val="tx2"/>
                </a:solidFill>
                <a:effectLst/>
              </a:rPr>
              <a:t>Var(Zi)=</a:t>
            </a:r>
            <a:r>
              <a:rPr lang="en-US" sz="2400" b="0" i="0" u="none" strike="noStrike" dirty="0" err="1">
                <a:solidFill>
                  <a:schemeClr val="tx2"/>
                </a:solidFill>
                <a:effectLst/>
              </a:rPr>
              <a:t>λi</a:t>
            </a:r>
            <a:endParaRPr lang="en-US" sz="2400" b="0" i="0" u="none" strike="noStrike" dirty="0">
              <a:solidFill>
                <a:schemeClr val="tx2"/>
              </a:solidFill>
              <a:effectLst/>
            </a:endParaRPr>
          </a:p>
          <a:p>
            <a:pPr indent="-228600">
              <a:lnSpc>
                <a:spcPct val="90000"/>
              </a:lnSpc>
              <a:spcAft>
                <a:spcPts val="600"/>
              </a:spcAft>
              <a:buFont typeface="Arial" panose="020B0604020202020204" pitchFamily="34" charset="0"/>
              <a:buChar char="•"/>
            </a:pPr>
            <a:endParaRPr lang="en-US" sz="2400" b="0" i="0" u="none" strike="noStrike" dirty="0">
              <a:solidFill>
                <a:schemeClr val="tx2"/>
              </a:solidFill>
              <a:effectLst/>
            </a:endParaRPr>
          </a:p>
          <a:p>
            <a:pPr indent="-228600">
              <a:lnSpc>
                <a:spcPct val="90000"/>
              </a:lnSpc>
              <a:spcAft>
                <a:spcPts val="600"/>
              </a:spcAft>
              <a:buFont typeface="Arial" panose="020B0604020202020204" pitchFamily="34" charset="0"/>
              <a:buChar char="•"/>
            </a:pPr>
            <a:r>
              <a:rPr lang="en-US" sz="2400" dirty="0">
                <a:solidFill>
                  <a:schemeClr val="tx2"/>
                </a:solidFill>
              </a:rPr>
              <a:t>Por lo </a:t>
            </a:r>
            <a:r>
              <a:rPr lang="en-US" sz="2400" dirty="0" err="1">
                <a:solidFill>
                  <a:schemeClr val="tx2"/>
                </a:solidFill>
              </a:rPr>
              <a:t>cual</a:t>
            </a:r>
            <a:r>
              <a:rPr lang="en-US" sz="2400" dirty="0">
                <a:solidFill>
                  <a:schemeClr val="tx2"/>
                </a:solidFill>
              </a:rPr>
              <a:t> la </a:t>
            </a:r>
            <a:r>
              <a:rPr lang="en-US" sz="2400" dirty="0" err="1">
                <a:solidFill>
                  <a:schemeClr val="tx2"/>
                </a:solidFill>
              </a:rPr>
              <a:t>proporción</a:t>
            </a:r>
            <a:r>
              <a:rPr lang="en-US" sz="2400" dirty="0">
                <a:solidFill>
                  <a:schemeClr val="tx2"/>
                </a:solidFill>
              </a:rPr>
              <a:t> </a:t>
            </a:r>
            <a:r>
              <a:rPr lang="en-US" sz="2400" dirty="0" err="1">
                <a:solidFill>
                  <a:schemeClr val="tx2"/>
                </a:solidFill>
              </a:rPr>
              <a:t>explicada</a:t>
            </a:r>
            <a:r>
              <a:rPr lang="en-US" sz="2400" dirty="0">
                <a:solidFill>
                  <a:schemeClr val="tx2"/>
                </a:solidFill>
              </a:rPr>
              <a:t> de </a:t>
            </a:r>
            <a:r>
              <a:rPr lang="en-US" sz="2400" dirty="0" err="1">
                <a:solidFill>
                  <a:schemeClr val="tx2"/>
                </a:solidFill>
              </a:rPr>
              <a:t>variabilidad</a:t>
            </a:r>
            <a:r>
              <a:rPr lang="en-US" sz="2400" dirty="0">
                <a:solidFill>
                  <a:schemeClr val="tx2"/>
                </a:solidFill>
              </a:rPr>
              <a:t> es</a:t>
            </a:r>
          </a:p>
          <a:p>
            <a:pPr indent="-228600">
              <a:lnSpc>
                <a:spcPct val="90000"/>
              </a:lnSpc>
              <a:spcAft>
                <a:spcPts val="600"/>
              </a:spcAft>
              <a:buFont typeface="Arial" panose="020B0604020202020204" pitchFamily="34" charset="0"/>
              <a:buChar char="•"/>
            </a:pPr>
            <a:endParaRPr lang="en-US" sz="2400" b="0" i="0" u="none" strike="noStrike" dirty="0">
              <a:solidFill>
                <a:schemeClr val="tx2"/>
              </a:solidFill>
              <a:effectLst/>
            </a:endParaRPr>
          </a:p>
          <a:p>
            <a:pPr indent="-228600">
              <a:lnSpc>
                <a:spcPct val="90000"/>
              </a:lnSpc>
              <a:spcAft>
                <a:spcPts val="600"/>
              </a:spcAft>
              <a:buFont typeface="Arial" panose="020B0604020202020204" pitchFamily="34" charset="0"/>
              <a:buChar char="•"/>
            </a:pPr>
            <a:endParaRPr lang="en-US" sz="1100" dirty="0">
              <a:solidFill>
                <a:schemeClr val="tx2"/>
              </a:solidFill>
            </a:endParaRPr>
          </a:p>
          <a:p>
            <a:pPr indent="-228600">
              <a:lnSpc>
                <a:spcPct val="90000"/>
              </a:lnSpc>
              <a:spcAft>
                <a:spcPts val="600"/>
              </a:spcAft>
              <a:buFont typeface="Arial" panose="020B0604020202020204" pitchFamily="34" charset="0"/>
              <a:buChar char="•"/>
            </a:pPr>
            <a:endParaRPr lang="en-US" sz="1100" b="0" i="0" u="none" strike="noStrike" dirty="0">
              <a:solidFill>
                <a:schemeClr val="tx2"/>
              </a:solidFill>
              <a:effectLst/>
            </a:endParaRPr>
          </a:p>
          <a:p>
            <a:pPr>
              <a:lnSpc>
                <a:spcPct val="90000"/>
              </a:lnSpc>
              <a:spcAft>
                <a:spcPts val="600"/>
              </a:spcAft>
            </a:pPr>
            <a:endParaRPr lang="en-US" sz="1100" dirty="0">
              <a:solidFill>
                <a:schemeClr val="tx2"/>
              </a:solidFill>
            </a:endParaRPr>
          </a:p>
        </p:txBody>
      </p:sp>
      <p:pic>
        <p:nvPicPr>
          <p:cNvPr id="10" name="Picture 2">
            <a:extLst>
              <a:ext uri="{FF2B5EF4-FFF2-40B4-BE49-F238E27FC236}">
                <a16:creationId xmlns:a16="http://schemas.microsoft.com/office/drawing/2014/main" id="{5BAC779F-EF63-9531-3273-3FD32F5766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66346" y="3364198"/>
            <a:ext cx="3773666" cy="269547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3ACE30E0-54F9-A1F4-FE00-20A57FDB2752}"/>
              </a:ext>
            </a:extLst>
          </p:cNvPr>
          <p:cNvPicPr>
            <a:picLocks noChangeAspect="1"/>
          </p:cNvPicPr>
          <p:nvPr/>
        </p:nvPicPr>
        <p:blipFill>
          <a:blip r:embed="rId3"/>
          <a:stretch>
            <a:fillRect/>
          </a:stretch>
        </p:blipFill>
        <p:spPr>
          <a:xfrm>
            <a:off x="6355641" y="3879483"/>
            <a:ext cx="5166360" cy="1664906"/>
          </a:xfrm>
          <a:prstGeom prst="rect">
            <a:avLst/>
          </a:prstGeom>
        </p:spPr>
      </p:pic>
    </p:spTree>
    <p:extLst>
      <p:ext uri="{BB962C8B-B14F-4D97-AF65-F5344CB8AC3E}">
        <p14:creationId xmlns:p14="http://schemas.microsoft.com/office/powerpoint/2010/main" val="17643842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51C0F03-E2DC-A015-176F-F8C888A53DE4}"/>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kern="1200">
                <a:solidFill>
                  <a:schemeClr val="tx1"/>
                </a:solidFill>
                <a:latin typeface="+mj-lt"/>
                <a:ea typeface="+mj-ea"/>
                <a:cs typeface="+mj-cs"/>
              </a:rPr>
              <a:t>Biplot</a:t>
            </a:r>
          </a:p>
        </p:txBody>
      </p:sp>
      <p:pic>
        <p:nvPicPr>
          <p:cNvPr id="19458" name="Picture 2" descr="Análisis de Componentes Principales | Franklin Santos">
            <a:extLst>
              <a:ext uri="{FF2B5EF4-FFF2-40B4-BE49-F238E27FC236}">
                <a16:creationId xmlns:a16="http://schemas.microsoft.com/office/drawing/2014/main" id="{BBEFDED1-D2F9-EE41-91D1-E0F46FE26CF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74462" y="625684"/>
            <a:ext cx="6288623" cy="5455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9586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Muchas Gracias stock vector. Illustration of delicate - 86074528">
            <a:extLst>
              <a:ext uri="{FF2B5EF4-FFF2-40B4-BE49-F238E27FC236}">
                <a16:creationId xmlns:a16="http://schemas.microsoft.com/office/drawing/2014/main" id="{FA767335-6AF9-D2FB-C733-114CA91E83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161526" y="1180532"/>
            <a:ext cx="5659683" cy="4394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7214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2196</Words>
  <Application>Microsoft Office PowerPoint</Application>
  <PresentationFormat>Panorámica</PresentationFormat>
  <Paragraphs>214</Paragraphs>
  <Slides>48</Slides>
  <Notes>1</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48</vt:i4>
      </vt:variant>
    </vt:vector>
  </HeadingPairs>
  <TitlesOfParts>
    <vt:vector size="59" baseType="lpstr">
      <vt:lpstr>Aptos</vt:lpstr>
      <vt:lpstr>Aptos Display</vt:lpstr>
      <vt:lpstr>Arial</vt:lpstr>
      <vt:lpstr>Cambria Math</vt:lpstr>
      <vt:lpstr>CMMI10</vt:lpstr>
      <vt:lpstr>CMSS10</vt:lpstr>
      <vt:lpstr>CMSSI10</vt:lpstr>
      <vt:lpstr>Neue Haas Grotesk Text Pro</vt:lpstr>
      <vt:lpstr>Open Sans</vt:lpstr>
      <vt:lpstr>Trade Gothic Next HvyCd</vt:lpstr>
      <vt:lpstr>Tema de Office</vt:lpstr>
      <vt:lpstr>Presentación de PowerPoint</vt:lpstr>
      <vt:lpstr>Presentación de PowerPoint</vt:lpstr>
      <vt:lpstr>Ventajas</vt:lpstr>
      <vt:lpstr>Desventajas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Debora Chan</dc:creator>
  <cp:lastModifiedBy>Debora Chan</cp:lastModifiedBy>
  <cp:revision>2</cp:revision>
  <dcterms:created xsi:type="dcterms:W3CDTF">2026-02-06T20:02:51Z</dcterms:created>
  <dcterms:modified xsi:type="dcterms:W3CDTF">2026-02-06T20:43:21Z</dcterms:modified>
</cp:coreProperties>
</file>